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69" r:id="rId5"/>
    <p:sldId id="259" r:id="rId6"/>
    <p:sldId id="260" r:id="rId7"/>
    <p:sldId id="261" r:id="rId8"/>
    <p:sldId id="262" r:id="rId9"/>
    <p:sldId id="263" r:id="rId10"/>
    <p:sldId id="271" r:id="rId11"/>
    <p:sldId id="264" r:id="rId12"/>
    <p:sldId id="265" r:id="rId13"/>
    <p:sldId id="270" r:id="rId14"/>
    <p:sldId id="273" r:id="rId15"/>
    <p:sldId id="272" r:id="rId16"/>
    <p:sldId id="266" r:id="rId17"/>
    <p:sldId id="274" r:id="rId18"/>
    <p:sldId id="267"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934"/>
    <p:restoredTop sz="94610"/>
  </p:normalViewPr>
  <p:slideViewPr>
    <p:cSldViewPr snapToGrid="0" snapToObjects="1">
      <p:cViewPr varScale="1">
        <p:scale>
          <a:sx n="208" d="100"/>
          <a:sy n="208" d="100"/>
        </p:scale>
        <p:origin x="192" y="7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29498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ACC"/>
          </a:solidFill>
          <a:ln w="12700">
            <a:solidFill>
              <a:srgbClr val="007ACC"/>
            </a:solidFill>
            <a:prstDash val="solid"/>
          </a:ln>
        </p:spPr>
      </p:sp>
      <p:sp>
        <p:nvSpPr>
          <p:cNvPr id="3" name="Shape 1"/>
          <p:cNvSpPr/>
          <p:nvPr/>
        </p:nvSpPr>
        <p:spPr>
          <a:xfrm>
            <a:off x="3840480" y="640080"/>
            <a:ext cx="1463040" cy="1463040"/>
          </a:xfrm>
          <a:prstGeom prst="ellipse">
            <a:avLst/>
          </a:prstGeom>
          <a:solidFill>
            <a:srgbClr val="007ACC">
              <a:alpha val="15000"/>
            </a:srgbClr>
          </a:solidFill>
          <a:ln w="25400">
            <a:solidFill>
              <a:srgbClr val="007ACC"/>
            </a:solidFill>
            <a:prstDash val="solid"/>
          </a:ln>
        </p:spPr>
      </p:sp>
      <p:sp>
        <p:nvSpPr>
          <p:cNvPr id="4" name="Text 2"/>
          <p:cNvSpPr/>
          <p:nvPr/>
        </p:nvSpPr>
        <p:spPr>
          <a:xfrm>
            <a:off x="3840480" y="1005840"/>
            <a:ext cx="1463040" cy="731520"/>
          </a:xfrm>
          <a:prstGeom prst="rect">
            <a:avLst/>
          </a:prstGeom>
          <a:noFill/>
          <a:ln/>
        </p:spPr>
        <p:txBody>
          <a:bodyPr wrap="square" lIns="0" tIns="0" rIns="0" bIns="0" rtlCol="0" anchor="ctr"/>
          <a:lstStyle/>
          <a:p>
            <a:pPr marL="0" indent="0" algn="ctr">
              <a:buNone/>
            </a:pPr>
            <a:r>
              <a:rPr lang="en-US" sz="2800" b="1" dirty="0">
                <a:solidFill>
                  <a:srgbClr val="007ACC"/>
                </a:solidFill>
                <a:latin typeface="Consolas" pitchFamily="34" charset="0"/>
                <a:ea typeface="Consolas" pitchFamily="34" charset="-122"/>
                <a:cs typeface="Consolas" pitchFamily="34" charset="-120"/>
              </a:rPr>
              <a:t>{ }</a:t>
            </a:r>
            <a:endParaRPr lang="en-US" sz="2800" dirty="0"/>
          </a:p>
        </p:txBody>
      </p:sp>
      <p:sp>
        <p:nvSpPr>
          <p:cNvPr id="5" name="Text 3"/>
          <p:cNvSpPr/>
          <p:nvPr/>
        </p:nvSpPr>
        <p:spPr>
          <a:xfrm>
            <a:off x="731520" y="2377440"/>
            <a:ext cx="7680960" cy="731520"/>
          </a:xfrm>
          <a:prstGeom prst="rect">
            <a:avLst/>
          </a:prstGeom>
          <a:noFill/>
          <a:ln/>
        </p:spPr>
        <p:txBody>
          <a:bodyPr wrap="square" lIns="0" tIns="0" rIns="0" bIns="0" rtlCol="0" anchor="ctr"/>
          <a:lstStyle/>
          <a:p>
            <a:pPr marL="0" indent="0" algn="ctr">
              <a:buNone/>
            </a:pPr>
            <a:r>
              <a:rPr lang="en-US" sz="3800" b="1" dirty="0">
                <a:solidFill>
                  <a:srgbClr val="E6EDF3"/>
                </a:solidFill>
                <a:latin typeface="Calibri" pitchFamily="34" charset="0"/>
                <a:ea typeface="Calibri" pitchFamily="34" charset="-122"/>
                <a:cs typeface="Calibri" pitchFamily="34" charset="-120"/>
              </a:rPr>
              <a:t>Multi-Agent Development</a:t>
            </a:r>
            <a:endParaRPr lang="en-US" sz="3800" dirty="0"/>
          </a:p>
        </p:txBody>
      </p:sp>
      <p:sp>
        <p:nvSpPr>
          <p:cNvPr id="6" name="Text 4"/>
          <p:cNvSpPr/>
          <p:nvPr/>
        </p:nvSpPr>
        <p:spPr>
          <a:xfrm>
            <a:off x="731520" y="3063240"/>
            <a:ext cx="7680960" cy="640080"/>
          </a:xfrm>
          <a:prstGeom prst="rect">
            <a:avLst/>
          </a:prstGeom>
          <a:noFill/>
          <a:ln/>
        </p:spPr>
        <p:txBody>
          <a:bodyPr wrap="square" lIns="0" tIns="0" rIns="0" bIns="0" rtlCol="0" anchor="ctr"/>
          <a:lstStyle/>
          <a:p>
            <a:pPr marL="0" indent="0" algn="ctr">
              <a:buNone/>
            </a:pPr>
            <a:r>
              <a:rPr lang="en-US" sz="3800" b="1" dirty="0">
                <a:solidFill>
                  <a:srgbClr val="007ACC"/>
                </a:solidFill>
                <a:latin typeface="Calibri" pitchFamily="34" charset="0"/>
                <a:ea typeface="Calibri" pitchFamily="34" charset="-122"/>
                <a:cs typeface="Calibri" pitchFamily="34" charset="-120"/>
              </a:rPr>
              <a:t>in VS Code</a:t>
            </a:r>
            <a:endParaRPr lang="en-US" sz="3800" dirty="0"/>
          </a:p>
        </p:txBody>
      </p:sp>
      <p:sp>
        <p:nvSpPr>
          <p:cNvPr id="7" name="Text 5"/>
          <p:cNvSpPr/>
          <p:nvPr/>
        </p:nvSpPr>
        <p:spPr>
          <a:xfrm>
            <a:off x="1371600" y="3749040"/>
            <a:ext cx="6400800" cy="457200"/>
          </a:xfrm>
          <a:prstGeom prst="rect">
            <a:avLst/>
          </a:prstGeom>
          <a:noFill/>
          <a:ln/>
        </p:spPr>
        <p:txBody>
          <a:bodyPr wrap="square" rtlCol="0" anchor="ctr"/>
          <a:lstStyle/>
          <a:p>
            <a:pPr marL="0" indent="0" algn="ctr">
              <a:buNone/>
            </a:pPr>
            <a:r>
              <a:rPr lang="en-US" sz="1400" i="1" dirty="0">
                <a:solidFill>
                  <a:srgbClr val="8B949E"/>
                </a:solidFill>
                <a:latin typeface="Calibri" pitchFamily="34" charset="0"/>
                <a:ea typeface="Calibri" pitchFamily="34" charset="-122"/>
                <a:cs typeface="Calibri" pitchFamily="34" charset="-120"/>
              </a:rPr>
              <a:t>From single-threaded coding assistants to massively parallel workflows</a:t>
            </a:r>
            <a:endParaRPr lang="en-US" sz="1400" dirty="0"/>
          </a:p>
        </p:txBody>
      </p:sp>
      <p:sp>
        <p:nvSpPr>
          <p:cNvPr id="8" name="Shape 6"/>
          <p:cNvSpPr/>
          <p:nvPr/>
        </p:nvSpPr>
        <p:spPr>
          <a:xfrm>
            <a:off x="0" y="4960620"/>
            <a:ext cx="9144000" cy="182880"/>
          </a:xfrm>
          <a:prstGeom prst="rect">
            <a:avLst/>
          </a:prstGeom>
          <a:solidFill>
            <a:srgbClr val="161B22"/>
          </a:solidFill>
          <a:ln w="12700">
            <a:solidFill>
              <a:srgbClr val="30363D"/>
            </a:solidFill>
            <a:prstDash val="solid"/>
          </a:ln>
        </p:spPr>
      </p:sp>
      <p:sp>
        <p:nvSpPr>
          <p:cNvPr id="9" name="Text 7"/>
          <p:cNvSpPr/>
          <p:nvPr/>
        </p:nvSpPr>
        <p:spPr>
          <a:xfrm>
            <a:off x="274320" y="4965192"/>
            <a:ext cx="8595360" cy="164592"/>
          </a:xfrm>
          <a:prstGeom prst="rect">
            <a:avLst/>
          </a:prstGeom>
          <a:noFill/>
          <a:ln/>
        </p:spPr>
        <p:txBody>
          <a:bodyPr wrap="square" rtlCol="0" anchor="ctr"/>
          <a:lstStyle/>
          <a:p>
            <a:pPr marL="0" indent="0" algn="ctr">
              <a:buNone/>
            </a:pPr>
            <a:r>
              <a:rPr lang="en-US" sz="800" dirty="0">
                <a:solidFill>
                  <a:srgbClr val="484F58"/>
                </a:solidFill>
                <a:latin typeface="Consolas" pitchFamily="34" charset="0"/>
                <a:ea typeface="Consolas" pitchFamily="34" charset="-122"/>
                <a:cs typeface="Consolas" pitchFamily="34" charset="-120"/>
              </a:rPr>
              <a:t>Developer Community  |  [Your Name]  |  [Date]</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007ACC"/>
          </a:solidFill>
          <a:ln w="12700">
            <a:solidFill>
              <a:srgbClr val="007ACC"/>
            </a:solidFill>
            <a:prstDash val="solid"/>
          </a:ln>
        </p:spPr>
      </p:sp>
      <p:sp>
        <p:nvSpPr>
          <p:cNvPr id="3" name="Text 1"/>
          <p:cNvSpPr/>
          <p:nvPr/>
        </p:nvSpPr>
        <p:spPr>
          <a:xfrm>
            <a:off x="457200" y="182880"/>
            <a:ext cx="8229600" cy="502920"/>
          </a:xfrm>
          <a:prstGeom prst="rect">
            <a:avLst/>
          </a:prstGeom>
          <a:noFill/>
          <a:ln/>
        </p:spPr>
        <p:txBody>
          <a:bodyPr wrap="square" lIns="0" tIns="0" rIns="0" bIns="0" rtlCol="0" anchor="ctr"/>
          <a:lstStyle/>
          <a:p>
            <a:pPr marL="0" indent="0">
              <a:buNone/>
            </a:pPr>
            <a:r>
              <a:rPr lang="en-US" sz="2200" b="1" dirty="0">
                <a:solidFill>
                  <a:srgbClr val="E6EDF3"/>
                </a:solidFill>
                <a:latin typeface="Calibri" pitchFamily="34" charset="0"/>
                <a:ea typeface="Calibri" pitchFamily="34" charset="-122"/>
                <a:cs typeface="Calibri" pitchFamily="34" charset="-120"/>
              </a:rPr>
              <a:t>The Sequential Bottleneck is Broken</a:t>
            </a:r>
            <a:endParaRPr lang="en-US" sz="2200" dirty="0"/>
          </a:p>
        </p:txBody>
      </p:sp>
      <p:sp>
        <p:nvSpPr>
          <p:cNvPr id="4" name="Text 2"/>
          <p:cNvSpPr/>
          <p:nvPr/>
        </p:nvSpPr>
        <p:spPr>
          <a:xfrm>
            <a:off x="457200" y="685800"/>
            <a:ext cx="8229600" cy="320040"/>
          </a:xfrm>
          <a:prstGeom prst="rect">
            <a:avLst/>
          </a:prstGeom>
          <a:noFill/>
          <a:ln/>
        </p:spPr>
        <p:txBody>
          <a:bodyPr wrap="square" lIns="0" tIns="0" rIns="0" bIns="0" rtlCol="0" anchor="ctr"/>
          <a:lstStyle/>
          <a:p>
            <a:pPr marL="0" indent="0">
              <a:buNone/>
            </a:pPr>
            <a:r>
              <a:rPr lang="en-US" sz="1200" dirty="0">
                <a:solidFill>
                  <a:srgbClr val="8B949E"/>
                </a:solidFill>
                <a:latin typeface="Calibri" pitchFamily="34" charset="0"/>
                <a:ea typeface="Calibri" pitchFamily="34" charset="-122"/>
                <a:cs typeface="Calibri" pitchFamily="34" charset="-120"/>
              </a:rPr>
              <a:t>Why single-threaded AI assistance no longer scales</a:t>
            </a:r>
            <a:endParaRPr lang="en-US" sz="1200" dirty="0"/>
          </a:p>
        </p:txBody>
      </p:sp>
      <p:sp>
        <p:nvSpPr>
          <p:cNvPr id="5" name="Shape 3"/>
          <p:cNvSpPr/>
          <p:nvPr/>
        </p:nvSpPr>
        <p:spPr>
          <a:xfrm>
            <a:off x="457200" y="1005840"/>
            <a:ext cx="8229600" cy="9144"/>
          </a:xfrm>
          <a:prstGeom prst="rect">
            <a:avLst/>
          </a:prstGeom>
          <a:solidFill>
            <a:srgbClr val="30363D"/>
          </a:solidFill>
          <a:ln w="12700">
            <a:solidFill>
              <a:srgbClr val="30363D"/>
            </a:solidFill>
            <a:prstDash val="solid"/>
          </a:ln>
        </p:spPr>
      </p:sp>
      <p:sp>
        <p:nvSpPr>
          <p:cNvPr id="6" name="Text 4"/>
          <p:cNvSpPr/>
          <p:nvPr/>
        </p:nvSpPr>
        <p:spPr>
          <a:xfrm>
            <a:off x="457200" y="1143000"/>
            <a:ext cx="3657600" cy="274320"/>
          </a:xfrm>
          <a:prstGeom prst="rect">
            <a:avLst/>
          </a:prstGeom>
          <a:noFill/>
          <a:ln/>
        </p:spPr>
        <p:txBody>
          <a:bodyPr wrap="square" rtlCol="0" anchor="ctr"/>
          <a:lstStyle/>
          <a:p>
            <a:pPr marL="0" indent="0">
              <a:buNone/>
            </a:pPr>
            <a:r>
              <a:rPr lang="en-US" sz="1000" dirty="0">
                <a:solidFill>
                  <a:srgbClr val="8B949E"/>
                </a:solidFill>
                <a:latin typeface="Consolas" pitchFamily="34" charset="0"/>
                <a:ea typeface="Consolas" pitchFamily="34" charset="-122"/>
                <a:cs typeface="Consolas" pitchFamily="34" charset="-120"/>
              </a:rPr>
              <a:t>Legacy Workflow: Single-Threaded</a:t>
            </a:r>
            <a:endParaRPr lang="en-US" sz="1000" dirty="0"/>
          </a:p>
        </p:txBody>
      </p:sp>
      <p:sp>
        <p:nvSpPr>
          <p:cNvPr id="7" name="Shape 5"/>
          <p:cNvSpPr/>
          <p:nvPr/>
        </p:nvSpPr>
        <p:spPr>
          <a:xfrm>
            <a:off x="457200" y="1417320"/>
            <a:ext cx="1188720" cy="411480"/>
          </a:xfrm>
          <a:prstGeom prst="rect">
            <a:avLst/>
          </a:prstGeom>
          <a:solidFill>
            <a:srgbClr val="161B22"/>
          </a:solidFill>
          <a:ln w="12700">
            <a:solidFill>
              <a:srgbClr val="007ACC"/>
            </a:solidFill>
            <a:prstDash val="solid"/>
          </a:ln>
        </p:spPr>
      </p:sp>
      <p:sp>
        <p:nvSpPr>
          <p:cNvPr id="8" name="Text 6"/>
          <p:cNvSpPr/>
          <p:nvPr/>
        </p:nvSpPr>
        <p:spPr>
          <a:xfrm>
            <a:off x="457200" y="1417320"/>
            <a:ext cx="1188720" cy="411480"/>
          </a:xfrm>
          <a:prstGeom prst="rect">
            <a:avLst/>
          </a:prstGeom>
          <a:noFill/>
          <a:ln/>
        </p:spPr>
        <p:txBody>
          <a:bodyPr wrap="square" rtlCol="0" anchor="ctr"/>
          <a:lstStyle/>
          <a:p>
            <a:pPr marL="0" indent="0" algn="ctr">
              <a:buNone/>
            </a:pPr>
            <a:r>
              <a:rPr lang="en-US" sz="1100" b="1" dirty="0">
                <a:solidFill>
                  <a:srgbClr val="007ACC"/>
                </a:solidFill>
                <a:latin typeface="Calibri" pitchFamily="34" charset="0"/>
                <a:ea typeface="Calibri" pitchFamily="34" charset="-122"/>
                <a:cs typeface="Calibri" pitchFamily="34" charset="-120"/>
              </a:rPr>
              <a:t>Ask AI</a:t>
            </a:r>
            <a:endParaRPr lang="en-US" sz="1100" dirty="0"/>
          </a:p>
        </p:txBody>
      </p:sp>
      <p:sp>
        <p:nvSpPr>
          <p:cNvPr id="9" name="Shape 7"/>
          <p:cNvSpPr/>
          <p:nvPr/>
        </p:nvSpPr>
        <p:spPr>
          <a:xfrm>
            <a:off x="1828800" y="1417320"/>
            <a:ext cx="1188720" cy="411480"/>
          </a:xfrm>
          <a:prstGeom prst="rect">
            <a:avLst/>
          </a:prstGeom>
          <a:solidFill>
            <a:srgbClr val="1F1F2E"/>
          </a:solidFill>
          <a:ln w="12700">
            <a:solidFill>
              <a:srgbClr val="484F58"/>
            </a:solidFill>
            <a:prstDash val="solid"/>
          </a:ln>
        </p:spPr>
      </p:sp>
      <p:sp>
        <p:nvSpPr>
          <p:cNvPr id="10" name="Text 8"/>
          <p:cNvSpPr/>
          <p:nvPr/>
        </p:nvSpPr>
        <p:spPr>
          <a:xfrm>
            <a:off x="1828800" y="1417320"/>
            <a:ext cx="1188720" cy="411480"/>
          </a:xfrm>
          <a:prstGeom prst="rect">
            <a:avLst/>
          </a:prstGeom>
          <a:noFill/>
          <a:ln/>
        </p:spPr>
        <p:txBody>
          <a:bodyPr wrap="square" rtlCol="0" anchor="ctr"/>
          <a:lstStyle/>
          <a:p>
            <a:pPr marL="0" indent="0" algn="ctr">
              <a:buNone/>
            </a:pPr>
            <a:r>
              <a:rPr lang="en-US" sz="1100" dirty="0">
                <a:solidFill>
                  <a:srgbClr val="484F58"/>
                </a:solidFill>
                <a:latin typeface="Calibri" pitchFamily="34" charset="0"/>
                <a:ea typeface="Calibri" pitchFamily="34" charset="-122"/>
                <a:cs typeface="Calibri" pitchFamily="34" charset="-120"/>
              </a:rPr>
              <a:t>Wait</a:t>
            </a:r>
            <a:endParaRPr lang="en-US" sz="1100" dirty="0"/>
          </a:p>
        </p:txBody>
      </p:sp>
      <p:sp>
        <p:nvSpPr>
          <p:cNvPr id="11" name="Shape 9"/>
          <p:cNvSpPr/>
          <p:nvPr/>
        </p:nvSpPr>
        <p:spPr>
          <a:xfrm>
            <a:off x="3200400" y="1417320"/>
            <a:ext cx="1188720" cy="411480"/>
          </a:xfrm>
          <a:prstGeom prst="rect">
            <a:avLst/>
          </a:prstGeom>
          <a:solidFill>
            <a:srgbClr val="161B22"/>
          </a:solidFill>
          <a:ln w="12700">
            <a:solidFill>
              <a:srgbClr val="3FB950"/>
            </a:solidFill>
            <a:prstDash val="solid"/>
          </a:ln>
        </p:spPr>
      </p:sp>
      <p:sp>
        <p:nvSpPr>
          <p:cNvPr id="12" name="Text 10"/>
          <p:cNvSpPr/>
          <p:nvPr/>
        </p:nvSpPr>
        <p:spPr>
          <a:xfrm>
            <a:off x="3200400" y="1417320"/>
            <a:ext cx="1188720" cy="411480"/>
          </a:xfrm>
          <a:prstGeom prst="rect">
            <a:avLst/>
          </a:prstGeom>
          <a:noFill/>
          <a:ln/>
        </p:spPr>
        <p:txBody>
          <a:bodyPr wrap="square" rtlCol="0" anchor="ctr"/>
          <a:lstStyle/>
          <a:p>
            <a:pPr marL="0" indent="0" algn="ctr">
              <a:buNone/>
            </a:pPr>
            <a:r>
              <a:rPr lang="en-US" sz="1100" b="1" dirty="0">
                <a:solidFill>
                  <a:srgbClr val="3FB950"/>
                </a:solidFill>
                <a:latin typeface="Calibri" pitchFamily="34" charset="0"/>
                <a:ea typeface="Calibri" pitchFamily="34" charset="-122"/>
                <a:cs typeface="Calibri" pitchFamily="34" charset="-120"/>
              </a:rPr>
              <a:t>Review</a:t>
            </a:r>
            <a:endParaRPr lang="en-US" sz="1100" dirty="0"/>
          </a:p>
        </p:txBody>
      </p:sp>
      <p:sp>
        <p:nvSpPr>
          <p:cNvPr id="13" name="Shape 11"/>
          <p:cNvSpPr/>
          <p:nvPr/>
        </p:nvSpPr>
        <p:spPr>
          <a:xfrm>
            <a:off x="4572000" y="1417320"/>
            <a:ext cx="1188720" cy="411480"/>
          </a:xfrm>
          <a:prstGeom prst="rect">
            <a:avLst/>
          </a:prstGeom>
          <a:solidFill>
            <a:srgbClr val="161B22"/>
          </a:solidFill>
          <a:ln w="12700">
            <a:solidFill>
              <a:srgbClr val="007ACC"/>
            </a:solidFill>
            <a:prstDash val="solid"/>
          </a:ln>
        </p:spPr>
      </p:sp>
      <p:sp>
        <p:nvSpPr>
          <p:cNvPr id="14" name="Text 12"/>
          <p:cNvSpPr/>
          <p:nvPr/>
        </p:nvSpPr>
        <p:spPr>
          <a:xfrm>
            <a:off x="4572000" y="1417320"/>
            <a:ext cx="1188720" cy="411480"/>
          </a:xfrm>
          <a:prstGeom prst="rect">
            <a:avLst/>
          </a:prstGeom>
          <a:noFill/>
          <a:ln/>
        </p:spPr>
        <p:txBody>
          <a:bodyPr wrap="square" rtlCol="0" anchor="ctr"/>
          <a:lstStyle/>
          <a:p>
            <a:pPr marL="0" indent="0" algn="ctr">
              <a:buNone/>
            </a:pPr>
            <a:r>
              <a:rPr lang="en-US" sz="1100" b="1" dirty="0">
                <a:solidFill>
                  <a:srgbClr val="007ACC"/>
                </a:solidFill>
                <a:latin typeface="Calibri" pitchFamily="34" charset="0"/>
                <a:ea typeface="Calibri" pitchFamily="34" charset="-122"/>
                <a:cs typeface="Calibri" pitchFamily="34" charset="-120"/>
              </a:rPr>
              <a:t>Ask Again</a:t>
            </a:r>
            <a:endParaRPr lang="en-US" sz="1100" dirty="0"/>
          </a:p>
        </p:txBody>
      </p:sp>
      <p:sp>
        <p:nvSpPr>
          <p:cNvPr id="15" name="Shape 13"/>
          <p:cNvSpPr/>
          <p:nvPr/>
        </p:nvSpPr>
        <p:spPr>
          <a:xfrm>
            <a:off x="5943600" y="1417320"/>
            <a:ext cx="1188720" cy="411480"/>
          </a:xfrm>
          <a:prstGeom prst="rect">
            <a:avLst/>
          </a:prstGeom>
          <a:solidFill>
            <a:srgbClr val="1F1F2E"/>
          </a:solidFill>
          <a:ln w="12700">
            <a:solidFill>
              <a:srgbClr val="484F58"/>
            </a:solidFill>
            <a:prstDash val="solid"/>
          </a:ln>
        </p:spPr>
      </p:sp>
      <p:sp>
        <p:nvSpPr>
          <p:cNvPr id="16" name="Text 14"/>
          <p:cNvSpPr/>
          <p:nvPr/>
        </p:nvSpPr>
        <p:spPr>
          <a:xfrm>
            <a:off x="5943600" y="1417320"/>
            <a:ext cx="1188720" cy="411480"/>
          </a:xfrm>
          <a:prstGeom prst="rect">
            <a:avLst/>
          </a:prstGeom>
          <a:noFill/>
          <a:ln/>
        </p:spPr>
        <p:txBody>
          <a:bodyPr wrap="square" rtlCol="0" anchor="ctr"/>
          <a:lstStyle/>
          <a:p>
            <a:pPr marL="0" indent="0" algn="ctr">
              <a:buNone/>
            </a:pPr>
            <a:r>
              <a:rPr lang="en-US" sz="1100" dirty="0">
                <a:solidFill>
                  <a:srgbClr val="484F58"/>
                </a:solidFill>
                <a:latin typeface="Calibri" pitchFamily="34" charset="0"/>
                <a:ea typeface="Calibri" pitchFamily="34" charset="-122"/>
                <a:cs typeface="Calibri" pitchFamily="34" charset="-120"/>
              </a:rPr>
              <a:t>Wait</a:t>
            </a:r>
            <a:endParaRPr lang="en-US" sz="1100" dirty="0"/>
          </a:p>
        </p:txBody>
      </p:sp>
      <p:sp>
        <p:nvSpPr>
          <p:cNvPr id="17" name="Shape 15"/>
          <p:cNvSpPr/>
          <p:nvPr/>
        </p:nvSpPr>
        <p:spPr>
          <a:xfrm>
            <a:off x="7315200" y="1417320"/>
            <a:ext cx="1188720" cy="411480"/>
          </a:xfrm>
          <a:prstGeom prst="rect">
            <a:avLst/>
          </a:prstGeom>
          <a:solidFill>
            <a:srgbClr val="161B22"/>
          </a:solidFill>
          <a:ln w="12700">
            <a:solidFill>
              <a:srgbClr val="3FB950"/>
            </a:solidFill>
            <a:prstDash val="solid"/>
          </a:ln>
        </p:spPr>
      </p:sp>
      <p:sp>
        <p:nvSpPr>
          <p:cNvPr id="18" name="Text 16"/>
          <p:cNvSpPr/>
          <p:nvPr/>
        </p:nvSpPr>
        <p:spPr>
          <a:xfrm>
            <a:off x="7315200" y="1417320"/>
            <a:ext cx="1188720" cy="411480"/>
          </a:xfrm>
          <a:prstGeom prst="rect">
            <a:avLst/>
          </a:prstGeom>
          <a:noFill/>
          <a:ln/>
        </p:spPr>
        <p:txBody>
          <a:bodyPr wrap="square" rtlCol="0" anchor="ctr"/>
          <a:lstStyle/>
          <a:p>
            <a:pPr marL="0" indent="0" algn="ctr">
              <a:buNone/>
            </a:pPr>
            <a:r>
              <a:rPr lang="en-US" sz="1100" b="1" dirty="0">
                <a:solidFill>
                  <a:srgbClr val="3FB950"/>
                </a:solidFill>
                <a:latin typeface="Calibri" pitchFamily="34" charset="0"/>
                <a:ea typeface="Calibri" pitchFamily="34" charset="-122"/>
                <a:cs typeface="Calibri" pitchFamily="34" charset="-120"/>
              </a:rPr>
              <a:t>Review</a:t>
            </a:r>
            <a:endParaRPr lang="en-US" sz="1100" dirty="0"/>
          </a:p>
        </p:txBody>
      </p:sp>
      <p:sp>
        <p:nvSpPr>
          <p:cNvPr id="19" name="Shape 17"/>
          <p:cNvSpPr/>
          <p:nvPr/>
        </p:nvSpPr>
        <p:spPr>
          <a:xfrm>
            <a:off x="457200" y="1627632"/>
            <a:ext cx="8229600" cy="0"/>
          </a:xfrm>
          <a:prstGeom prst="line">
            <a:avLst/>
          </a:prstGeom>
          <a:noFill/>
          <a:ln w="12700">
            <a:solidFill>
              <a:srgbClr val="484F58"/>
            </a:solidFill>
            <a:prstDash val="sysDot"/>
          </a:ln>
        </p:spPr>
      </p:sp>
      <p:sp>
        <p:nvSpPr>
          <p:cNvPr id="20" name="Text 18"/>
          <p:cNvSpPr/>
          <p:nvPr/>
        </p:nvSpPr>
        <p:spPr>
          <a:xfrm>
            <a:off x="457200" y="2057400"/>
            <a:ext cx="4572000" cy="274320"/>
          </a:xfrm>
          <a:prstGeom prst="rect">
            <a:avLst/>
          </a:prstGeom>
          <a:noFill/>
          <a:ln/>
        </p:spPr>
        <p:txBody>
          <a:bodyPr wrap="square" rtlCol="0" anchor="ctr"/>
          <a:lstStyle/>
          <a:p>
            <a:pPr marL="0" indent="0">
              <a:buNone/>
            </a:pPr>
            <a:r>
              <a:rPr lang="en-US" sz="1000" dirty="0">
                <a:solidFill>
                  <a:srgbClr val="3FB950"/>
                </a:solidFill>
                <a:latin typeface="Consolas" pitchFamily="34" charset="0"/>
                <a:ea typeface="Consolas" pitchFamily="34" charset="-122"/>
                <a:cs typeface="Consolas" pitchFamily="34" charset="-120"/>
              </a:rPr>
              <a:t>New Paradigm: Asynchronous Delegation</a:t>
            </a:r>
            <a:endParaRPr lang="en-US" sz="1000" dirty="0"/>
          </a:p>
        </p:txBody>
      </p:sp>
      <p:sp>
        <p:nvSpPr>
          <p:cNvPr id="21" name="Shape 19"/>
          <p:cNvSpPr/>
          <p:nvPr/>
        </p:nvSpPr>
        <p:spPr>
          <a:xfrm>
            <a:off x="457200" y="2377440"/>
            <a:ext cx="2286000" cy="502920"/>
          </a:xfrm>
          <a:prstGeom prst="rect">
            <a:avLst/>
          </a:prstGeom>
          <a:solidFill>
            <a:srgbClr val="161B22"/>
          </a:solidFill>
          <a:ln w="12700">
            <a:solidFill>
              <a:srgbClr val="3FB950"/>
            </a:solidFill>
            <a:prstDash val="solid"/>
          </a:ln>
        </p:spPr>
      </p:sp>
      <p:sp>
        <p:nvSpPr>
          <p:cNvPr id="22" name="Text 20"/>
          <p:cNvSpPr/>
          <p:nvPr/>
        </p:nvSpPr>
        <p:spPr>
          <a:xfrm>
            <a:off x="548640" y="2487168"/>
            <a:ext cx="2103120" cy="274320"/>
          </a:xfrm>
          <a:prstGeom prst="rect">
            <a:avLst/>
          </a:prstGeom>
          <a:noFill/>
          <a:ln/>
        </p:spPr>
        <p:txBody>
          <a:bodyPr wrap="square" rtlCol="0" anchor="ctr"/>
          <a:lstStyle/>
          <a:p>
            <a:pPr marL="0" indent="0">
              <a:buNone/>
            </a:pPr>
            <a:r>
              <a:rPr lang="en-US" sz="1100" b="1" dirty="0">
                <a:solidFill>
                  <a:srgbClr val="3FB950"/>
                </a:solidFill>
                <a:latin typeface="Calibri" pitchFamily="34" charset="0"/>
                <a:ea typeface="Calibri" pitchFamily="34" charset="-122"/>
                <a:cs typeface="Calibri" pitchFamily="34" charset="-120"/>
              </a:rPr>
              <a:t>Background Agent 1</a:t>
            </a:r>
            <a:endParaRPr lang="en-US" sz="1100" dirty="0"/>
          </a:p>
        </p:txBody>
      </p:sp>
      <p:sp>
        <p:nvSpPr>
          <p:cNvPr id="23" name="Text 21"/>
          <p:cNvSpPr/>
          <p:nvPr/>
        </p:nvSpPr>
        <p:spPr>
          <a:xfrm>
            <a:off x="548640" y="2679192"/>
            <a:ext cx="2103120" cy="182880"/>
          </a:xfrm>
          <a:prstGeom prst="rect">
            <a:avLst/>
          </a:prstGeom>
          <a:noFill/>
          <a:ln/>
        </p:spPr>
        <p:txBody>
          <a:bodyPr wrap="square" rtlCol="0" anchor="ctr"/>
          <a:lstStyle/>
          <a:p>
            <a:pPr marL="0" indent="0">
              <a:buNone/>
            </a:pPr>
            <a:r>
              <a:rPr lang="en-US" sz="900" dirty="0">
                <a:solidFill>
                  <a:srgbClr val="8B949E"/>
                </a:solidFill>
                <a:latin typeface="Consolas" pitchFamily="34" charset="0"/>
                <a:ea typeface="Consolas" pitchFamily="34" charset="-122"/>
                <a:cs typeface="Consolas" pitchFamily="34" charset="-120"/>
              </a:rPr>
              <a:t>Running in isolated worktree</a:t>
            </a:r>
            <a:endParaRPr lang="en-US" sz="900" dirty="0"/>
          </a:p>
        </p:txBody>
      </p:sp>
      <p:sp>
        <p:nvSpPr>
          <p:cNvPr id="24" name="Shape 22"/>
          <p:cNvSpPr/>
          <p:nvPr/>
        </p:nvSpPr>
        <p:spPr>
          <a:xfrm>
            <a:off x="2926080" y="2377440"/>
            <a:ext cx="2286000" cy="502920"/>
          </a:xfrm>
          <a:prstGeom prst="rect">
            <a:avLst/>
          </a:prstGeom>
          <a:solidFill>
            <a:srgbClr val="161B22"/>
          </a:solidFill>
          <a:ln w="12700">
            <a:solidFill>
              <a:srgbClr val="BC8CFF"/>
            </a:solidFill>
            <a:prstDash val="solid"/>
          </a:ln>
        </p:spPr>
      </p:sp>
      <p:sp>
        <p:nvSpPr>
          <p:cNvPr id="25" name="Text 23"/>
          <p:cNvSpPr/>
          <p:nvPr/>
        </p:nvSpPr>
        <p:spPr>
          <a:xfrm>
            <a:off x="3017520" y="2487168"/>
            <a:ext cx="2103120" cy="274320"/>
          </a:xfrm>
          <a:prstGeom prst="rect">
            <a:avLst/>
          </a:prstGeom>
          <a:noFill/>
          <a:ln/>
        </p:spPr>
        <p:txBody>
          <a:bodyPr wrap="square" rtlCol="0" anchor="ctr"/>
          <a:lstStyle/>
          <a:p>
            <a:pPr marL="0" indent="0">
              <a:buNone/>
            </a:pPr>
            <a:r>
              <a:rPr lang="en-US" sz="1100" b="1" dirty="0">
                <a:solidFill>
                  <a:srgbClr val="BC8CFF"/>
                </a:solidFill>
                <a:latin typeface="Calibri" pitchFamily="34" charset="0"/>
                <a:ea typeface="Calibri" pitchFamily="34" charset="-122"/>
                <a:cs typeface="Calibri" pitchFamily="34" charset="-120"/>
              </a:rPr>
              <a:t>Background Agent 2</a:t>
            </a:r>
            <a:endParaRPr lang="en-US" sz="1100" dirty="0"/>
          </a:p>
        </p:txBody>
      </p:sp>
      <p:sp>
        <p:nvSpPr>
          <p:cNvPr id="26" name="Text 24"/>
          <p:cNvSpPr/>
          <p:nvPr/>
        </p:nvSpPr>
        <p:spPr>
          <a:xfrm>
            <a:off x="3017520" y="2679192"/>
            <a:ext cx="2103120" cy="182880"/>
          </a:xfrm>
          <a:prstGeom prst="rect">
            <a:avLst/>
          </a:prstGeom>
          <a:noFill/>
          <a:ln/>
        </p:spPr>
        <p:txBody>
          <a:bodyPr wrap="square" rtlCol="0" anchor="ctr"/>
          <a:lstStyle/>
          <a:p>
            <a:pPr marL="0" indent="0">
              <a:buNone/>
            </a:pPr>
            <a:r>
              <a:rPr lang="en-US" sz="900" dirty="0">
                <a:solidFill>
                  <a:srgbClr val="8B949E"/>
                </a:solidFill>
                <a:latin typeface="Consolas" pitchFamily="34" charset="0"/>
                <a:ea typeface="Consolas" pitchFamily="34" charset="-122"/>
                <a:cs typeface="Consolas" pitchFamily="34" charset="-120"/>
              </a:rPr>
              <a:t>Running in isolated worktree</a:t>
            </a:r>
            <a:endParaRPr lang="en-US" sz="900" dirty="0"/>
          </a:p>
        </p:txBody>
      </p:sp>
      <p:sp>
        <p:nvSpPr>
          <p:cNvPr id="27" name="Shape 25"/>
          <p:cNvSpPr/>
          <p:nvPr/>
        </p:nvSpPr>
        <p:spPr>
          <a:xfrm>
            <a:off x="5394960" y="2377440"/>
            <a:ext cx="2286000" cy="502920"/>
          </a:xfrm>
          <a:prstGeom prst="rect">
            <a:avLst/>
          </a:prstGeom>
          <a:solidFill>
            <a:srgbClr val="161B22"/>
          </a:solidFill>
          <a:ln w="12700">
            <a:solidFill>
              <a:srgbClr val="F78166"/>
            </a:solidFill>
            <a:prstDash val="solid"/>
          </a:ln>
        </p:spPr>
      </p:sp>
      <p:sp>
        <p:nvSpPr>
          <p:cNvPr id="28" name="Text 26"/>
          <p:cNvSpPr/>
          <p:nvPr/>
        </p:nvSpPr>
        <p:spPr>
          <a:xfrm>
            <a:off x="5486400" y="2487168"/>
            <a:ext cx="2103120" cy="274320"/>
          </a:xfrm>
          <a:prstGeom prst="rect">
            <a:avLst/>
          </a:prstGeom>
          <a:noFill/>
          <a:ln/>
        </p:spPr>
        <p:txBody>
          <a:bodyPr wrap="square" rtlCol="0" anchor="ctr"/>
          <a:lstStyle/>
          <a:p>
            <a:pPr marL="0" indent="0">
              <a:buNone/>
            </a:pPr>
            <a:r>
              <a:rPr lang="en-US" sz="1100" b="1" dirty="0">
                <a:solidFill>
                  <a:srgbClr val="F78166"/>
                </a:solidFill>
                <a:latin typeface="Calibri" pitchFamily="34" charset="0"/>
                <a:ea typeface="Calibri" pitchFamily="34" charset="-122"/>
                <a:cs typeface="Calibri" pitchFamily="34" charset="-120"/>
              </a:rPr>
              <a:t>Background Agent 3</a:t>
            </a:r>
            <a:endParaRPr lang="en-US" sz="1100" dirty="0"/>
          </a:p>
        </p:txBody>
      </p:sp>
      <p:sp>
        <p:nvSpPr>
          <p:cNvPr id="29" name="Text 27"/>
          <p:cNvSpPr/>
          <p:nvPr/>
        </p:nvSpPr>
        <p:spPr>
          <a:xfrm>
            <a:off x="5486400" y="2679192"/>
            <a:ext cx="2103120" cy="182880"/>
          </a:xfrm>
          <a:prstGeom prst="rect">
            <a:avLst/>
          </a:prstGeom>
          <a:noFill/>
          <a:ln/>
        </p:spPr>
        <p:txBody>
          <a:bodyPr wrap="square" rtlCol="0" anchor="ctr"/>
          <a:lstStyle/>
          <a:p>
            <a:pPr marL="0" indent="0">
              <a:buNone/>
            </a:pPr>
            <a:r>
              <a:rPr lang="en-US" sz="900" dirty="0">
                <a:solidFill>
                  <a:srgbClr val="8B949E"/>
                </a:solidFill>
                <a:latin typeface="Consolas" pitchFamily="34" charset="0"/>
                <a:ea typeface="Consolas" pitchFamily="34" charset="-122"/>
                <a:cs typeface="Consolas" pitchFamily="34" charset="-120"/>
              </a:rPr>
              <a:t>Running in isolated worktree</a:t>
            </a:r>
            <a:endParaRPr lang="en-US" sz="900" dirty="0"/>
          </a:p>
        </p:txBody>
      </p:sp>
      <p:sp>
        <p:nvSpPr>
          <p:cNvPr id="30" name="Shape 28"/>
          <p:cNvSpPr/>
          <p:nvPr/>
        </p:nvSpPr>
        <p:spPr>
          <a:xfrm>
            <a:off x="457200" y="3017520"/>
            <a:ext cx="7223760" cy="502920"/>
          </a:xfrm>
          <a:prstGeom prst="rect">
            <a:avLst/>
          </a:prstGeom>
          <a:solidFill>
            <a:srgbClr val="1C2333"/>
          </a:solidFill>
          <a:ln w="12700">
            <a:solidFill>
              <a:srgbClr val="007ACC"/>
            </a:solidFill>
            <a:prstDash val="solid"/>
          </a:ln>
        </p:spPr>
      </p:sp>
      <p:sp>
        <p:nvSpPr>
          <p:cNvPr id="31" name="Shape 29"/>
          <p:cNvSpPr/>
          <p:nvPr/>
        </p:nvSpPr>
        <p:spPr>
          <a:xfrm>
            <a:off x="457200" y="3017520"/>
            <a:ext cx="45720" cy="502920"/>
          </a:xfrm>
          <a:prstGeom prst="rect">
            <a:avLst/>
          </a:prstGeom>
          <a:solidFill>
            <a:srgbClr val="007ACC"/>
          </a:solidFill>
          <a:ln w="12700">
            <a:solidFill>
              <a:srgbClr val="007ACC"/>
            </a:solidFill>
            <a:prstDash val="solid"/>
          </a:ln>
        </p:spPr>
      </p:sp>
      <p:sp>
        <p:nvSpPr>
          <p:cNvPr id="32" name="Text 30"/>
          <p:cNvSpPr/>
          <p:nvPr/>
        </p:nvSpPr>
        <p:spPr>
          <a:xfrm>
            <a:off x="594360" y="3127248"/>
            <a:ext cx="6949440" cy="274320"/>
          </a:xfrm>
          <a:prstGeom prst="rect">
            <a:avLst/>
          </a:prstGeom>
          <a:noFill/>
          <a:ln/>
        </p:spPr>
        <p:txBody>
          <a:bodyPr wrap="square" rtlCol="0" anchor="ctr"/>
          <a:lstStyle/>
          <a:p>
            <a:pPr marL="0" indent="0">
              <a:buNone/>
            </a:pPr>
            <a:r>
              <a:rPr lang="en-US" sz="1200" b="1" dirty="0">
                <a:solidFill>
                  <a:srgbClr val="E6EDF3"/>
                </a:solidFill>
                <a:latin typeface="Calibri" pitchFamily="34" charset="0"/>
                <a:ea typeface="Calibri" pitchFamily="34" charset="-122"/>
                <a:cs typeface="Calibri" pitchFamily="34" charset="-120"/>
              </a:rPr>
              <a:t>You (The Orchestrator)  —  Review results, merge, assign next tasks</a:t>
            </a:r>
            <a:endParaRPr lang="en-US" sz="1200" dirty="0"/>
          </a:p>
        </p:txBody>
      </p:sp>
      <p:sp>
        <p:nvSpPr>
          <p:cNvPr id="33" name="Text 31"/>
          <p:cNvSpPr/>
          <p:nvPr/>
        </p:nvSpPr>
        <p:spPr>
          <a:xfrm>
            <a:off x="457200" y="3657600"/>
            <a:ext cx="8229600" cy="502920"/>
          </a:xfrm>
          <a:prstGeom prst="rect">
            <a:avLst/>
          </a:prstGeom>
          <a:noFill/>
          <a:ln/>
        </p:spPr>
        <p:txBody>
          <a:bodyPr wrap="square" rtlCol="0" anchor="ctr"/>
          <a:lstStyle/>
          <a:p>
            <a:pPr marL="0" indent="0">
              <a:buNone/>
            </a:pPr>
            <a:r>
              <a:rPr lang="en-US" sz="1200" i="1" dirty="0">
                <a:solidFill>
                  <a:srgbClr val="8B949E"/>
                </a:solidFill>
                <a:latin typeface="Calibri" pitchFamily="34" charset="0"/>
                <a:ea typeface="Calibri" pitchFamily="34" charset="-122"/>
                <a:cs typeface="Calibri" pitchFamily="34" charset="-120"/>
              </a:rPr>
              <a:t>💡  The mental model shifts from interactive chat to async orchestration. Developers don't wait for output — they fire and forget.</a:t>
            </a:r>
            <a:endParaRPr lang="en-US" sz="1200" dirty="0"/>
          </a:p>
        </p:txBody>
      </p:sp>
      <p:sp>
        <p:nvSpPr>
          <p:cNvPr id="34" name="Shape 32"/>
          <p:cNvSpPr/>
          <p:nvPr/>
        </p:nvSpPr>
        <p:spPr>
          <a:xfrm>
            <a:off x="0" y="4960620"/>
            <a:ext cx="9144000" cy="182880"/>
          </a:xfrm>
          <a:prstGeom prst="rect">
            <a:avLst/>
          </a:prstGeom>
          <a:solidFill>
            <a:srgbClr val="161B22"/>
          </a:solidFill>
          <a:ln w="12700">
            <a:solidFill>
              <a:srgbClr val="30363D"/>
            </a:solidFill>
            <a:prstDash val="solid"/>
          </a:ln>
        </p:spPr>
      </p:sp>
      <p:sp>
        <p:nvSpPr>
          <p:cNvPr id="35" name="Text 33"/>
          <p:cNvSpPr/>
          <p:nvPr/>
        </p:nvSpPr>
        <p:spPr>
          <a:xfrm>
            <a:off x="274320" y="4965192"/>
            <a:ext cx="8595360" cy="164592"/>
          </a:xfrm>
          <a:prstGeom prst="rect">
            <a:avLst/>
          </a:prstGeom>
          <a:noFill/>
          <a:ln/>
        </p:spPr>
        <p:txBody>
          <a:bodyPr wrap="square" rtlCol="0" anchor="ctr"/>
          <a:lstStyle/>
          <a:p>
            <a:pPr marL="0" indent="0" algn="l">
              <a:buNone/>
            </a:pPr>
            <a:r>
              <a:rPr lang="en-US" sz="800" dirty="0">
                <a:solidFill>
                  <a:srgbClr val="484F58"/>
                </a:solidFill>
                <a:latin typeface="Consolas" pitchFamily="34" charset="0"/>
                <a:ea typeface="Consolas" pitchFamily="34" charset="-122"/>
                <a:cs typeface="Consolas" pitchFamily="34" charset="-120"/>
              </a:rPr>
              <a:t>Multi-Agent in VS Code  •  Developer Community</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007ACC"/>
          </a:solidFill>
          <a:ln w="12700">
            <a:solidFill>
              <a:srgbClr val="007ACC"/>
            </a:solidFill>
            <a:prstDash val="solid"/>
          </a:ln>
        </p:spPr>
      </p:sp>
      <p:sp>
        <p:nvSpPr>
          <p:cNvPr id="3" name="Text 1"/>
          <p:cNvSpPr/>
          <p:nvPr/>
        </p:nvSpPr>
        <p:spPr>
          <a:xfrm>
            <a:off x="457200" y="182880"/>
            <a:ext cx="8229600" cy="502920"/>
          </a:xfrm>
          <a:prstGeom prst="rect">
            <a:avLst/>
          </a:prstGeom>
          <a:noFill/>
          <a:ln/>
        </p:spPr>
        <p:txBody>
          <a:bodyPr wrap="square" lIns="0" tIns="0" rIns="0" bIns="0" rtlCol="0" anchor="ctr"/>
          <a:lstStyle/>
          <a:p>
            <a:pPr marL="0" indent="0">
              <a:buNone/>
            </a:pPr>
            <a:r>
              <a:rPr lang="en-US" sz="2200" b="1" dirty="0">
                <a:solidFill>
                  <a:srgbClr val="E6EDF3"/>
                </a:solidFill>
                <a:latin typeface="Calibri" pitchFamily="34" charset="0"/>
                <a:ea typeface="Calibri" pitchFamily="34" charset="-122"/>
                <a:cs typeface="Calibri" pitchFamily="34" charset="-120"/>
              </a:rPr>
              <a:t>The VS Code Multi-Agent Topology</a:t>
            </a:r>
            <a:endParaRPr lang="en-US" sz="2200" dirty="0"/>
          </a:p>
        </p:txBody>
      </p:sp>
      <p:sp>
        <p:nvSpPr>
          <p:cNvPr id="4" name="Text 2"/>
          <p:cNvSpPr/>
          <p:nvPr/>
        </p:nvSpPr>
        <p:spPr>
          <a:xfrm>
            <a:off x="457200" y="685800"/>
            <a:ext cx="8229600" cy="320040"/>
          </a:xfrm>
          <a:prstGeom prst="rect">
            <a:avLst/>
          </a:prstGeom>
          <a:noFill/>
          <a:ln/>
        </p:spPr>
        <p:txBody>
          <a:bodyPr wrap="square" lIns="0" tIns="0" rIns="0" bIns="0" rtlCol="0" anchor="ctr"/>
          <a:lstStyle/>
          <a:p>
            <a:pPr marL="0" indent="0">
              <a:buNone/>
            </a:pPr>
            <a:r>
              <a:rPr lang="en-US" sz="1200" dirty="0">
                <a:solidFill>
                  <a:srgbClr val="8B949E"/>
                </a:solidFill>
                <a:latin typeface="Calibri" pitchFamily="34" charset="0"/>
                <a:ea typeface="Calibri" pitchFamily="34" charset="-122"/>
                <a:cs typeface="Calibri" pitchFamily="34" charset="-120"/>
              </a:rPr>
              <a:t>Three execution environments — choose the right one</a:t>
            </a:r>
            <a:endParaRPr lang="en-US" sz="1200" dirty="0"/>
          </a:p>
        </p:txBody>
      </p:sp>
      <p:sp>
        <p:nvSpPr>
          <p:cNvPr id="5" name="Shape 3"/>
          <p:cNvSpPr/>
          <p:nvPr/>
        </p:nvSpPr>
        <p:spPr>
          <a:xfrm>
            <a:off x="457200" y="1005840"/>
            <a:ext cx="8229600" cy="9144"/>
          </a:xfrm>
          <a:prstGeom prst="rect">
            <a:avLst/>
          </a:prstGeom>
          <a:solidFill>
            <a:srgbClr val="30363D"/>
          </a:solidFill>
          <a:ln w="12700">
            <a:solidFill>
              <a:srgbClr val="30363D"/>
            </a:solidFill>
            <a:prstDash val="solid"/>
          </a:ln>
        </p:spPr>
      </p:sp>
      <p:sp>
        <p:nvSpPr>
          <p:cNvPr id="6" name="Shape 4"/>
          <p:cNvSpPr/>
          <p:nvPr/>
        </p:nvSpPr>
        <p:spPr>
          <a:xfrm>
            <a:off x="365760" y="1143000"/>
            <a:ext cx="2651760" cy="3566160"/>
          </a:xfrm>
          <a:prstGeom prst="rect">
            <a:avLst/>
          </a:prstGeom>
          <a:solidFill>
            <a:srgbClr val="161B22"/>
          </a:solidFill>
          <a:ln w="12700">
            <a:solidFill>
              <a:srgbClr val="007ACC"/>
            </a:solidFill>
            <a:prstDash val="solid"/>
          </a:ln>
        </p:spPr>
      </p:sp>
      <p:sp>
        <p:nvSpPr>
          <p:cNvPr id="7" name="Shape 5"/>
          <p:cNvSpPr/>
          <p:nvPr/>
        </p:nvSpPr>
        <p:spPr>
          <a:xfrm>
            <a:off x="365760" y="1143000"/>
            <a:ext cx="45720" cy="3566160"/>
          </a:xfrm>
          <a:prstGeom prst="rect">
            <a:avLst/>
          </a:prstGeom>
          <a:solidFill>
            <a:srgbClr val="007ACC"/>
          </a:solidFill>
          <a:ln w="12700">
            <a:solidFill>
              <a:srgbClr val="007ACC"/>
            </a:solidFill>
            <a:prstDash val="solid"/>
          </a:ln>
        </p:spPr>
      </p:sp>
      <p:sp>
        <p:nvSpPr>
          <p:cNvPr id="8" name="Text 6"/>
          <p:cNvSpPr/>
          <p:nvPr/>
        </p:nvSpPr>
        <p:spPr>
          <a:xfrm>
            <a:off x="502920" y="1207008"/>
            <a:ext cx="2423160" cy="347472"/>
          </a:xfrm>
          <a:prstGeom prst="rect">
            <a:avLst/>
          </a:prstGeom>
          <a:noFill/>
          <a:ln/>
        </p:spPr>
        <p:txBody>
          <a:bodyPr wrap="square" rtlCol="0" anchor="ctr"/>
          <a:lstStyle/>
          <a:p>
            <a:pPr marL="0" indent="0">
              <a:buNone/>
            </a:pPr>
            <a:r>
              <a:rPr lang="en-US" sz="1300" b="1" dirty="0">
                <a:solidFill>
                  <a:srgbClr val="007ACC"/>
                </a:solidFill>
                <a:latin typeface="Calibri" pitchFamily="34" charset="0"/>
                <a:ea typeface="Calibri" pitchFamily="34" charset="-122"/>
                <a:cs typeface="Calibri" pitchFamily="34" charset="-120"/>
              </a:rPr>
              <a:t>Local (Foreground)</a:t>
            </a:r>
            <a:endParaRPr lang="en-US" sz="1300" dirty="0"/>
          </a:p>
        </p:txBody>
      </p:sp>
      <p:sp>
        <p:nvSpPr>
          <p:cNvPr id="9" name="Text 7"/>
          <p:cNvSpPr/>
          <p:nvPr/>
        </p:nvSpPr>
        <p:spPr>
          <a:xfrm>
            <a:off x="502920" y="1536192"/>
            <a:ext cx="2423160" cy="228600"/>
          </a:xfrm>
          <a:prstGeom prst="rect">
            <a:avLst/>
          </a:prstGeom>
          <a:noFill/>
          <a:ln/>
        </p:spPr>
        <p:txBody>
          <a:bodyPr wrap="square" rtlCol="0" anchor="ctr"/>
          <a:lstStyle/>
          <a:p>
            <a:pPr marL="0" indent="0">
              <a:buNone/>
            </a:pPr>
            <a:r>
              <a:rPr lang="en-US" sz="900" dirty="0">
                <a:solidFill>
                  <a:srgbClr val="8B949E"/>
                </a:solidFill>
                <a:latin typeface="Consolas" pitchFamily="34" charset="0"/>
                <a:ea typeface="Consolas" pitchFamily="34" charset="-122"/>
                <a:cs typeface="Consolas" pitchFamily="34" charset="-120"/>
              </a:rPr>
              <a:t>Interactive, synchronous</a:t>
            </a:r>
            <a:endParaRPr lang="en-US" sz="900" dirty="0"/>
          </a:p>
        </p:txBody>
      </p:sp>
      <p:sp>
        <p:nvSpPr>
          <p:cNvPr id="10" name="Shape 8"/>
          <p:cNvSpPr/>
          <p:nvPr/>
        </p:nvSpPr>
        <p:spPr>
          <a:xfrm>
            <a:off x="502920" y="1764792"/>
            <a:ext cx="2377440" cy="9144"/>
          </a:xfrm>
          <a:prstGeom prst="rect">
            <a:avLst/>
          </a:prstGeom>
          <a:solidFill>
            <a:srgbClr val="30363D"/>
          </a:solidFill>
          <a:ln w="12700">
            <a:solidFill>
              <a:srgbClr val="30363D"/>
            </a:solidFill>
            <a:prstDash val="solid"/>
          </a:ln>
        </p:spPr>
      </p:sp>
      <p:sp>
        <p:nvSpPr>
          <p:cNvPr id="11" name="Text 9"/>
          <p:cNvSpPr/>
          <p:nvPr/>
        </p:nvSpPr>
        <p:spPr>
          <a:xfrm>
            <a:off x="502920" y="1828800"/>
            <a:ext cx="2423160" cy="438912"/>
          </a:xfrm>
          <a:prstGeom prst="rect">
            <a:avLst/>
          </a:prstGeom>
          <a:noFill/>
          <a:ln/>
        </p:spPr>
        <p:txBody>
          <a:bodyPr wrap="square" rtlCol="0" anchor="ctr"/>
          <a:lstStyle/>
          <a:p>
            <a:pPr marL="0" indent="0">
              <a:buNone/>
            </a:pPr>
            <a:r>
              <a:rPr lang="en-US" sz="1100" b="1" dirty="0">
                <a:solidFill>
                  <a:srgbClr val="007ACC"/>
                </a:solidFill>
                <a:latin typeface="Calibri" pitchFamily="34" charset="0"/>
                <a:ea typeface="Calibri" pitchFamily="34" charset="-122"/>
                <a:cs typeface="Calibri" pitchFamily="34" charset="-120"/>
              </a:rPr>
              <a:t>▸ </a:t>
            </a:r>
            <a:r>
              <a:rPr lang="en-US" sz="1100" dirty="0">
                <a:solidFill>
                  <a:srgbClr val="E6EDF3"/>
                </a:solidFill>
                <a:latin typeface="Calibri" pitchFamily="34" charset="0"/>
                <a:ea typeface="Calibri" pitchFamily="34" charset="-122"/>
                <a:cs typeface="Calibri" pitchFamily="34" charset="-120"/>
              </a:rPr>
              <a:t>Copilot Chat / inline edits</a:t>
            </a:r>
            <a:endParaRPr lang="en-US" sz="1100" dirty="0"/>
          </a:p>
        </p:txBody>
      </p:sp>
      <p:sp>
        <p:nvSpPr>
          <p:cNvPr id="12" name="Text 10"/>
          <p:cNvSpPr/>
          <p:nvPr/>
        </p:nvSpPr>
        <p:spPr>
          <a:xfrm>
            <a:off x="502920" y="2322576"/>
            <a:ext cx="2423160" cy="438912"/>
          </a:xfrm>
          <a:prstGeom prst="rect">
            <a:avLst/>
          </a:prstGeom>
          <a:noFill/>
          <a:ln/>
        </p:spPr>
        <p:txBody>
          <a:bodyPr wrap="square" rtlCol="0" anchor="ctr"/>
          <a:lstStyle/>
          <a:p>
            <a:pPr marL="0" indent="0">
              <a:buNone/>
            </a:pPr>
            <a:r>
              <a:rPr lang="en-US" sz="1100" b="1" dirty="0">
                <a:solidFill>
                  <a:srgbClr val="007ACC"/>
                </a:solidFill>
                <a:latin typeface="Calibri" pitchFamily="34" charset="0"/>
                <a:ea typeface="Calibri" pitchFamily="34" charset="-122"/>
                <a:cs typeface="Calibri" pitchFamily="34" charset="-120"/>
              </a:rPr>
              <a:t>▸ </a:t>
            </a:r>
            <a:r>
              <a:rPr lang="en-US" sz="1100" dirty="0">
                <a:solidFill>
                  <a:srgbClr val="E6EDF3"/>
                </a:solidFill>
                <a:latin typeface="Calibri" pitchFamily="34" charset="0"/>
                <a:ea typeface="Calibri" pitchFamily="34" charset="-122"/>
                <a:cs typeface="Calibri" pitchFamily="34" charset="-120"/>
              </a:rPr>
              <a:t>High cognitive load tasks</a:t>
            </a:r>
            <a:endParaRPr lang="en-US" sz="1100" dirty="0"/>
          </a:p>
        </p:txBody>
      </p:sp>
      <p:sp>
        <p:nvSpPr>
          <p:cNvPr id="13" name="Text 11"/>
          <p:cNvSpPr/>
          <p:nvPr/>
        </p:nvSpPr>
        <p:spPr>
          <a:xfrm>
            <a:off x="502920" y="2816352"/>
            <a:ext cx="2423160" cy="438912"/>
          </a:xfrm>
          <a:prstGeom prst="rect">
            <a:avLst/>
          </a:prstGeom>
          <a:noFill/>
          <a:ln/>
        </p:spPr>
        <p:txBody>
          <a:bodyPr wrap="square" rtlCol="0" anchor="ctr"/>
          <a:lstStyle/>
          <a:p>
            <a:pPr marL="0" indent="0">
              <a:buNone/>
            </a:pPr>
            <a:r>
              <a:rPr lang="en-US" sz="1100" b="1" dirty="0">
                <a:solidFill>
                  <a:srgbClr val="007ACC"/>
                </a:solidFill>
                <a:latin typeface="Calibri" pitchFamily="34" charset="0"/>
                <a:ea typeface="Calibri" pitchFamily="34" charset="-122"/>
                <a:cs typeface="Calibri" pitchFamily="34" charset="-120"/>
              </a:rPr>
              <a:t>▸ </a:t>
            </a:r>
            <a:r>
              <a:rPr lang="en-US" sz="1100" dirty="0">
                <a:solidFill>
                  <a:srgbClr val="E6EDF3"/>
                </a:solidFill>
                <a:latin typeface="Calibri" pitchFamily="34" charset="0"/>
                <a:ea typeface="Calibri" pitchFamily="34" charset="-122"/>
                <a:cs typeface="Calibri" pitchFamily="34" charset="-120"/>
              </a:rPr>
              <a:t>Rapid prototyping</a:t>
            </a:r>
            <a:endParaRPr lang="en-US" sz="1100" dirty="0"/>
          </a:p>
        </p:txBody>
      </p:sp>
      <p:sp>
        <p:nvSpPr>
          <p:cNvPr id="14" name="Text 12"/>
          <p:cNvSpPr/>
          <p:nvPr/>
        </p:nvSpPr>
        <p:spPr>
          <a:xfrm>
            <a:off x="502920" y="3310128"/>
            <a:ext cx="2423160" cy="438912"/>
          </a:xfrm>
          <a:prstGeom prst="rect">
            <a:avLst/>
          </a:prstGeom>
          <a:noFill/>
          <a:ln/>
        </p:spPr>
        <p:txBody>
          <a:bodyPr wrap="square" rtlCol="0" anchor="ctr"/>
          <a:lstStyle/>
          <a:p>
            <a:pPr marL="0" indent="0">
              <a:buNone/>
            </a:pPr>
            <a:r>
              <a:rPr lang="en-US" sz="1100" b="1" dirty="0">
                <a:solidFill>
                  <a:srgbClr val="007ACC"/>
                </a:solidFill>
                <a:latin typeface="Calibri" pitchFamily="34" charset="0"/>
                <a:ea typeface="Calibri" pitchFamily="34" charset="-122"/>
                <a:cs typeface="Calibri" pitchFamily="34" charset="-120"/>
              </a:rPr>
              <a:t>▸ </a:t>
            </a:r>
            <a:r>
              <a:rPr lang="en-US" sz="1100" dirty="0">
                <a:solidFill>
                  <a:srgbClr val="E6EDF3"/>
                </a:solidFill>
                <a:latin typeface="Calibri" pitchFamily="34" charset="0"/>
                <a:ea typeface="Calibri" pitchFamily="34" charset="-122"/>
                <a:cs typeface="Calibri" pitchFamily="34" charset="-120"/>
              </a:rPr>
              <a:t>Context gathering</a:t>
            </a:r>
            <a:endParaRPr lang="en-US" sz="1100" dirty="0"/>
          </a:p>
        </p:txBody>
      </p:sp>
      <p:sp>
        <p:nvSpPr>
          <p:cNvPr id="15" name="Text 13"/>
          <p:cNvSpPr/>
          <p:nvPr/>
        </p:nvSpPr>
        <p:spPr>
          <a:xfrm>
            <a:off x="502920" y="3803904"/>
            <a:ext cx="2423160" cy="438912"/>
          </a:xfrm>
          <a:prstGeom prst="rect">
            <a:avLst/>
          </a:prstGeom>
          <a:noFill/>
          <a:ln/>
        </p:spPr>
        <p:txBody>
          <a:bodyPr wrap="square" rtlCol="0" anchor="ctr"/>
          <a:lstStyle/>
          <a:p>
            <a:pPr marL="0" indent="0">
              <a:buNone/>
            </a:pPr>
            <a:r>
              <a:rPr lang="en-US" sz="1100" b="1" dirty="0">
                <a:solidFill>
                  <a:srgbClr val="007ACC"/>
                </a:solidFill>
                <a:latin typeface="Calibri" pitchFamily="34" charset="0"/>
                <a:ea typeface="Calibri" pitchFamily="34" charset="-122"/>
                <a:cs typeface="Calibri" pitchFamily="34" charset="-120"/>
              </a:rPr>
              <a:t>▸ </a:t>
            </a:r>
            <a:r>
              <a:rPr lang="en-US" sz="1100" dirty="0">
                <a:solidFill>
                  <a:srgbClr val="E6EDF3"/>
                </a:solidFill>
                <a:latin typeface="Calibri" pitchFamily="34" charset="0"/>
                <a:ea typeface="Calibri" pitchFamily="34" charset="-122"/>
                <a:cs typeface="Calibri" pitchFamily="34" charset="-120"/>
              </a:rPr>
              <a:t>Immediate review needed</a:t>
            </a:r>
            <a:endParaRPr lang="en-US" sz="1100" dirty="0"/>
          </a:p>
        </p:txBody>
      </p:sp>
      <p:sp>
        <p:nvSpPr>
          <p:cNvPr id="16" name="Shape 14"/>
          <p:cNvSpPr/>
          <p:nvPr/>
        </p:nvSpPr>
        <p:spPr>
          <a:xfrm>
            <a:off x="3200400" y="1143000"/>
            <a:ext cx="2651760" cy="3566160"/>
          </a:xfrm>
          <a:prstGeom prst="rect">
            <a:avLst/>
          </a:prstGeom>
          <a:solidFill>
            <a:srgbClr val="161B22"/>
          </a:solidFill>
          <a:ln w="12700">
            <a:solidFill>
              <a:srgbClr val="3FB950"/>
            </a:solidFill>
            <a:prstDash val="solid"/>
          </a:ln>
        </p:spPr>
      </p:sp>
      <p:sp>
        <p:nvSpPr>
          <p:cNvPr id="17" name="Shape 15"/>
          <p:cNvSpPr/>
          <p:nvPr/>
        </p:nvSpPr>
        <p:spPr>
          <a:xfrm>
            <a:off x="3200400" y="1143000"/>
            <a:ext cx="45720" cy="3566160"/>
          </a:xfrm>
          <a:prstGeom prst="rect">
            <a:avLst/>
          </a:prstGeom>
          <a:solidFill>
            <a:srgbClr val="3FB950"/>
          </a:solidFill>
          <a:ln w="12700">
            <a:solidFill>
              <a:srgbClr val="3FB950"/>
            </a:solidFill>
            <a:prstDash val="solid"/>
          </a:ln>
        </p:spPr>
      </p:sp>
      <p:sp>
        <p:nvSpPr>
          <p:cNvPr id="18" name="Text 16"/>
          <p:cNvSpPr/>
          <p:nvPr/>
        </p:nvSpPr>
        <p:spPr>
          <a:xfrm>
            <a:off x="3337560" y="1207008"/>
            <a:ext cx="2423160" cy="347472"/>
          </a:xfrm>
          <a:prstGeom prst="rect">
            <a:avLst/>
          </a:prstGeom>
          <a:noFill/>
          <a:ln/>
        </p:spPr>
        <p:txBody>
          <a:bodyPr wrap="square" rtlCol="0" anchor="ctr"/>
          <a:lstStyle/>
          <a:p>
            <a:pPr marL="0" indent="0">
              <a:buNone/>
            </a:pPr>
            <a:r>
              <a:rPr lang="en-US" sz="1300" b="1" dirty="0">
                <a:solidFill>
                  <a:srgbClr val="3FB950"/>
                </a:solidFill>
                <a:latin typeface="Calibri" pitchFamily="34" charset="0"/>
                <a:ea typeface="Calibri" pitchFamily="34" charset="-122"/>
                <a:cs typeface="Calibri" pitchFamily="34" charset="-120"/>
              </a:rPr>
              <a:t>Background (Isolated)</a:t>
            </a:r>
            <a:endParaRPr lang="en-US" sz="1300" dirty="0"/>
          </a:p>
        </p:txBody>
      </p:sp>
      <p:sp>
        <p:nvSpPr>
          <p:cNvPr id="19" name="Text 17"/>
          <p:cNvSpPr/>
          <p:nvPr/>
        </p:nvSpPr>
        <p:spPr>
          <a:xfrm>
            <a:off x="3337560" y="1536192"/>
            <a:ext cx="2423160" cy="228600"/>
          </a:xfrm>
          <a:prstGeom prst="rect">
            <a:avLst/>
          </a:prstGeom>
          <a:noFill/>
          <a:ln/>
        </p:spPr>
        <p:txBody>
          <a:bodyPr wrap="square" rtlCol="0" anchor="ctr"/>
          <a:lstStyle/>
          <a:p>
            <a:pPr marL="0" indent="0">
              <a:buNone/>
            </a:pPr>
            <a:r>
              <a:rPr lang="en-US" sz="900" dirty="0">
                <a:solidFill>
                  <a:srgbClr val="8B949E"/>
                </a:solidFill>
                <a:latin typeface="Consolas" pitchFamily="34" charset="0"/>
                <a:ea typeface="Consolas" pitchFamily="34" charset="-122"/>
                <a:cs typeface="Consolas" pitchFamily="34" charset="-120"/>
              </a:rPr>
              <a:t>Async, git-worktree isolated</a:t>
            </a:r>
            <a:endParaRPr lang="en-US" sz="900" dirty="0"/>
          </a:p>
        </p:txBody>
      </p:sp>
      <p:sp>
        <p:nvSpPr>
          <p:cNvPr id="20" name="Shape 18"/>
          <p:cNvSpPr/>
          <p:nvPr/>
        </p:nvSpPr>
        <p:spPr>
          <a:xfrm>
            <a:off x="3337560" y="1764792"/>
            <a:ext cx="2377440" cy="9144"/>
          </a:xfrm>
          <a:prstGeom prst="rect">
            <a:avLst/>
          </a:prstGeom>
          <a:solidFill>
            <a:srgbClr val="30363D"/>
          </a:solidFill>
          <a:ln w="12700">
            <a:solidFill>
              <a:srgbClr val="30363D"/>
            </a:solidFill>
            <a:prstDash val="solid"/>
          </a:ln>
        </p:spPr>
      </p:sp>
      <p:sp>
        <p:nvSpPr>
          <p:cNvPr id="21" name="Text 19"/>
          <p:cNvSpPr/>
          <p:nvPr/>
        </p:nvSpPr>
        <p:spPr>
          <a:xfrm>
            <a:off x="3337560" y="1828800"/>
            <a:ext cx="2423160" cy="438912"/>
          </a:xfrm>
          <a:prstGeom prst="rect">
            <a:avLst/>
          </a:prstGeom>
          <a:noFill/>
          <a:ln/>
        </p:spPr>
        <p:txBody>
          <a:bodyPr wrap="square" rtlCol="0" anchor="ctr"/>
          <a:lstStyle/>
          <a:p>
            <a:pPr marL="0" indent="0">
              <a:buNone/>
            </a:pPr>
            <a:r>
              <a:rPr lang="en-US" sz="1100" b="1" dirty="0">
                <a:solidFill>
                  <a:srgbClr val="3FB950"/>
                </a:solidFill>
                <a:latin typeface="Calibri" pitchFamily="34" charset="0"/>
                <a:ea typeface="Calibri" pitchFamily="34" charset="-122"/>
                <a:cs typeface="Calibri" pitchFamily="34" charset="-120"/>
              </a:rPr>
              <a:t>▸ </a:t>
            </a:r>
            <a:r>
              <a:rPr lang="en-US" sz="1100" dirty="0">
                <a:solidFill>
                  <a:srgbClr val="E6EDF3"/>
                </a:solidFill>
                <a:latin typeface="Calibri" pitchFamily="34" charset="0"/>
                <a:ea typeface="Calibri" pitchFamily="34" charset="-122"/>
                <a:cs typeface="Calibri" pitchFamily="34" charset="-120"/>
              </a:rPr>
              <a:t>Copilot CLI git worktree</a:t>
            </a:r>
            <a:endParaRPr lang="en-US" sz="1100" dirty="0"/>
          </a:p>
        </p:txBody>
      </p:sp>
      <p:sp>
        <p:nvSpPr>
          <p:cNvPr id="22" name="Text 20"/>
          <p:cNvSpPr/>
          <p:nvPr/>
        </p:nvSpPr>
        <p:spPr>
          <a:xfrm>
            <a:off x="3337560" y="2322576"/>
            <a:ext cx="2423160" cy="438912"/>
          </a:xfrm>
          <a:prstGeom prst="rect">
            <a:avLst/>
          </a:prstGeom>
          <a:noFill/>
          <a:ln/>
        </p:spPr>
        <p:txBody>
          <a:bodyPr wrap="square" rtlCol="0" anchor="ctr"/>
          <a:lstStyle/>
          <a:p>
            <a:pPr marL="0" indent="0">
              <a:buNone/>
            </a:pPr>
            <a:r>
              <a:rPr lang="en-US" sz="1100" b="1" dirty="0">
                <a:solidFill>
                  <a:srgbClr val="3FB950"/>
                </a:solidFill>
                <a:latin typeface="Calibri" pitchFamily="34" charset="0"/>
                <a:ea typeface="Calibri" pitchFamily="34" charset="-122"/>
                <a:cs typeface="Calibri" pitchFamily="34" charset="-120"/>
              </a:rPr>
              <a:t>▸ </a:t>
            </a:r>
            <a:r>
              <a:rPr lang="en-US" sz="1100" dirty="0">
                <a:solidFill>
                  <a:srgbClr val="E6EDF3"/>
                </a:solidFill>
                <a:latin typeface="Calibri" pitchFamily="34" charset="0"/>
                <a:ea typeface="Calibri" pitchFamily="34" charset="-122"/>
                <a:cs typeface="Calibri" pitchFamily="34" charset="-120"/>
              </a:rPr>
              <a:t>Feature implementation</a:t>
            </a:r>
            <a:endParaRPr lang="en-US" sz="1100" dirty="0"/>
          </a:p>
        </p:txBody>
      </p:sp>
      <p:sp>
        <p:nvSpPr>
          <p:cNvPr id="23" name="Text 21"/>
          <p:cNvSpPr/>
          <p:nvPr/>
        </p:nvSpPr>
        <p:spPr>
          <a:xfrm>
            <a:off x="3337560" y="2816352"/>
            <a:ext cx="2423160" cy="438912"/>
          </a:xfrm>
          <a:prstGeom prst="rect">
            <a:avLst/>
          </a:prstGeom>
          <a:noFill/>
          <a:ln/>
        </p:spPr>
        <p:txBody>
          <a:bodyPr wrap="square" rtlCol="0" anchor="ctr"/>
          <a:lstStyle/>
          <a:p>
            <a:pPr marL="0" indent="0">
              <a:buNone/>
            </a:pPr>
            <a:r>
              <a:rPr lang="en-US" sz="1100" b="1" dirty="0">
                <a:solidFill>
                  <a:srgbClr val="3FB950"/>
                </a:solidFill>
                <a:latin typeface="Calibri" pitchFamily="34" charset="0"/>
                <a:ea typeface="Calibri" pitchFamily="34" charset="-122"/>
                <a:cs typeface="Calibri" pitchFamily="34" charset="-120"/>
              </a:rPr>
              <a:t>▸ </a:t>
            </a:r>
            <a:r>
              <a:rPr lang="en-US" sz="1100" dirty="0">
                <a:solidFill>
                  <a:srgbClr val="E6EDF3"/>
                </a:solidFill>
                <a:latin typeface="Calibri" pitchFamily="34" charset="0"/>
                <a:ea typeface="Calibri" pitchFamily="34" charset="-122"/>
                <a:cs typeface="Calibri" pitchFamily="34" charset="-120"/>
              </a:rPr>
              <a:t>Safe code generation</a:t>
            </a:r>
            <a:endParaRPr lang="en-US" sz="1100" dirty="0"/>
          </a:p>
        </p:txBody>
      </p:sp>
      <p:sp>
        <p:nvSpPr>
          <p:cNvPr id="24" name="Text 22"/>
          <p:cNvSpPr/>
          <p:nvPr/>
        </p:nvSpPr>
        <p:spPr>
          <a:xfrm>
            <a:off x="3337560" y="3310128"/>
            <a:ext cx="2423160" cy="438912"/>
          </a:xfrm>
          <a:prstGeom prst="rect">
            <a:avLst/>
          </a:prstGeom>
          <a:noFill/>
          <a:ln/>
        </p:spPr>
        <p:txBody>
          <a:bodyPr wrap="square" rtlCol="0" anchor="ctr"/>
          <a:lstStyle/>
          <a:p>
            <a:pPr marL="0" indent="0">
              <a:buNone/>
            </a:pPr>
            <a:r>
              <a:rPr lang="en-US" sz="1100" b="1" dirty="0">
                <a:solidFill>
                  <a:srgbClr val="3FB950"/>
                </a:solidFill>
                <a:latin typeface="Calibri" pitchFamily="34" charset="0"/>
                <a:ea typeface="Calibri" pitchFamily="34" charset="-122"/>
                <a:cs typeface="Calibri" pitchFamily="34" charset="-120"/>
              </a:rPr>
              <a:t>▸ </a:t>
            </a:r>
            <a:r>
              <a:rPr lang="en-US" sz="1100" dirty="0">
                <a:solidFill>
                  <a:srgbClr val="E6EDF3"/>
                </a:solidFill>
                <a:latin typeface="Calibri" pitchFamily="34" charset="0"/>
                <a:ea typeface="Calibri" pitchFamily="34" charset="-122"/>
                <a:cs typeface="Calibri" pitchFamily="34" charset="-120"/>
              </a:rPr>
              <a:t>No workspace collision</a:t>
            </a:r>
            <a:endParaRPr lang="en-US" sz="1100" dirty="0"/>
          </a:p>
        </p:txBody>
      </p:sp>
      <p:sp>
        <p:nvSpPr>
          <p:cNvPr id="25" name="Text 23"/>
          <p:cNvSpPr/>
          <p:nvPr/>
        </p:nvSpPr>
        <p:spPr>
          <a:xfrm>
            <a:off x="3337560" y="3803904"/>
            <a:ext cx="2423160" cy="438912"/>
          </a:xfrm>
          <a:prstGeom prst="rect">
            <a:avLst/>
          </a:prstGeom>
          <a:noFill/>
          <a:ln/>
        </p:spPr>
        <p:txBody>
          <a:bodyPr wrap="square" rtlCol="0" anchor="ctr"/>
          <a:lstStyle/>
          <a:p>
            <a:pPr marL="0" indent="0">
              <a:buNone/>
            </a:pPr>
            <a:r>
              <a:rPr lang="en-US" sz="1100" b="1" dirty="0">
                <a:solidFill>
                  <a:srgbClr val="3FB950"/>
                </a:solidFill>
                <a:latin typeface="Calibri" pitchFamily="34" charset="0"/>
                <a:ea typeface="Calibri" pitchFamily="34" charset="-122"/>
                <a:cs typeface="Calibri" pitchFamily="34" charset="-120"/>
              </a:rPr>
              <a:t>▸ </a:t>
            </a:r>
            <a:r>
              <a:rPr lang="en-US" sz="1100" dirty="0">
                <a:solidFill>
                  <a:srgbClr val="E6EDF3"/>
                </a:solidFill>
                <a:latin typeface="Calibri" pitchFamily="34" charset="0"/>
                <a:ea typeface="Calibri" pitchFamily="34" charset="-122"/>
                <a:cs typeface="Calibri" pitchFamily="34" charset="-120"/>
              </a:rPr>
              <a:t>Review-on-completion</a:t>
            </a:r>
            <a:endParaRPr lang="en-US" sz="1100" dirty="0"/>
          </a:p>
        </p:txBody>
      </p:sp>
      <p:sp>
        <p:nvSpPr>
          <p:cNvPr id="26" name="Shape 24"/>
          <p:cNvSpPr/>
          <p:nvPr/>
        </p:nvSpPr>
        <p:spPr>
          <a:xfrm>
            <a:off x="6035040" y="1143000"/>
            <a:ext cx="2651760" cy="3566160"/>
          </a:xfrm>
          <a:prstGeom prst="rect">
            <a:avLst/>
          </a:prstGeom>
          <a:solidFill>
            <a:srgbClr val="161B22"/>
          </a:solidFill>
          <a:ln w="12700">
            <a:solidFill>
              <a:srgbClr val="BC8CFF"/>
            </a:solidFill>
            <a:prstDash val="solid"/>
          </a:ln>
        </p:spPr>
      </p:sp>
      <p:sp>
        <p:nvSpPr>
          <p:cNvPr id="27" name="Shape 25"/>
          <p:cNvSpPr/>
          <p:nvPr/>
        </p:nvSpPr>
        <p:spPr>
          <a:xfrm>
            <a:off x="6035040" y="1143000"/>
            <a:ext cx="45720" cy="3566160"/>
          </a:xfrm>
          <a:prstGeom prst="rect">
            <a:avLst/>
          </a:prstGeom>
          <a:solidFill>
            <a:srgbClr val="BC8CFF"/>
          </a:solidFill>
          <a:ln w="12700">
            <a:solidFill>
              <a:srgbClr val="BC8CFF"/>
            </a:solidFill>
            <a:prstDash val="solid"/>
          </a:ln>
        </p:spPr>
      </p:sp>
      <p:sp>
        <p:nvSpPr>
          <p:cNvPr id="28" name="Text 26"/>
          <p:cNvSpPr/>
          <p:nvPr/>
        </p:nvSpPr>
        <p:spPr>
          <a:xfrm>
            <a:off x="6172200" y="1207008"/>
            <a:ext cx="2423160" cy="347472"/>
          </a:xfrm>
          <a:prstGeom prst="rect">
            <a:avLst/>
          </a:prstGeom>
          <a:noFill/>
          <a:ln/>
        </p:spPr>
        <p:txBody>
          <a:bodyPr wrap="square" rtlCol="0" anchor="ctr"/>
          <a:lstStyle/>
          <a:p>
            <a:pPr marL="0" indent="0">
              <a:buNone/>
            </a:pPr>
            <a:r>
              <a:rPr lang="en-US" sz="1300" b="1" dirty="0">
                <a:solidFill>
                  <a:srgbClr val="BC8CFF"/>
                </a:solidFill>
                <a:latin typeface="Calibri" pitchFamily="34" charset="0"/>
                <a:ea typeface="Calibri" pitchFamily="34" charset="-122"/>
                <a:cs typeface="Calibri" pitchFamily="34" charset="-120"/>
              </a:rPr>
              <a:t>Cloud (Remote)</a:t>
            </a:r>
            <a:endParaRPr lang="en-US" sz="1300" dirty="0"/>
          </a:p>
        </p:txBody>
      </p:sp>
      <p:sp>
        <p:nvSpPr>
          <p:cNvPr id="29" name="Text 27"/>
          <p:cNvSpPr/>
          <p:nvPr/>
        </p:nvSpPr>
        <p:spPr>
          <a:xfrm>
            <a:off x="6172200" y="1536192"/>
            <a:ext cx="2423160" cy="228600"/>
          </a:xfrm>
          <a:prstGeom prst="rect">
            <a:avLst/>
          </a:prstGeom>
          <a:noFill/>
          <a:ln/>
        </p:spPr>
        <p:txBody>
          <a:bodyPr wrap="square" rtlCol="0" anchor="ctr"/>
          <a:lstStyle/>
          <a:p>
            <a:pPr marL="0" indent="0">
              <a:buNone/>
            </a:pPr>
            <a:r>
              <a:rPr lang="en-US" sz="900" dirty="0">
                <a:solidFill>
                  <a:srgbClr val="8B949E"/>
                </a:solidFill>
                <a:latin typeface="Consolas" pitchFamily="34" charset="0"/>
                <a:ea typeface="Consolas" pitchFamily="34" charset="-122"/>
                <a:cs typeface="Consolas" pitchFamily="34" charset="-120"/>
              </a:rPr>
              <a:t>Fire-and-forget</a:t>
            </a:r>
            <a:endParaRPr lang="en-US" sz="900" dirty="0"/>
          </a:p>
        </p:txBody>
      </p:sp>
      <p:sp>
        <p:nvSpPr>
          <p:cNvPr id="30" name="Shape 28"/>
          <p:cNvSpPr/>
          <p:nvPr/>
        </p:nvSpPr>
        <p:spPr>
          <a:xfrm>
            <a:off x="6172200" y="1764792"/>
            <a:ext cx="2377440" cy="9144"/>
          </a:xfrm>
          <a:prstGeom prst="rect">
            <a:avLst/>
          </a:prstGeom>
          <a:solidFill>
            <a:srgbClr val="30363D"/>
          </a:solidFill>
          <a:ln w="12700">
            <a:solidFill>
              <a:srgbClr val="30363D"/>
            </a:solidFill>
            <a:prstDash val="solid"/>
          </a:ln>
        </p:spPr>
      </p:sp>
      <p:sp>
        <p:nvSpPr>
          <p:cNvPr id="31" name="Text 29"/>
          <p:cNvSpPr/>
          <p:nvPr/>
        </p:nvSpPr>
        <p:spPr>
          <a:xfrm>
            <a:off x="6172200" y="1828800"/>
            <a:ext cx="2423160" cy="438912"/>
          </a:xfrm>
          <a:prstGeom prst="rect">
            <a:avLst/>
          </a:prstGeom>
          <a:noFill/>
          <a:ln/>
        </p:spPr>
        <p:txBody>
          <a:bodyPr wrap="square" rtlCol="0" anchor="ctr"/>
          <a:lstStyle/>
          <a:p>
            <a:pPr marL="0" indent="0">
              <a:buNone/>
            </a:pPr>
            <a:r>
              <a:rPr lang="en-US" sz="1100" b="1" dirty="0">
                <a:solidFill>
                  <a:srgbClr val="BC8CFF"/>
                </a:solidFill>
                <a:latin typeface="Calibri" pitchFamily="34" charset="0"/>
                <a:ea typeface="Calibri" pitchFamily="34" charset="-122"/>
                <a:cs typeface="Calibri" pitchFamily="34" charset="-120"/>
              </a:rPr>
              <a:t>▸ </a:t>
            </a:r>
            <a:r>
              <a:rPr lang="en-US" sz="1100" dirty="0">
                <a:solidFill>
                  <a:srgbClr val="E6EDF3"/>
                </a:solidFill>
                <a:latin typeface="Calibri" pitchFamily="34" charset="0"/>
                <a:ea typeface="Calibri" pitchFamily="34" charset="-122"/>
                <a:cs typeface="Calibri" pitchFamily="34" charset="-120"/>
              </a:rPr>
              <a:t>GitHub Actions / Remote</a:t>
            </a:r>
            <a:endParaRPr lang="en-US" sz="1100" dirty="0"/>
          </a:p>
        </p:txBody>
      </p:sp>
      <p:sp>
        <p:nvSpPr>
          <p:cNvPr id="32" name="Text 30"/>
          <p:cNvSpPr/>
          <p:nvPr/>
        </p:nvSpPr>
        <p:spPr>
          <a:xfrm>
            <a:off x="6172200" y="2322576"/>
            <a:ext cx="2423160" cy="438912"/>
          </a:xfrm>
          <a:prstGeom prst="rect">
            <a:avLst/>
          </a:prstGeom>
          <a:noFill/>
          <a:ln/>
        </p:spPr>
        <p:txBody>
          <a:bodyPr wrap="square" rtlCol="0" anchor="ctr"/>
          <a:lstStyle/>
          <a:p>
            <a:pPr marL="0" indent="0">
              <a:buNone/>
            </a:pPr>
            <a:r>
              <a:rPr lang="en-US" sz="1100" b="1" dirty="0">
                <a:solidFill>
                  <a:srgbClr val="BC8CFF"/>
                </a:solidFill>
                <a:latin typeface="Calibri" pitchFamily="34" charset="0"/>
                <a:ea typeface="Calibri" pitchFamily="34" charset="-122"/>
                <a:cs typeface="Calibri" pitchFamily="34" charset="-120"/>
              </a:rPr>
              <a:t>▸ </a:t>
            </a:r>
            <a:r>
              <a:rPr lang="en-US" sz="1100" dirty="0">
                <a:solidFill>
                  <a:srgbClr val="E6EDF3"/>
                </a:solidFill>
                <a:latin typeface="Calibri" pitchFamily="34" charset="0"/>
                <a:ea typeface="Calibri" pitchFamily="34" charset="-122"/>
                <a:cs typeface="Calibri" pitchFamily="34" charset="-120"/>
              </a:rPr>
              <a:t>Pull Request generation</a:t>
            </a:r>
            <a:endParaRPr lang="en-US" sz="1100" dirty="0"/>
          </a:p>
        </p:txBody>
      </p:sp>
      <p:sp>
        <p:nvSpPr>
          <p:cNvPr id="33" name="Text 31"/>
          <p:cNvSpPr/>
          <p:nvPr/>
        </p:nvSpPr>
        <p:spPr>
          <a:xfrm>
            <a:off x="6172200" y="2816352"/>
            <a:ext cx="2423160" cy="438912"/>
          </a:xfrm>
          <a:prstGeom prst="rect">
            <a:avLst/>
          </a:prstGeom>
          <a:noFill/>
          <a:ln/>
        </p:spPr>
        <p:txBody>
          <a:bodyPr wrap="square" rtlCol="0" anchor="ctr"/>
          <a:lstStyle/>
          <a:p>
            <a:pPr marL="0" indent="0">
              <a:buNone/>
            </a:pPr>
            <a:r>
              <a:rPr lang="en-US" sz="1100" b="1" dirty="0">
                <a:solidFill>
                  <a:srgbClr val="BC8CFF"/>
                </a:solidFill>
                <a:latin typeface="Calibri" pitchFamily="34" charset="0"/>
                <a:ea typeface="Calibri" pitchFamily="34" charset="-122"/>
                <a:cs typeface="Calibri" pitchFamily="34" charset="-120"/>
              </a:rPr>
              <a:t>▸ </a:t>
            </a:r>
            <a:r>
              <a:rPr lang="en-US" sz="1100" dirty="0">
                <a:solidFill>
                  <a:srgbClr val="E6EDF3"/>
                </a:solidFill>
                <a:latin typeface="Calibri" pitchFamily="34" charset="0"/>
                <a:ea typeface="Calibri" pitchFamily="34" charset="-122"/>
                <a:cs typeface="Calibri" pitchFamily="34" charset="-120"/>
              </a:rPr>
              <a:t>Autonomous issue resolution</a:t>
            </a:r>
            <a:endParaRPr lang="en-US" sz="1100" dirty="0"/>
          </a:p>
        </p:txBody>
      </p:sp>
      <p:sp>
        <p:nvSpPr>
          <p:cNvPr id="34" name="Text 32"/>
          <p:cNvSpPr/>
          <p:nvPr/>
        </p:nvSpPr>
        <p:spPr>
          <a:xfrm>
            <a:off x="6172200" y="3310128"/>
            <a:ext cx="2423160" cy="438912"/>
          </a:xfrm>
          <a:prstGeom prst="rect">
            <a:avLst/>
          </a:prstGeom>
          <a:noFill/>
          <a:ln/>
        </p:spPr>
        <p:txBody>
          <a:bodyPr wrap="square" rtlCol="0" anchor="ctr"/>
          <a:lstStyle/>
          <a:p>
            <a:pPr marL="0" indent="0">
              <a:buNone/>
            </a:pPr>
            <a:r>
              <a:rPr lang="en-US" sz="1100" b="1" dirty="0">
                <a:solidFill>
                  <a:srgbClr val="BC8CFF"/>
                </a:solidFill>
                <a:latin typeface="Calibri" pitchFamily="34" charset="0"/>
                <a:ea typeface="Calibri" pitchFamily="34" charset="-122"/>
                <a:cs typeface="Calibri" pitchFamily="34" charset="-120"/>
              </a:rPr>
              <a:t>▸ </a:t>
            </a:r>
            <a:r>
              <a:rPr lang="en-US" sz="1100" dirty="0">
                <a:solidFill>
                  <a:srgbClr val="E6EDF3"/>
                </a:solidFill>
                <a:latin typeface="Calibri" pitchFamily="34" charset="0"/>
                <a:ea typeface="Calibri" pitchFamily="34" charset="-122"/>
                <a:cs typeface="Calibri" pitchFamily="34" charset="-120"/>
              </a:rPr>
              <a:t>Large-scale refactoring</a:t>
            </a:r>
            <a:endParaRPr lang="en-US" sz="1100" dirty="0"/>
          </a:p>
        </p:txBody>
      </p:sp>
      <p:sp>
        <p:nvSpPr>
          <p:cNvPr id="35" name="Text 33"/>
          <p:cNvSpPr/>
          <p:nvPr/>
        </p:nvSpPr>
        <p:spPr>
          <a:xfrm>
            <a:off x="6172200" y="3803904"/>
            <a:ext cx="2423160" cy="438912"/>
          </a:xfrm>
          <a:prstGeom prst="rect">
            <a:avLst/>
          </a:prstGeom>
          <a:noFill/>
          <a:ln/>
        </p:spPr>
        <p:txBody>
          <a:bodyPr wrap="square" rtlCol="0" anchor="ctr"/>
          <a:lstStyle/>
          <a:p>
            <a:pPr marL="0" indent="0">
              <a:buNone/>
            </a:pPr>
            <a:r>
              <a:rPr lang="en-US" sz="1100" b="1" dirty="0">
                <a:solidFill>
                  <a:srgbClr val="BC8CFF"/>
                </a:solidFill>
                <a:latin typeface="Calibri" pitchFamily="34" charset="0"/>
                <a:ea typeface="Calibri" pitchFamily="34" charset="-122"/>
                <a:cs typeface="Calibri" pitchFamily="34" charset="-120"/>
              </a:rPr>
              <a:t>▸ </a:t>
            </a:r>
            <a:r>
              <a:rPr lang="en-US" sz="1100" dirty="0">
                <a:solidFill>
                  <a:srgbClr val="E6EDF3"/>
                </a:solidFill>
                <a:latin typeface="Calibri" pitchFamily="34" charset="0"/>
                <a:ea typeface="Calibri" pitchFamily="34" charset="-122"/>
                <a:cs typeface="Calibri" pitchFamily="34" charset="-120"/>
              </a:rPr>
              <a:t>Low cognitive load</a:t>
            </a:r>
            <a:endParaRPr lang="en-US" sz="1100" dirty="0"/>
          </a:p>
        </p:txBody>
      </p:sp>
      <p:sp>
        <p:nvSpPr>
          <p:cNvPr id="36" name="Shape 34"/>
          <p:cNvSpPr/>
          <p:nvPr/>
        </p:nvSpPr>
        <p:spPr>
          <a:xfrm>
            <a:off x="0" y="4960620"/>
            <a:ext cx="9144000" cy="182880"/>
          </a:xfrm>
          <a:prstGeom prst="rect">
            <a:avLst/>
          </a:prstGeom>
          <a:solidFill>
            <a:srgbClr val="161B22"/>
          </a:solidFill>
          <a:ln w="12700">
            <a:solidFill>
              <a:srgbClr val="30363D"/>
            </a:solidFill>
            <a:prstDash val="solid"/>
          </a:ln>
        </p:spPr>
      </p:sp>
      <p:sp>
        <p:nvSpPr>
          <p:cNvPr id="37" name="Text 35"/>
          <p:cNvSpPr/>
          <p:nvPr/>
        </p:nvSpPr>
        <p:spPr>
          <a:xfrm>
            <a:off x="274320" y="4965192"/>
            <a:ext cx="8595360" cy="164592"/>
          </a:xfrm>
          <a:prstGeom prst="rect">
            <a:avLst/>
          </a:prstGeom>
          <a:noFill/>
          <a:ln/>
        </p:spPr>
        <p:txBody>
          <a:bodyPr wrap="square" rtlCol="0" anchor="ctr"/>
          <a:lstStyle/>
          <a:p>
            <a:pPr marL="0" indent="0" algn="l">
              <a:buNone/>
            </a:pPr>
            <a:r>
              <a:rPr lang="en-US" sz="800" dirty="0">
                <a:solidFill>
                  <a:srgbClr val="484F58"/>
                </a:solidFill>
                <a:latin typeface="Consolas" pitchFamily="34" charset="0"/>
                <a:ea typeface="Consolas" pitchFamily="34" charset="-122"/>
                <a:cs typeface="Consolas" pitchFamily="34" charset="-120"/>
              </a:rPr>
              <a:t>Multi-Agent in VS Code  •  Developer Community</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007ACC"/>
          </a:solidFill>
          <a:ln w="12700">
            <a:solidFill>
              <a:srgbClr val="007ACC"/>
            </a:solidFill>
            <a:prstDash val="solid"/>
          </a:ln>
        </p:spPr>
      </p:sp>
      <p:sp>
        <p:nvSpPr>
          <p:cNvPr id="3" name="Text 1"/>
          <p:cNvSpPr/>
          <p:nvPr/>
        </p:nvSpPr>
        <p:spPr>
          <a:xfrm>
            <a:off x="457200" y="182880"/>
            <a:ext cx="8229600" cy="502920"/>
          </a:xfrm>
          <a:prstGeom prst="rect">
            <a:avLst/>
          </a:prstGeom>
          <a:noFill/>
          <a:ln/>
        </p:spPr>
        <p:txBody>
          <a:bodyPr wrap="square" lIns="0" tIns="0" rIns="0" bIns="0" rtlCol="0" anchor="ctr"/>
          <a:lstStyle/>
          <a:p>
            <a:pPr marL="0" indent="0">
              <a:buNone/>
            </a:pPr>
            <a:r>
              <a:rPr lang="en-US" sz="2200" b="1" dirty="0">
                <a:solidFill>
                  <a:srgbClr val="E6EDF3"/>
                </a:solidFill>
                <a:latin typeface="Calibri" pitchFamily="34" charset="0"/>
                <a:ea typeface="Calibri" pitchFamily="34" charset="-122"/>
                <a:cs typeface="Calibri" pitchFamily="34" charset="-120"/>
              </a:rPr>
              <a:t>GitHub Copilot: Chat vs Agent Mode</a:t>
            </a:r>
            <a:endParaRPr lang="en-US" sz="2200" dirty="0"/>
          </a:p>
        </p:txBody>
      </p:sp>
      <p:sp>
        <p:nvSpPr>
          <p:cNvPr id="4" name="Text 2"/>
          <p:cNvSpPr/>
          <p:nvPr/>
        </p:nvSpPr>
        <p:spPr>
          <a:xfrm>
            <a:off x="457200" y="685800"/>
            <a:ext cx="8229600" cy="320040"/>
          </a:xfrm>
          <a:prstGeom prst="rect">
            <a:avLst/>
          </a:prstGeom>
          <a:noFill/>
          <a:ln/>
        </p:spPr>
        <p:txBody>
          <a:bodyPr wrap="square" lIns="0" tIns="0" rIns="0" bIns="0" rtlCol="0" anchor="ctr"/>
          <a:lstStyle/>
          <a:p>
            <a:pPr marL="0" indent="0">
              <a:buNone/>
            </a:pPr>
            <a:r>
              <a:rPr lang="en-US" sz="1200" dirty="0">
                <a:solidFill>
                  <a:srgbClr val="8B949E"/>
                </a:solidFill>
                <a:latin typeface="Calibri" pitchFamily="34" charset="0"/>
                <a:ea typeface="Calibri" pitchFamily="34" charset="-122"/>
                <a:cs typeface="Calibri" pitchFamily="34" charset="-120"/>
              </a:rPr>
              <a:t>Know which mode to reach for — and when to go further with MCP</a:t>
            </a:r>
            <a:endParaRPr lang="en-US" sz="1200" dirty="0"/>
          </a:p>
        </p:txBody>
      </p:sp>
      <p:sp>
        <p:nvSpPr>
          <p:cNvPr id="5" name="Shape 3"/>
          <p:cNvSpPr/>
          <p:nvPr/>
        </p:nvSpPr>
        <p:spPr>
          <a:xfrm>
            <a:off x="457200" y="1005840"/>
            <a:ext cx="8229600" cy="9144"/>
          </a:xfrm>
          <a:prstGeom prst="rect">
            <a:avLst/>
          </a:prstGeom>
          <a:solidFill>
            <a:srgbClr val="30363D"/>
          </a:solidFill>
          <a:ln w="12700">
            <a:solidFill>
              <a:srgbClr val="30363D"/>
            </a:solidFill>
            <a:prstDash val="solid"/>
          </a:ln>
        </p:spPr>
      </p:sp>
      <p:sp>
        <p:nvSpPr>
          <p:cNvPr id="6" name="Shape 4"/>
          <p:cNvSpPr/>
          <p:nvPr/>
        </p:nvSpPr>
        <p:spPr>
          <a:xfrm>
            <a:off x="365760" y="1143000"/>
            <a:ext cx="2651760" cy="3566160"/>
          </a:xfrm>
          <a:prstGeom prst="rect">
            <a:avLst/>
          </a:prstGeom>
          <a:solidFill>
            <a:srgbClr val="161B22"/>
          </a:solidFill>
          <a:ln w="12700">
            <a:solidFill>
              <a:srgbClr val="007ACC"/>
            </a:solidFill>
            <a:prstDash val="solid"/>
          </a:ln>
        </p:spPr>
      </p:sp>
      <p:sp>
        <p:nvSpPr>
          <p:cNvPr id="7" name="Shape 5"/>
          <p:cNvSpPr/>
          <p:nvPr/>
        </p:nvSpPr>
        <p:spPr>
          <a:xfrm>
            <a:off x="365760" y="1143000"/>
            <a:ext cx="45720" cy="3566160"/>
          </a:xfrm>
          <a:prstGeom prst="rect">
            <a:avLst/>
          </a:prstGeom>
          <a:solidFill>
            <a:srgbClr val="007ACC"/>
          </a:solidFill>
          <a:ln w="12700">
            <a:solidFill>
              <a:srgbClr val="007ACC"/>
            </a:solidFill>
            <a:prstDash val="solid"/>
          </a:ln>
        </p:spPr>
      </p:sp>
      <p:sp>
        <p:nvSpPr>
          <p:cNvPr id="8" name="Text 6"/>
          <p:cNvSpPr/>
          <p:nvPr/>
        </p:nvSpPr>
        <p:spPr>
          <a:xfrm>
            <a:off x="502920" y="1207008"/>
            <a:ext cx="2423160" cy="347472"/>
          </a:xfrm>
          <a:prstGeom prst="rect">
            <a:avLst/>
          </a:prstGeom>
          <a:noFill/>
          <a:ln/>
        </p:spPr>
        <p:txBody>
          <a:bodyPr wrap="square" rtlCol="0" anchor="ctr"/>
          <a:lstStyle/>
          <a:p>
            <a:pPr marL="0" indent="0">
              <a:buNone/>
            </a:pPr>
            <a:r>
              <a:rPr lang="en-US" sz="1300" b="1" dirty="0">
                <a:solidFill>
                  <a:srgbClr val="007ACC"/>
                </a:solidFill>
                <a:latin typeface="Calibri" pitchFamily="34" charset="0"/>
                <a:ea typeface="Calibri" pitchFamily="34" charset="-122"/>
                <a:cs typeface="Calibri" pitchFamily="34" charset="-120"/>
              </a:rPr>
              <a:t>Chat Mode</a:t>
            </a:r>
            <a:endParaRPr lang="en-US" sz="1300" dirty="0"/>
          </a:p>
        </p:txBody>
      </p:sp>
      <p:sp>
        <p:nvSpPr>
          <p:cNvPr id="9" name="Text 7"/>
          <p:cNvSpPr/>
          <p:nvPr/>
        </p:nvSpPr>
        <p:spPr>
          <a:xfrm>
            <a:off x="502920" y="1536192"/>
            <a:ext cx="2423160" cy="228600"/>
          </a:xfrm>
          <a:prstGeom prst="rect">
            <a:avLst/>
          </a:prstGeom>
          <a:noFill/>
          <a:ln/>
        </p:spPr>
        <p:txBody>
          <a:bodyPr wrap="square" rtlCol="0" anchor="ctr"/>
          <a:lstStyle/>
          <a:p>
            <a:pPr marL="0" indent="0">
              <a:buNone/>
            </a:pPr>
            <a:r>
              <a:rPr lang="en-US" sz="900" dirty="0">
                <a:solidFill>
                  <a:srgbClr val="8B949E"/>
                </a:solidFill>
                <a:latin typeface="Consolas" pitchFamily="34" charset="0"/>
                <a:ea typeface="Consolas" pitchFamily="34" charset="-122"/>
                <a:cs typeface="Consolas" pitchFamily="34" charset="-120"/>
              </a:rPr>
              <a:t>Question &amp; Answer</a:t>
            </a:r>
            <a:endParaRPr lang="en-US" sz="900" dirty="0"/>
          </a:p>
        </p:txBody>
      </p:sp>
      <p:sp>
        <p:nvSpPr>
          <p:cNvPr id="10" name="Shape 8"/>
          <p:cNvSpPr/>
          <p:nvPr/>
        </p:nvSpPr>
        <p:spPr>
          <a:xfrm>
            <a:off x="502920" y="1764792"/>
            <a:ext cx="2377440" cy="9144"/>
          </a:xfrm>
          <a:prstGeom prst="rect">
            <a:avLst/>
          </a:prstGeom>
          <a:solidFill>
            <a:srgbClr val="30363D"/>
          </a:solidFill>
          <a:ln w="12700">
            <a:solidFill>
              <a:srgbClr val="30363D"/>
            </a:solidFill>
            <a:prstDash val="solid"/>
          </a:ln>
        </p:spPr>
      </p:sp>
      <p:sp>
        <p:nvSpPr>
          <p:cNvPr id="11" name="Text 9"/>
          <p:cNvSpPr/>
          <p:nvPr/>
        </p:nvSpPr>
        <p:spPr>
          <a:xfrm>
            <a:off x="502920" y="1828800"/>
            <a:ext cx="2423160" cy="438912"/>
          </a:xfrm>
          <a:prstGeom prst="rect">
            <a:avLst/>
          </a:prstGeom>
          <a:noFill/>
          <a:ln/>
        </p:spPr>
        <p:txBody>
          <a:bodyPr wrap="square" rtlCol="0" anchor="ctr"/>
          <a:lstStyle/>
          <a:p>
            <a:pPr marL="0" indent="0">
              <a:buNone/>
            </a:pPr>
            <a:r>
              <a:rPr lang="en-US" sz="1100" b="1" dirty="0">
                <a:solidFill>
                  <a:srgbClr val="007ACC"/>
                </a:solidFill>
                <a:latin typeface="Calibri" pitchFamily="34" charset="0"/>
                <a:ea typeface="Calibri" pitchFamily="34" charset="-122"/>
                <a:cs typeface="Calibri" pitchFamily="34" charset="-120"/>
              </a:rPr>
              <a:t>▸ </a:t>
            </a:r>
            <a:r>
              <a:rPr lang="en-US" sz="1100" dirty="0">
                <a:solidFill>
                  <a:srgbClr val="E6EDF3"/>
                </a:solidFill>
                <a:latin typeface="Calibri" pitchFamily="34" charset="0"/>
                <a:ea typeface="Calibri" pitchFamily="34" charset="-122"/>
                <a:cs typeface="Calibri" pitchFamily="34" charset="-120"/>
              </a:rPr>
              <a:t>Ask questions about code</a:t>
            </a:r>
            <a:endParaRPr lang="en-US" sz="1100" dirty="0"/>
          </a:p>
        </p:txBody>
      </p:sp>
      <p:sp>
        <p:nvSpPr>
          <p:cNvPr id="12" name="Text 10"/>
          <p:cNvSpPr/>
          <p:nvPr/>
        </p:nvSpPr>
        <p:spPr>
          <a:xfrm>
            <a:off x="502920" y="2322576"/>
            <a:ext cx="2423160" cy="438912"/>
          </a:xfrm>
          <a:prstGeom prst="rect">
            <a:avLst/>
          </a:prstGeom>
          <a:noFill/>
          <a:ln/>
        </p:spPr>
        <p:txBody>
          <a:bodyPr wrap="square" rtlCol="0" anchor="ctr"/>
          <a:lstStyle/>
          <a:p>
            <a:pPr marL="0" indent="0">
              <a:buNone/>
            </a:pPr>
            <a:r>
              <a:rPr lang="en-US" sz="1100" b="1" dirty="0">
                <a:solidFill>
                  <a:srgbClr val="007ACC"/>
                </a:solidFill>
                <a:latin typeface="Calibri" pitchFamily="34" charset="0"/>
                <a:ea typeface="Calibri" pitchFamily="34" charset="-122"/>
                <a:cs typeface="Calibri" pitchFamily="34" charset="-120"/>
              </a:rPr>
              <a:t>▸ </a:t>
            </a:r>
            <a:r>
              <a:rPr lang="en-US" sz="1100" dirty="0">
                <a:solidFill>
                  <a:srgbClr val="E6EDF3"/>
                </a:solidFill>
                <a:latin typeface="Calibri" pitchFamily="34" charset="0"/>
                <a:ea typeface="Calibri" pitchFamily="34" charset="-122"/>
                <a:cs typeface="Calibri" pitchFamily="34" charset="-120"/>
              </a:rPr>
              <a:t>Explain &amp; document</a:t>
            </a:r>
            <a:endParaRPr lang="en-US" sz="1100" dirty="0"/>
          </a:p>
        </p:txBody>
      </p:sp>
      <p:sp>
        <p:nvSpPr>
          <p:cNvPr id="13" name="Text 11"/>
          <p:cNvSpPr/>
          <p:nvPr/>
        </p:nvSpPr>
        <p:spPr>
          <a:xfrm>
            <a:off x="502920" y="2816352"/>
            <a:ext cx="2423160" cy="438912"/>
          </a:xfrm>
          <a:prstGeom prst="rect">
            <a:avLst/>
          </a:prstGeom>
          <a:noFill/>
          <a:ln/>
        </p:spPr>
        <p:txBody>
          <a:bodyPr wrap="square" rtlCol="0" anchor="ctr"/>
          <a:lstStyle/>
          <a:p>
            <a:pPr marL="0" indent="0">
              <a:buNone/>
            </a:pPr>
            <a:r>
              <a:rPr lang="en-US" sz="1100" b="1" dirty="0">
                <a:solidFill>
                  <a:srgbClr val="007ACC"/>
                </a:solidFill>
                <a:latin typeface="Calibri" pitchFamily="34" charset="0"/>
                <a:ea typeface="Calibri" pitchFamily="34" charset="-122"/>
                <a:cs typeface="Calibri" pitchFamily="34" charset="-120"/>
              </a:rPr>
              <a:t>▸ </a:t>
            </a:r>
            <a:r>
              <a:rPr lang="en-US" sz="1100" dirty="0">
                <a:solidFill>
                  <a:srgbClr val="E6EDF3"/>
                </a:solidFill>
                <a:latin typeface="Calibri" pitchFamily="34" charset="0"/>
                <a:ea typeface="Calibri" pitchFamily="34" charset="-122"/>
                <a:cs typeface="Calibri" pitchFamily="34" charset="-120"/>
              </a:rPr>
              <a:t>Quick inline completions</a:t>
            </a:r>
            <a:endParaRPr lang="en-US" sz="1100" dirty="0"/>
          </a:p>
        </p:txBody>
      </p:sp>
      <p:sp>
        <p:nvSpPr>
          <p:cNvPr id="14" name="Text 12"/>
          <p:cNvSpPr/>
          <p:nvPr/>
        </p:nvSpPr>
        <p:spPr>
          <a:xfrm>
            <a:off x="502920" y="3310128"/>
            <a:ext cx="2423160" cy="438912"/>
          </a:xfrm>
          <a:prstGeom prst="rect">
            <a:avLst/>
          </a:prstGeom>
          <a:noFill/>
          <a:ln/>
        </p:spPr>
        <p:txBody>
          <a:bodyPr wrap="square" rtlCol="0" anchor="ctr"/>
          <a:lstStyle/>
          <a:p>
            <a:pPr marL="0" indent="0">
              <a:buNone/>
            </a:pPr>
            <a:r>
              <a:rPr lang="en-US" sz="1100" b="1" dirty="0">
                <a:solidFill>
                  <a:srgbClr val="007ACC"/>
                </a:solidFill>
                <a:latin typeface="Calibri" pitchFamily="34" charset="0"/>
                <a:ea typeface="Calibri" pitchFamily="34" charset="-122"/>
                <a:cs typeface="Calibri" pitchFamily="34" charset="-120"/>
              </a:rPr>
              <a:t>▸ </a:t>
            </a:r>
            <a:r>
              <a:rPr lang="en-US" sz="1100" dirty="0">
                <a:solidFill>
                  <a:srgbClr val="E6EDF3"/>
                </a:solidFill>
                <a:latin typeface="Calibri" pitchFamily="34" charset="0"/>
                <a:ea typeface="Calibri" pitchFamily="34" charset="-122"/>
                <a:cs typeface="Calibri" pitchFamily="34" charset="-120"/>
              </a:rPr>
              <a:t>Refactor a single function</a:t>
            </a:r>
            <a:endParaRPr lang="en-US" sz="1100" dirty="0"/>
          </a:p>
        </p:txBody>
      </p:sp>
      <p:sp>
        <p:nvSpPr>
          <p:cNvPr id="15" name="Text 13"/>
          <p:cNvSpPr/>
          <p:nvPr/>
        </p:nvSpPr>
        <p:spPr>
          <a:xfrm>
            <a:off x="502920" y="3803904"/>
            <a:ext cx="2423160" cy="438912"/>
          </a:xfrm>
          <a:prstGeom prst="rect">
            <a:avLst/>
          </a:prstGeom>
          <a:noFill/>
          <a:ln/>
        </p:spPr>
        <p:txBody>
          <a:bodyPr wrap="square" rtlCol="0" anchor="ctr"/>
          <a:lstStyle/>
          <a:p>
            <a:pPr marL="0" indent="0">
              <a:buNone/>
            </a:pPr>
            <a:r>
              <a:rPr lang="en-US" sz="1100" b="1" dirty="0">
                <a:solidFill>
                  <a:srgbClr val="007ACC"/>
                </a:solidFill>
                <a:latin typeface="Calibri" pitchFamily="34" charset="0"/>
                <a:ea typeface="Calibri" pitchFamily="34" charset="-122"/>
                <a:cs typeface="Calibri" pitchFamily="34" charset="-120"/>
              </a:rPr>
              <a:t>▸ </a:t>
            </a:r>
            <a:r>
              <a:rPr lang="en-US" sz="1100" dirty="0">
                <a:solidFill>
                  <a:srgbClr val="E6EDF3"/>
                </a:solidFill>
                <a:latin typeface="Calibri" pitchFamily="34" charset="0"/>
                <a:ea typeface="Calibri" pitchFamily="34" charset="-122"/>
                <a:cs typeface="Calibri" pitchFamily="34" charset="-120"/>
              </a:rPr>
              <a:t>Best for: focused, single-turn tasks</a:t>
            </a:r>
            <a:endParaRPr lang="en-US" sz="1100" dirty="0"/>
          </a:p>
        </p:txBody>
      </p:sp>
      <p:sp>
        <p:nvSpPr>
          <p:cNvPr id="16" name="Shape 14"/>
          <p:cNvSpPr/>
          <p:nvPr/>
        </p:nvSpPr>
        <p:spPr>
          <a:xfrm>
            <a:off x="3200400" y="1143000"/>
            <a:ext cx="2651760" cy="3566160"/>
          </a:xfrm>
          <a:prstGeom prst="rect">
            <a:avLst/>
          </a:prstGeom>
          <a:solidFill>
            <a:srgbClr val="161B22"/>
          </a:solidFill>
          <a:ln w="12700">
            <a:solidFill>
              <a:srgbClr val="3FB950"/>
            </a:solidFill>
            <a:prstDash val="solid"/>
          </a:ln>
        </p:spPr>
      </p:sp>
      <p:sp>
        <p:nvSpPr>
          <p:cNvPr id="17" name="Shape 15"/>
          <p:cNvSpPr/>
          <p:nvPr/>
        </p:nvSpPr>
        <p:spPr>
          <a:xfrm>
            <a:off x="3200400" y="1143000"/>
            <a:ext cx="45720" cy="3566160"/>
          </a:xfrm>
          <a:prstGeom prst="rect">
            <a:avLst/>
          </a:prstGeom>
          <a:solidFill>
            <a:srgbClr val="3FB950"/>
          </a:solidFill>
          <a:ln w="12700">
            <a:solidFill>
              <a:srgbClr val="3FB950"/>
            </a:solidFill>
            <a:prstDash val="solid"/>
          </a:ln>
        </p:spPr>
      </p:sp>
      <p:sp>
        <p:nvSpPr>
          <p:cNvPr id="18" name="Text 16"/>
          <p:cNvSpPr/>
          <p:nvPr/>
        </p:nvSpPr>
        <p:spPr>
          <a:xfrm>
            <a:off x="3337560" y="1207008"/>
            <a:ext cx="2423160" cy="347472"/>
          </a:xfrm>
          <a:prstGeom prst="rect">
            <a:avLst/>
          </a:prstGeom>
          <a:noFill/>
          <a:ln/>
        </p:spPr>
        <p:txBody>
          <a:bodyPr wrap="square" rtlCol="0" anchor="ctr"/>
          <a:lstStyle/>
          <a:p>
            <a:pPr marL="0" indent="0">
              <a:buNone/>
            </a:pPr>
            <a:r>
              <a:rPr lang="en-US" sz="1300" b="1" dirty="0">
                <a:solidFill>
                  <a:srgbClr val="3FB950"/>
                </a:solidFill>
                <a:latin typeface="Calibri" pitchFamily="34" charset="0"/>
                <a:ea typeface="Calibri" pitchFamily="34" charset="-122"/>
                <a:cs typeface="Calibri" pitchFamily="34" charset="-120"/>
              </a:rPr>
              <a:t>Agent Mode</a:t>
            </a:r>
            <a:endParaRPr lang="en-US" sz="1300" dirty="0"/>
          </a:p>
        </p:txBody>
      </p:sp>
      <p:sp>
        <p:nvSpPr>
          <p:cNvPr id="19" name="Text 17"/>
          <p:cNvSpPr/>
          <p:nvPr/>
        </p:nvSpPr>
        <p:spPr>
          <a:xfrm>
            <a:off x="3337560" y="1536192"/>
            <a:ext cx="2423160" cy="228600"/>
          </a:xfrm>
          <a:prstGeom prst="rect">
            <a:avLst/>
          </a:prstGeom>
          <a:noFill/>
          <a:ln/>
        </p:spPr>
        <p:txBody>
          <a:bodyPr wrap="square" rtlCol="0" anchor="ctr"/>
          <a:lstStyle/>
          <a:p>
            <a:pPr marL="0" indent="0">
              <a:buNone/>
            </a:pPr>
            <a:r>
              <a:rPr lang="en-US" sz="900" dirty="0">
                <a:solidFill>
                  <a:srgbClr val="8B949E"/>
                </a:solidFill>
                <a:latin typeface="Consolas" pitchFamily="34" charset="0"/>
                <a:ea typeface="Consolas" pitchFamily="34" charset="-122"/>
                <a:cs typeface="Consolas" pitchFamily="34" charset="-120"/>
              </a:rPr>
              <a:t>Multi-step autonomous</a:t>
            </a:r>
            <a:endParaRPr lang="en-US" sz="900" dirty="0"/>
          </a:p>
        </p:txBody>
      </p:sp>
      <p:sp>
        <p:nvSpPr>
          <p:cNvPr id="20" name="Shape 18"/>
          <p:cNvSpPr/>
          <p:nvPr/>
        </p:nvSpPr>
        <p:spPr>
          <a:xfrm>
            <a:off x="3337560" y="1764792"/>
            <a:ext cx="2377440" cy="9144"/>
          </a:xfrm>
          <a:prstGeom prst="rect">
            <a:avLst/>
          </a:prstGeom>
          <a:solidFill>
            <a:srgbClr val="30363D"/>
          </a:solidFill>
          <a:ln w="12700">
            <a:solidFill>
              <a:srgbClr val="30363D"/>
            </a:solidFill>
            <a:prstDash val="solid"/>
          </a:ln>
        </p:spPr>
      </p:sp>
      <p:sp>
        <p:nvSpPr>
          <p:cNvPr id="21" name="Text 19"/>
          <p:cNvSpPr/>
          <p:nvPr/>
        </p:nvSpPr>
        <p:spPr>
          <a:xfrm>
            <a:off x="3337560" y="1828800"/>
            <a:ext cx="2423160" cy="438912"/>
          </a:xfrm>
          <a:prstGeom prst="rect">
            <a:avLst/>
          </a:prstGeom>
          <a:noFill/>
          <a:ln/>
        </p:spPr>
        <p:txBody>
          <a:bodyPr wrap="square" rtlCol="0" anchor="ctr"/>
          <a:lstStyle/>
          <a:p>
            <a:pPr marL="0" indent="0">
              <a:buNone/>
            </a:pPr>
            <a:r>
              <a:rPr lang="en-US" sz="1100" b="1" dirty="0">
                <a:solidFill>
                  <a:srgbClr val="3FB950"/>
                </a:solidFill>
                <a:latin typeface="Calibri" pitchFamily="34" charset="0"/>
                <a:ea typeface="Calibri" pitchFamily="34" charset="-122"/>
                <a:cs typeface="Calibri" pitchFamily="34" charset="-120"/>
              </a:rPr>
              <a:t>▸ </a:t>
            </a:r>
            <a:r>
              <a:rPr lang="en-US" sz="1100" dirty="0">
                <a:solidFill>
                  <a:srgbClr val="E6EDF3"/>
                </a:solidFill>
                <a:latin typeface="Calibri" pitchFamily="34" charset="0"/>
                <a:ea typeface="Calibri" pitchFamily="34" charset="-122"/>
                <a:cs typeface="Calibri" pitchFamily="34" charset="-120"/>
              </a:rPr>
              <a:t>Edit multiple files at once</a:t>
            </a:r>
            <a:endParaRPr lang="en-US" sz="1100" dirty="0"/>
          </a:p>
        </p:txBody>
      </p:sp>
      <p:sp>
        <p:nvSpPr>
          <p:cNvPr id="22" name="Text 20"/>
          <p:cNvSpPr/>
          <p:nvPr/>
        </p:nvSpPr>
        <p:spPr>
          <a:xfrm>
            <a:off x="3337560" y="2322576"/>
            <a:ext cx="2423160" cy="438912"/>
          </a:xfrm>
          <a:prstGeom prst="rect">
            <a:avLst/>
          </a:prstGeom>
          <a:noFill/>
          <a:ln/>
        </p:spPr>
        <p:txBody>
          <a:bodyPr wrap="square" rtlCol="0" anchor="ctr"/>
          <a:lstStyle/>
          <a:p>
            <a:pPr marL="0" indent="0">
              <a:buNone/>
            </a:pPr>
            <a:r>
              <a:rPr lang="en-US" sz="1100" b="1" dirty="0">
                <a:solidFill>
                  <a:srgbClr val="3FB950"/>
                </a:solidFill>
                <a:latin typeface="Calibri" pitchFamily="34" charset="0"/>
                <a:ea typeface="Calibri" pitchFamily="34" charset="-122"/>
                <a:cs typeface="Calibri" pitchFamily="34" charset="-120"/>
              </a:rPr>
              <a:t>▸ </a:t>
            </a:r>
            <a:r>
              <a:rPr lang="en-US" sz="1100" dirty="0">
                <a:solidFill>
                  <a:srgbClr val="E6EDF3"/>
                </a:solidFill>
                <a:latin typeface="Calibri" pitchFamily="34" charset="0"/>
                <a:ea typeface="Calibri" pitchFamily="34" charset="-122"/>
                <a:cs typeface="Calibri" pitchFamily="34" charset="-120"/>
              </a:rPr>
              <a:t>Run terminal commands</a:t>
            </a:r>
            <a:endParaRPr lang="en-US" sz="1100" dirty="0"/>
          </a:p>
        </p:txBody>
      </p:sp>
      <p:sp>
        <p:nvSpPr>
          <p:cNvPr id="23" name="Text 21"/>
          <p:cNvSpPr/>
          <p:nvPr/>
        </p:nvSpPr>
        <p:spPr>
          <a:xfrm>
            <a:off x="3337560" y="2816352"/>
            <a:ext cx="2423160" cy="438912"/>
          </a:xfrm>
          <a:prstGeom prst="rect">
            <a:avLst/>
          </a:prstGeom>
          <a:noFill/>
          <a:ln/>
        </p:spPr>
        <p:txBody>
          <a:bodyPr wrap="square" rtlCol="0" anchor="ctr"/>
          <a:lstStyle/>
          <a:p>
            <a:pPr marL="0" indent="0">
              <a:buNone/>
            </a:pPr>
            <a:r>
              <a:rPr lang="en-US" sz="1100" b="1" dirty="0">
                <a:solidFill>
                  <a:srgbClr val="3FB950"/>
                </a:solidFill>
                <a:latin typeface="Calibri" pitchFamily="34" charset="0"/>
                <a:ea typeface="Calibri" pitchFamily="34" charset="-122"/>
                <a:cs typeface="Calibri" pitchFamily="34" charset="-120"/>
              </a:rPr>
              <a:t>▸ </a:t>
            </a:r>
            <a:r>
              <a:rPr lang="en-US" sz="1100" dirty="0">
                <a:solidFill>
                  <a:srgbClr val="E6EDF3"/>
                </a:solidFill>
                <a:latin typeface="Calibri" pitchFamily="34" charset="0"/>
                <a:ea typeface="Calibri" pitchFamily="34" charset="-122"/>
                <a:cs typeface="Calibri" pitchFamily="34" charset="-120"/>
              </a:rPr>
              <a:t>Iterate &amp; self-correct</a:t>
            </a:r>
            <a:endParaRPr lang="en-US" sz="1100" dirty="0"/>
          </a:p>
        </p:txBody>
      </p:sp>
      <p:sp>
        <p:nvSpPr>
          <p:cNvPr id="24" name="Text 22"/>
          <p:cNvSpPr/>
          <p:nvPr/>
        </p:nvSpPr>
        <p:spPr>
          <a:xfrm>
            <a:off x="3337560" y="3310128"/>
            <a:ext cx="2423160" cy="438912"/>
          </a:xfrm>
          <a:prstGeom prst="rect">
            <a:avLst/>
          </a:prstGeom>
          <a:noFill/>
          <a:ln/>
        </p:spPr>
        <p:txBody>
          <a:bodyPr wrap="square" rtlCol="0" anchor="ctr"/>
          <a:lstStyle/>
          <a:p>
            <a:pPr marL="0" indent="0">
              <a:buNone/>
            </a:pPr>
            <a:r>
              <a:rPr lang="en-US" sz="1100" b="1" dirty="0">
                <a:solidFill>
                  <a:srgbClr val="3FB950"/>
                </a:solidFill>
                <a:latin typeface="Calibri" pitchFamily="34" charset="0"/>
                <a:ea typeface="Calibri" pitchFamily="34" charset="-122"/>
                <a:cs typeface="Calibri" pitchFamily="34" charset="-120"/>
              </a:rPr>
              <a:t>▸ </a:t>
            </a:r>
            <a:r>
              <a:rPr lang="en-US" sz="1100" dirty="0">
                <a:solidFill>
                  <a:srgbClr val="E6EDF3"/>
                </a:solidFill>
                <a:latin typeface="Calibri" pitchFamily="34" charset="0"/>
                <a:ea typeface="Calibri" pitchFamily="34" charset="-122"/>
                <a:cs typeface="Calibri" pitchFamily="34" charset="-120"/>
              </a:rPr>
              <a:t>Implement a full feature</a:t>
            </a:r>
            <a:endParaRPr lang="en-US" sz="1100" dirty="0"/>
          </a:p>
        </p:txBody>
      </p:sp>
      <p:sp>
        <p:nvSpPr>
          <p:cNvPr id="25" name="Text 23"/>
          <p:cNvSpPr/>
          <p:nvPr/>
        </p:nvSpPr>
        <p:spPr>
          <a:xfrm>
            <a:off x="3337560" y="3803904"/>
            <a:ext cx="2423160" cy="438912"/>
          </a:xfrm>
          <a:prstGeom prst="rect">
            <a:avLst/>
          </a:prstGeom>
          <a:noFill/>
          <a:ln/>
        </p:spPr>
        <p:txBody>
          <a:bodyPr wrap="square" rtlCol="0" anchor="ctr"/>
          <a:lstStyle/>
          <a:p>
            <a:pPr marL="0" indent="0">
              <a:buNone/>
            </a:pPr>
            <a:r>
              <a:rPr lang="en-US" sz="1100" b="1" dirty="0">
                <a:solidFill>
                  <a:srgbClr val="3FB950"/>
                </a:solidFill>
                <a:latin typeface="Calibri" pitchFamily="34" charset="0"/>
                <a:ea typeface="Calibri" pitchFamily="34" charset="-122"/>
                <a:cs typeface="Calibri" pitchFamily="34" charset="-120"/>
              </a:rPr>
              <a:t>▸ </a:t>
            </a:r>
            <a:r>
              <a:rPr lang="en-US" sz="1100" dirty="0">
                <a:solidFill>
                  <a:srgbClr val="E6EDF3"/>
                </a:solidFill>
                <a:latin typeface="Calibri" pitchFamily="34" charset="0"/>
                <a:ea typeface="Calibri" pitchFamily="34" charset="-122"/>
                <a:cs typeface="Calibri" pitchFamily="34" charset="-120"/>
              </a:rPr>
              <a:t>Best for: end-to-end tasks</a:t>
            </a:r>
            <a:endParaRPr lang="en-US" sz="1100" dirty="0"/>
          </a:p>
        </p:txBody>
      </p:sp>
      <p:sp>
        <p:nvSpPr>
          <p:cNvPr id="26" name="Shape 24"/>
          <p:cNvSpPr/>
          <p:nvPr/>
        </p:nvSpPr>
        <p:spPr>
          <a:xfrm>
            <a:off x="6035040" y="1143000"/>
            <a:ext cx="2651760" cy="3566160"/>
          </a:xfrm>
          <a:prstGeom prst="rect">
            <a:avLst/>
          </a:prstGeom>
          <a:solidFill>
            <a:srgbClr val="161B22"/>
          </a:solidFill>
          <a:ln w="12700">
            <a:solidFill>
              <a:srgbClr val="BC8CFF"/>
            </a:solidFill>
            <a:prstDash val="solid"/>
          </a:ln>
        </p:spPr>
      </p:sp>
      <p:sp>
        <p:nvSpPr>
          <p:cNvPr id="27" name="Shape 25"/>
          <p:cNvSpPr/>
          <p:nvPr/>
        </p:nvSpPr>
        <p:spPr>
          <a:xfrm>
            <a:off x="6035040" y="1143000"/>
            <a:ext cx="45720" cy="3566160"/>
          </a:xfrm>
          <a:prstGeom prst="rect">
            <a:avLst/>
          </a:prstGeom>
          <a:solidFill>
            <a:srgbClr val="BC8CFF"/>
          </a:solidFill>
          <a:ln w="12700">
            <a:solidFill>
              <a:srgbClr val="BC8CFF"/>
            </a:solidFill>
            <a:prstDash val="solid"/>
          </a:ln>
        </p:spPr>
      </p:sp>
      <p:sp>
        <p:nvSpPr>
          <p:cNvPr id="28" name="Text 26"/>
          <p:cNvSpPr/>
          <p:nvPr/>
        </p:nvSpPr>
        <p:spPr>
          <a:xfrm>
            <a:off x="6172200" y="1207008"/>
            <a:ext cx="2423160" cy="347472"/>
          </a:xfrm>
          <a:prstGeom prst="rect">
            <a:avLst/>
          </a:prstGeom>
          <a:noFill/>
          <a:ln/>
        </p:spPr>
        <p:txBody>
          <a:bodyPr wrap="square" rtlCol="0" anchor="ctr"/>
          <a:lstStyle/>
          <a:p>
            <a:pPr marL="0" indent="0">
              <a:buNone/>
            </a:pPr>
            <a:r>
              <a:rPr lang="en-US" sz="1300" b="1" dirty="0">
                <a:solidFill>
                  <a:srgbClr val="BC8CFF"/>
                </a:solidFill>
                <a:latin typeface="Calibri" pitchFamily="34" charset="0"/>
                <a:ea typeface="Calibri" pitchFamily="34" charset="-122"/>
                <a:cs typeface="Calibri" pitchFamily="34" charset="-120"/>
              </a:rPr>
              <a:t>Agent + MCP</a:t>
            </a:r>
            <a:endParaRPr lang="en-US" sz="1300" dirty="0"/>
          </a:p>
        </p:txBody>
      </p:sp>
      <p:sp>
        <p:nvSpPr>
          <p:cNvPr id="29" name="Text 27"/>
          <p:cNvSpPr/>
          <p:nvPr/>
        </p:nvSpPr>
        <p:spPr>
          <a:xfrm>
            <a:off x="6172200" y="1536192"/>
            <a:ext cx="2423160" cy="228600"/>
          </a:xfrm>
          <a:prstGeom prst="rect">
            <a:avLst/>
          </a:prstGeom>
          <a:noFill/>
          <a:ln/>
        </p:spPr>
        <p:txBody>
          <a:bodyPr wrap="square" rtlCol="0" anchor="ctr"/>
          <a:lstStyle/>
          <a:p>
            <a:pPr marL="0" indent="0">
              <a:buNone/>
            </a:pPr>
            <a:r>
              <a:rPr lang="en-US" sz="900" dirty="0">
                <a:solidFill>
                  <a:srgbClr val="8B949E"/>
                </a:solidFill>
                <a:latin typeface="Consolas" pitchFamily="34" charset="0"/>
                <a:ea typeface="Consolas" pitchFamily="34" charset="-122"/>
                <a:cs typeface="Consolas" pitchFamily="34" charset="-120"/>
              </a:rPr>
              <a:t>Fully autonomous loop</a:t>
            </a:r>
            <a:endParaRPr lang="en-US" sz="900" dirty="0"/>
          </a:p>
        </p:txBody>
      </p:sp>
      <p:sp>
        <p:nvSpPr>
          <p:cNvPr id="30" name="Shape 28"/>
          <p:cNvSpPr/>
          <p:nvPr/>
        </p:nvSpPr>
        <p:spPr>
          <a:xfrm>
            <a:off x="6172200" y="1764792"/>
            <a:ext cx="2377440" cy="9144"/>
          </a:xfrm>
          <a:prstGeom prst="rect">
            <a:avLst/>
          </a:prstGeom>
          <a:solidFill>
            <a:srgbClr val="30363D"/>
          </a:solidFill>
          <a:ln w="12700">
            <a:solidFill>
              <a:srgbClr val="30363D"/>
            </a:solidFill>
            <a:prstDash val="solid"/>
          </a:ln>
        </p:spPr>
      </p:sp>
      <p:sp>
        <p:nvSpPr>
          <p:cNvPr id="31" name="Text 29"/>
          <p:cNvSpPr/>
          <p:nvPr/>
        </p:nvSpPr>
        <p:spPr>
          <a:xfrm>
            <a:off x="6172200" y="1828800"/>
            <a:ext cx="2423160" cy="438912"/>
          </a:xfrm>
          <a:prstGeom prst="rect">
            <a:avLst/>
          </a:prstGeom>
          <a:noFill/>
          <a:ln/>
        </p:spPr>
        <p:txBody>
          <a:bodyPr wrap="square" rtlCol="0" anchor="ctr"/>
          <a:lstStyle/>
          <a:p>
            <a:pPr marL="0" indent="0">
              <a:buNone/>
            </a:pPr>
            <a:r>
              <a:rPr lang="en-US" sz="1100" b="1" dirty="0">
                <a:solidFill>
                  <a:srgbClr val="BC8CFF"/>
                </a:solidFill>
                <a:latin typeface="Calibri" pitchFamily="34" charset="0"/>
                <a:ea typeface="Calibri" pitchFamily="34" charset="-122"/>
                <a:cs typeface="Calibri" pitchFamily="34" charset="-120"/>
              </a:rPr>
              <a:t>▸ </a:t>
            </a:r>
            <a:r>
              <a:rPr lang="en-US" sz="1100" dirty="0">
                <a:solidFill>
                  <a:srgbClr val="E6EDF3"/>
                </a:solidFill>
                <a:latin typeface="Calibri" pitchFamily="34" charset="0"/>
                <a:ea typeface="Calibri" pitchFamily="34" charset="-122"/>
                <a:cs typeface="Calibri" pitchFamily="34" charset="-120"/>
              </a:rPr>
              <a:t>Browser / screenshot validation</a:t>
            </a:r>
            <a:endParaRPr lang="en-US" sz="1100" dirty="0"/>
          </a:p>
        </p:txBody>
      </p:sp>
      <p:sp>
        <p:nvSpPr>
          <p:cNvPr id="32" name="Text 30"/>
          <p:cNvSpPr/>
          <p:nvPr/>
        </p:nvSpPr>
        <p:spPr>
          <a:xfrm>
            <a:off x="6172200" y="2322576"/>
            <a:ext cx="2423160" cy="438912"/>
          </a:xfrm>
          <a:prstGeom prst="rect">
            <a:avLst/>
          </a:prstGeom>
          <a:noFill/>
          <a:ln/>
        </p:spPr>
        <p:txBody>
          <a:bodyPr wrap="square" rtlCol="0" anchor="ctr"/>
          <a:lstStyle/>
          <a:p>
            <a:pPr marL="0" indent="0">
              <a:buNone/>
            </a:pPr>
            <a:r>
              <a:rPr lang="en-US" sz="1100" b="1" dirty="0">
                <a:solidFill>
                  <a:srgbClr val="BC8CFF"/>
                </a:solidFill>
                <a:latin typeface="Calibri" pitchFamily="34" charset="0"/>
                <a:ea typeface="Calibri" pitchFamily="34" charset="-122"/>
                <a:cs typeface="Calibri" pitchFamily="34" charset="-120"/>
              </a:rPr>
              <a:t>▸ </a:t>
            </a:r>
            <a:r>
              <a:rPr lang="en-US" sz="1100" dirty="0">
                <a:solidFill>
                  <a:srgbClr val="E6EDF3"/>
                </a:solidFill>
                <a:latin typeface="Calibri" pitchFamily="34" charset="0"/>
                <a:ea typeface="Calibri" pitchFamily="34" charset="-122"/>
                <a:cs typeface="Calibri" pitchFamily="34" charset="-120"/>
              </a:rPr>
              <a:t>Run &amp; read test output</a:t>
            </a:r>
            <a:endParaRPr lang="en-US" sz="1100" dirty="0"/>
          </a:p>
        </p:txBody>
      </p:sp>
      <p:sp>
        <p:nvSpPr>
          <p:cNvPr id="33" name="Text 31"/>
          <p:cNvSpPr/>
          <p:nvPr/>
        </p:nvSpPr>
        <p:spPr>
          <a:xfrm>
            <a:off x="6172200" y="2816352"/>
            <a:ext cx="2423160" cy="438912"/>
          </a:xfrm>
          <a:prstGeom prst="rect">
            <a:avLst/>
          </a:prstGeom>
          <a:noFill/>
          <a:ln/>
        </p:spPr>
        <p:txBody>
          <a:bodyPr wrap="square" rtlCol="0" anchor="ctr"/>
          <a:lstStyle/>
          <a:p>
            <a:pPr marL="0" indent="0">
              <a:buNone/>
            </a:pPr>
            <a:r>
              <a:rPr lang="en-US" sz="1100" b="1" dirty="0">
                <a:solidFill>
                  <a:srgbClr val="BC8CFF"/>
                </a:solidFill>
                <a:latin typeface="Calibri" pitchFamily="34" charset="0"/>
                <a:ea typeface="Calibri" pitchFamily="34" charset="-122"/>
                <a:cs typeface="Calibri" pitchFamily="34" charset="-120"/>
              </a:rPr>
              <a:t>▸ </a:t>
            </a:r>
            <a:r>
              <a:rPr lang="en-US" sz="1100" dirty="0">
                <a:solidFill>
                  <a:srgbClr val="E6EDF3"/>
                </a:solidFill>
                <a:latin typeface="Calibri" pitchFamily="34" charset="0"/>
                <a:ea typeface="Calibri" pitchFamily="34" charset="-122"/>
                <a:cs typeface="Calibri" pitchFamily="34" charset="-120"/>
              </a:rPr>
              <a:t>Compile &amp; lint in real time</a:t>
            </a:r>
            <a:endParaRPr lang="en-US" sz="1100" dirty="0"/>
          </a:p>
        </p:txBody>
      </p:sp>
      <p:sp>
        <p:nvSpPr>
          <p:cNvPr id="34" name="Text 32"/>
          <p:cNvSpPr/>
          <p:nvPr/>
        </p:nvSpPr>
        <p:spPr>
          <a:xfrm>
            <a:off x="6172200" y="3310128"/>
            <a:ext cx="2423160" cy="438912"/>
          </a:xfrm>
          <a:prstGeom prst="rect">
            <a:avLst/>
          </a:prstGeom>
          <a:noFill/>
          <a:ln/>
        </p:spPr>
        <p:txBody>
          <a:bodyPr wrap="square" rtlCol="0" anchor="ctr"/>
          <a:lstStyle/>
          <a:p>
            <a:pPr marL="0" indent="0">
              <a:buNone/>
            </a:pPr>
            <a:r>
              <a:rPr lang="en-US" sz="1100" b="1" dirty="0">
                <a:solidFill>
                  <a:srgbClr val="BC8CFF"/>
                </a:solidFill>
                <a:latin typeface="Calibri" pitchFamily="34" charset="0"/>
                <a:ea typeface="Calibri" pitchFamily="34" charset="-122"/>
                <a:cs typeface="Calibri" pitchFamily="34" charset="-120"/>
              </a:rPr>
              <a:t>▸ </a:t>
            </a:r>
            <a:r>
              <a:rPr lang="en-US" sz="1100" dirty="0">
                <a:solidFill>
                  <a:srgbClr val="E6EDF3"/>
                </a:solidFill>
                <a:latin typeface="Calibri" pitchFamily="34" charset="0"/>
                <a:ea typeface="Calibri" pitchFamily="34" charset="-122"/>
                <a:cs typeface="Calibri" pitchFamily="34" charset="-120"/>
              </a:rPr>
              <a:t>Raise a draft Pull Request</a:t>
            </a:r>
            <a:endParaRPr lang="en-US" sz="1100" dirty="0"/>
          </a:p>
        </p:txBody>
      </p:sp>
      <p:sp>
        <p:nvSpPr>
          <p:cNvPr id="35" name="Text 33"/>
          <p:cNvSpPr/>
          <p:nvPr/>
        </p:nvSpPr>
        <p:spPr>
          <a:xfrm>
            <a:off x="6172200" y="3803904"/>
            <a:ext cx="2423160" cy="438912"/>
          </a:xfrm>
          <a:prstGeom prst="rect">
            <a:avLst/>
          </a:prstGeom>
          <a:noFill/>
          <a:ln/>
        </p:spPr>
        <p:txBody>
          <a:bodyPr wrap="square" rtlCol="0" anchor="ctr"/>
          <a:lstStyle/>
          <a:p>
            <a:pPr marL="0" indent="0">
              <a:buNone/>
            </a:pPr>
            <a:r>
              <a:rPr lang="en-US" sz="1100" b="1" dirty="0">
                <a:solidFill>
                  <a:srgbClr val="BC8CFF"/>
                </a:solidFill>
                <a:latin typeface="Calibri" pitchFamily="34" charset="0"/>
                <a:ea typeface="Calibri" pitchFamily="34" charset="-122"/>
                <a:cs typeface="Calibri" pitchFamily="34" charset="-120"/>
              </a:rPr>
              <a:t>▸ </a:t>
            </a:r>
            <a:r>
              <a:rPr lang="en-US" sz="1100" dirty="0">
                <a:solidFill>
                  <a:srgbClr val="E6EDF3"/>
                </a:solidFill>
                <a:latin typeface="Calibri" pitchFamily="34" charset="0"/>
                <a:ea typeface="Calibri" pitchFamily="34" charset="-122"/>
                <a:cs typeface="Calibri" pitchFamily="34" charset="-120"/>
              </a:rPr>
              <a:t>Best for: zero-touch workflows</a:t>
            </a:r>
            <a:endParaRPr lang="en-US" sz="1100" dirty="0"/>
          </a:p>
        </p:txBody>
      </p:sp>
      <p:sp>
        <p:nvSpPr>
          <p:cNvPr id="36" name="Shape 34"/>
          <p:cNvSpPr/>
          <p:nvPr/>
        </p:nvSpPr>
        <p:spPr>
          <a:xfrm>
            <a:off x="0" y="4960620"/>
            <a:ext cx="9144000" cy="182880"/>
          </a:xfrm>
          <a:prstGeom prst="rect">
            <a:avLst/>
          </a:prstGeom>
          <a:solidFill>
            <a:srgbClr val="161B22"/>
          </a:solidFill>
          <a:ln w="12700">
            <a:solidFill>
              <a:srgbClr val="30363D"/>
            </a:solidFill>
            <a:prstDash val="solid"/>
          </a:ln>
        </p:spPr>
      </p:sp>
      <p:sp>
        <p:nvSpPr>
          <p:cNvPr id="37" name="Text 35"/>
          <p:cNvSpPr/>
          <p:nvPr/>
        </p:nvSpPr>
        <p:spPr>
          <a:xfrm>
            <a:off x="274320" y="4965192"/>
            <a:ext cx="8595360" cy="164592"/>
          </a:xfrm>
          <a:prstGeom prst="rect">
            <a:avLst/>
          </a:prstGeom>
          <a:noFill/>
          <a:ln/>
        </p:spPr>
        <p:txBody>
          <a:bodyPr wrap="square" rtlCol="0" anchor="ctr"/>
          <a:lstStyle/>
          <a:p>
            <a:pPr marL="0" indent="0" algn="l">
              <a:buNone/>
            </a:pPr>
            <a:r>
              <a:rPr lang="en-US" sz="800" dirty="0">
                <a:solidFill>
                  <a:srgbClr val="484F58"/>
                </a:solidFill>
                <a:latin typeface="Consolas" pitchFamily="34" charset="0"/>
                <a:ea typeface="Consolas" pitchFamily="34" charset="-122"/>
                <a:cs typeface="Consolas" pitchFamily="34" charset="-120"/>
              </a:rPr>
              <a:t>💡 Most developers start in Chat Mode. The real productivity unlock is Agent Mode + MCP — where Copilot can see, run, and fix its own output.</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007ACC"/>
          </a:solidFill>
          <a:ln w="12700">
            <a:solidFill>
              <a:srgbClr val="007ACC"/>
            </a:solidFill>
            <a:prstDash val="solid"/>
          </a:ln>
        </p:spPr>
      </p:sp>
      <p:sp>
        <p:nvSpPr>
          <p:cNvPr id="3" name="Text 1"/>
          <p:cNvSpPr/>
          <p:nvPr/>
        </p:nvSpPr>
        <p:spPr>
          <a:xfrm>
            <a:off x="457200" y="182880"/>
            <a:ext cx="8229600" cy="502920"/>
          </a:xfrm>
          <a:prstGeom prst="rect">
            <a:avLst/>
          </a:prstGeom>
          <a:noFill/>
          <a:ln/>
        </p:spPr>
        <p:txBody>
          <a:bodyPr wrap="square" lIns="0" tIns="0" rIns="0" bIns="0" rtlCol="0" anchor="ctr"/>
          <a:lstStyle/>
          <a:p>
            <a:pPr marL="0" indent="0">
              <a:buNone/>
            </a:pPr>
            <a:r>
              <a:rPr lang="en-US" sz="2200" b="1" dirty="0">
                <a:solidFill>
                  <a:srgbClr val="E6EDF3"/>
                </a:solidFill>
                <a:latin typeface="Calibri" pitchFamily="34" charset="0"/>
                <a:ea typeface="Calibri" pitchFamily="34" charset="-122"/>
                <a:cs typeface="Calibri" pitchFamily="34" charset="-120"/>
              </a:rPr>
              <a:t>Assigning the Right Cognitive Engine</a:t>
            </a:r>
            <a:endParaRPr lang="en-US" sz="2200" dirty="0"/>
          </a:p>
        </p:txBody>
      </p:sp>
      <p:sp>
        <p:nvSpPr>
          <p:cNvPr id="4" name="Text 2"/>
          <p:cNvSpPr/>
          <p:nvPr/>
        </p:nvSpPr>
        <p:spPr>
          <a:xfrm>
            <a:off x="457200" y="685800"/>
            <a:ext cx="8229600" cy="320040"/>
          </a:xfrm>
          <a:prstGeom prst="rect">
            <a:avLst/>
          </a:prstGeom>
          <a:noFill/>
          <a:ln/>
        </p:spPr>
        <p:txBody>
          <a:bodyPr wrap="square" lIns="0" tIns="0" rIns="0" bIns="0" rtlCol="0" anchor="ctr"/>
          <a:lstStyle/>
          <a:p>
            <a:pPr marL="0" indent="0">
              <a:buNone/>
            </a:pPr>
            <a:r>
              <a:rPr lang="en-US" sz="1200" dirty="0">
                <a:solidFill>
                  <a:srgbClr val="8B949E"/>
                </a:solidFill>
                <a:latin typeface="Calibri" pitchFamily="34" charset="0"/>
                <a:ea typeface="Calibri" pitchFamily="34" charset="-122"/>
                <a:cs typeface="Calibri" pitchFamily="34" charset="-120"/>
              </a:rPr>
              <a:t>Model-task matching improves speed and output quality</a:t>
            </a:r>
            <a:endParaRPr lang="en-US" sz="1200" dirty="0"/>
          </a:p>
        </p:txBody>
      </p:sp>
      <p:sp>
        <p:nvSpPr>
          <p:cNvPr id="5" name="Shape 3"/>
          <p:cNvSpPr/>
          <p:nvPr/>
        </p:nvSpPr>
        <p:spPr>
          <a:xfrm>
            <a:off x="457200" y="1005840"/>
            <a:ext cx="8229600" cy="9144"/>
          </a:xfrm>
          <a:prstGeom prst="rect">
            <a:avLst/>
          </a:prstGeom>
          <a:solidFill>
            <a:srgbClr val="30363D"/>
          </a:solidFill>
          <a:ln w="12700">
            <a:solidFill>
              <a:srgbClr val="30363D"/>
            </a:solidFill>
            <a:prstDash val="solid"/>
          </a:ln>
        </p:spPr>
      </p:sp>
      <p:sp>
        <p:nvSpPr>
          <p:cNvPr id="6" name="Shape 4"/>
          <p:cNvSpPr/>
          <p:nvPr/>
        </p:nvSpPr>
        <p:spPr>
          <a:xfrm>
            <a:off x="365760" y="1188720"/>
            <a:ext cx="2651760" cy="2286000"/>
          </a:xfrm>
          <a:prstGeom prst="rect">
            <a:avLst/>
          </a:prstGeom>
          <a:solidFill>
            <a:srgbClr val="161B22"/>
          </a:solidFill>
          <a:ln w="12700">
            <a:solidFill>
              <a:srgbClr val="3FB950"/>
            </a:solidFill>
            <a:prstDash val="solid"/>
          </a:ln>
        </p:spPr>
      </p:sp>
      <p:sp>
        <p:nvSpPr>
          <p:cNvPr id="7" name="Shape 5"/>
          <p:cNvSpPr/>
          <p:nvPr/>
        </p:nvSpPr>
        <p:spPr>
          <a:xfrm>
            <a:off x="365760" y="1188720"/>
            <a:ext cx="45720" cy="2286000"/>
          </a:xfrm>
          <a:prstGeom prst="rect">
            <a:avLst/>
          </a:prstGeom>
          <a:solidFill>
            <a:srgbClr val="3FB950"/>
          </a:solidFill>
          <a:ln w="12700">
            <a:solidFill>
              <a:srgbClr val="3FB950"/>
            </a:solidFill>
            <a:prstDash val="solid"/>
          </a:ln>
        </p:spPr>
      </p:sp>
      <p:sp>
        <p:nvSpPr>
          <p:cNvPr id="8" name="Text 6"/>
          <p:cNvSpPr/>
          <p:nvPr/>
        </p:nvSpPr>
        <p:spPr>
          <a:xfrm>
            <a:off x="502920" y="1280160"/>
            <a:ext cx="2377440" cy="365760"/>
          </a:xfrm>
          <a:prstGeom prst="rect">
            <a:avLst/>
          </a:prstGeom>
          <a:noFill/>
          <a:ln/>
        </p:spPr>
        <p:txBody>
          <a:bodyPr wrap="square" rtlCol="0" anchor="ctr"/>
          <a:lstStyle/>
          <a:p>
            <a:pPr marL="0" indent="0">
              <a:buNone/>
            </a:pPr>
            <a:r>
              <a:rPr lang="en-US" sz="1300" b="1" dirty="0">
                <a:solidFill>
                  <a:srgbClr val="3FB950"/>
                </a:solidFill>
                <a:latin typeface="Calibri" pitchFamily="34" charset="0"/>
                <a:ea typeface="Calibri" pitchFamily="34" charset="-122"/>
                <a:cs typeface="Calibri" pitchFamily="34" charset="-120"/>
              </a:rPr>
              <a:t>GPT-4.1 / Gemini 3 Flash</a:t>
            </a:r>
            <a:endParaRPr lang="en-US" sz="1300" dirty="0"/>
          </a:p>
        </p:txBody>
      </p:sp>
      <p:sp>
        <p:nvSpPr>
          <p:cNvPr id="9" name="Text 7"/>
          <p:cNvSpPr/>
          <p:nvPr/>
        </p:nvSpPr>
        <p:spPr>
          <a:xfrm>
            <a:off x="502920" y="1627632"/>
            <a:ext cx="2377440" cy="256032"/>
          </a:xfrm>
          <a:prstGeom prst="rect">
            <a:avLst/>
          </a:prstGeom>
          <a:noFill/>
          <a:ln/>
        </p:spPr>
        <p:txBody>
          <a:bodyPr wrap="square" rtlCol="0" anchor="ctr"/>
          <a:lstStyle/>
          <a:p>
            <a:pPr marL="0" indent="0">
              <a:buNone/>
            </a:pPr>
            <a:r>
              <a:rPr lang="en-US" sz="1000" dirty="0">
                <a:solidFill>
                  <a:srgbClr val="8B949E"/>
                </a:solidFill>
                <a:latin typeface="Consolas" pitchFamily="34" charset="0"/>
                <a:ea typeface="Consolas" pitchFamily="34" charset="-122"/>
                <a:cs typeface="Consolas" pitchFamily="34" charset="-120"/>
              </a:rPr>
              <a:t>Fast &amp; Visual</a:t>
            </a:r>
            <a:endParaRPr lang="en-US" sz="1000" dirty="0"/>
          </a:p>
        </p:txBody>
      </p:sp>
      <p:sp>
        <p:nvSpPr>
          <p:cNvPr id="10" name="Shape 8"/>
          <p:cNvSpPr/>
          <p:nvPr/>
        </p:nvSpPr>
        <p:spPr>
          <a:xfrm>
            <a:off x="502920" y="1892808"/>
            <a:ext cx="2377440" cy="9144"/>
          </a:xfrm>
          <a:prstGeom prst="rect">
            <a:avLst/>
          </a:prstGeom>
          <a:solidFill>
            <a:srgbClr val="30363D"/>
          </a:solidFill>
          <a:ln w="12700">
            <a:solidFill>
              <a:srgbClr val="30363D"/>
            </a:solidFill>
            <a:prstDash val="solid"/>
          </a:ln>
        </p:spPr>
      </p:sp>
      <p:sp>
        <p:nvSpPr>
          <p:cNvPr id="11" name="Text 9"/>
          <p:cNvSpPr/>
          <p:nvPr/>
        </p:nvSpPr>
        <p:spPr>
          <a:xfrm>
            <a:off x="502920" y="1965960"/>
            <a:ext cx="2377440" cy="1371600"/>
          </a:xfrm>
          <a:prstGeom prst="rect">
            <a:avLst/>
          </a:prstGeom>
          <a:noFill/>
          <a:ln/>
        </p:spPr>
        <p:txBody>
          <a:bodyPr wrap="square" rtlCol="0" anchor="ctr"/>
          <a:lstStyle/>
          <a:p>
            <a:pPr marL="0" indent="0">
              <a:buNone/>
            </a:pPr>
            <a:r>
              <a:rPr lang="en-US" sz="1100" dirty="0">
                <a:solidFill>
                  <a:srgbClr val="E6EDF3"/>
                </a:solidFill>
                <a:latin typeface="Calibri" pitchFamily="34" charset="0"/>
                <a:ea typeface="Calibri" pitchFamily="34" charset="-122"/>
                <a:cs typeface="Calibri" pitchFamily="34" charset="-120"/>
              </a:rPr>
              <a:t>Streaming completions, fast iteration, UI generation, rapid test drafting. High throughput, lower cost.</a:t>
            </a:r>
            <a:endParaRPr lang="en-US" sz="1100" dirty="0"/>
          </a:p>
        </p:txBody>
      </p:sp>
      <p:sp>
        <p:nvSpPr>
          <p:cNvPr id="12" name="Shape 10"/>
          <p:cNvSpPr/>
          <p:nvPr/>
        </p:nvSpPr>
        <p:spPr>
          <a:xfrm>
            <a:off x="3154680" y="1188720"/>
            <a:ext cx="2651760" cy="2286000"/>
          </a:xfrm>
          <a:prstGeom prst="rect">
            <a:avLst/>
          </a:prstGeom>
          <a:solidFill>
            <a:srgbClr val="161B22"/>
          </a:solidFill>
          <a:ln w="12700">
            <a:solidFill>
              <a:srgbClr val="007ACC"/>
            </a:solidFill>
            <a:prstDash val="solid"/>
          </a:ln>
        </p:spPr>
      </p:sp>
      <p:sp>
        <p:nvSpPr>
          <p:cNvPr id="13" name="Shape 11"/>
          <p:cNvSpPr/>
          <p:nvPr/>
        </p:nvSpPr>
        <p:spPr>
          <a:xfrm>
            <a:off x="3154680" y="1188720"/>
            <a:ext cx="45720" cy="2286000"/>
          </a:xfrm>
          <a:prstGeom prst="rect">
            <a:avLst/>
          </a:prstGeom>
          <a:solidFill>
            <a:srgbClr val="007ACC"/>
          </a:solidFill>
          <a:ln w="12700">
            <a:solidFill>
              <a:srgbClr val="007ACC"/>
            </a:solidFill>
            <a:prstDash val="solid"/>
          </a:ln>
        </p:spPr>
      </p:sp>
      <p:sp>
        <p:nvSpPr>
          <p:cNvPr id="14" name="Text 12"/>
          <p:cNvSpPr/>
          <p:nvPr/>
        </p:nvSpPr>
        <p:spPr>
          <a:xfrm>
            <a:off x="3291840" y="1280160"/>
            <a:ext cx="2377440" cy="365760"/>
          </a:xfrm>
          <a:prstGeom prst="rect">
            <a:avLst/>
          </a:prstGeom>
          <a:noFill/>
          <a:ln/>
        </p:spPr>
        <p:txBody>
          <a:bodyPr wrap="square" rtlCol="0" anchor="ctr"/>
          <a:lstStyle/>
          <a:p>
            <a:pPr marL="0" indent="0">
              <a:buNone/>
            </a:pPr>
            <a:r>
              <a:rPr lang="en-US" sz="1300" b="1" dirty="0">
                <a:solidFill>
                  <a:srgbClr val="007ACC"/>
                </a:solidFill>
                <a:latin typeface="Calibri" pitchFamily="34" charset="0"/>
                <a:ea typeface="Calibri" pitchFamily="34" charset="-122"/>
                <a:cs typeface="Calibri" pitchFamily="34" charset="-120"/>
              </a:rPr>
              <a:t>Claude Sonnet 4.6</a:t>
            </a:r>
            <a:endParaRPr lang="en-US" sz="1300" dirty="0"/>
          </a:p>
        </p:txBody>
      </p:sp>
      <p:sp>
        <p:nvSpPr>
          <p:cNvPr id="15" name="Text 13"/>
          <p:cNvSpPr/>
          <p:nvPr/>
        </p:nvSpPr>
        <p:spPr>
          <a:xfrm>
            <a:off x="3291840" y="1627632"/>
            <a:ext cx="2377440" cy="256032"/>
          </a:xfrm>
          <a:prstGeom prst="rect">
            <a:avLst/>
          </a:prstGeom>
          <a:noFill/>
          <a:ln/>
        </p:spPr>
        <p:txBody>
          <a:bodyPr wrap="square" rtlCol="0" anchor="ctr"/>
          <a:lstStyle/>
          <a:p>
            <a:pPr marL="0" indent="0">
              <a:buNone/>
            </a:pPr>
            <a:r>
              <a:rPr lang="en-US" sz="1000" dirty="0">
                <a:solidFill>
                  <a:srgbClr val="8B949E"/>
                </a:solidFill>
                <a:latin typeface="Consolas" pitchFamily="34" charset="0"/>
                <a:ea typeface="Consolas" pitchFamily="34" charset="-122"/>
                <a:cs typeface="Consolas" pitchFamily="34" charset="-120"/>
              </a:rPr>
              <a:t>Balanced &amp; Fast</a:t>
            </a:r>
            <a:endParaRPr lang="en-US" sz="1000" dirty="0"/>
          </a:p>
        </p:txBody>
      </p:sp>
      <p:sp>
        <p:nvSpPr>
          <p:cNvPr id="16" name="Shape 14"/>
          <p:cNvSpPr/>
          <p:nvPr/>
        </p:nvSpPr>
        <p:spPr>
          <a:xfrm>
            <a:off x="3291840" y="1892808"/>
            <a:ext cx="2377440" cy="9144"/>
          </a:xfrm>
          <a:prstGeom prst="rect">
            <a:avLst/>
          </a:prstGeom>
          <a:solidFill>
            <a:srgbClr val="30363D"/>
          </a:solidFill>
          <a:ln w="12700">
            <a:solidFill>
              <a:srgbClr val="30363D"/>
            </a:solidFill>
            <a:prstDash val="solid"/>
          </a:ln>
        </p:spPr>
      </p:sp>
      <p:sp>
        <p:nvSpPr>
          <p:cNvPr id="17" name="Text 15"/>
          <p:cNvSpPr/>
          <p:nvPr/>
        </p:nvSpPr>
        <p:spPr>
          <a:xfrm>
            <a:off x="3291840" y="1965960"/>
            <a:ext cx="2377440" cy="1371600"/>
          </a:xfrm>
          <a:prstGeom prst="rect">
            <a:avLst/>
          </a:prstGeom>
          <a:noFill/>
          <a:ln/>
        </p:spPr>
        <p:txBody>
          <a:bodyPr wrap="square" rtlCol="0" anchor="ctr"/>
          <a:lstStyle/>
          <a:p>
            <a:pPr marL="0" indent="0">
              <a:buNone/>
            </a:pPr>
            <a:r>
              <a:rPr lang="en-US" sz="1100" dirty="0">
                <a:solidFill>
                  <a:srgbClr val="E6EDF3"/>
                </a:solidFill>
                <a:latin typeface="Calibri" pitchFamily="34" charset="0"/>
                <a:ea typeface="Calibri" pitchFamily="34" charset="-122"/>
                <a:cs typeface="Calibri" pitchFamily="34" charset="-120"/>
              </a:rPr>
              <a:t>Mid-complexity features, PR descriptions, test generation, code review. Best all-rounder in the Copilot picker.</a:t>
            </a:r>
            <a:endParaRPr lang="en-US" sz="1100" dirty="0"/>
          </a:p>
        </p:txBody>
      </p:sp>
      <p:sp>
        <p:nvSpPr>
          <p:cNvPr id="18" name="Shape 16"/>
          <p:cNvSpPr/>
          <p:nvPr/>
        </p:nvSpPr>
        <p:spPr>
          <a:xfrm>
            <a:off x="5943600" y="1188720"/>
            <a:ext cx="2651760" cy="2286000"/>
          </a:xfrm>
          <a:prstGeom prst="rect">
            <a:avLst/>
          </a:prstGeom>
          <a:solidFill>
            <a:srgbClr val="161B22"/>
          </a:solidFill>
          <a:ln w="12700">
            <a:solidFill>
              <a:srgbClr val="BC8CFF"/>
            </a:solidFill>
            <a:prstDash val="solid"/>
          </a:ln>
        </p:spPr>
      </p:sp>
      <p:sp>
        <p:nvSpPr>
          <p:cNvPr id="19" name="Shape 17"/>
          <p:cNvSpPr/>
          <p:nvPr/>
        </p:nvSpPr>
        <p:spPr>
          <a:xfrm>
            <a:off x="5943600" y="1188720"/>
            <a:ext cx="45720" cy="2286000"/>
          </a:xfrm>
          <a:prstGeom prst="rect">
            <a:avLst/>
          </a:prstGeom>
          <a:solidFill>
            <a:srgbClr val="BC8CFF"/>
          </a:solidFill>
          <a:ln w="12700">
            <a:solidFill>
              <a:srgbClr val="BC8CFF"/>
            </a:solidFill>
            <a:prstDash val="solid"/>
          </a:ln>
        </p:spPr>
      </p:sp>
      <p:sp>
        <p:nvSpPr>
          <p:cNvPr id="20" name="Text 18"/>
          <p:cNvSpPr/>
          <p:nvPr/>
        </p:nvSpPr>
        <p:spPr>
          <a:xfrm>
            <a:off x="6080760" y="1280160"/>
            <a:ext cx="2377440" cy="365760"/>
          </a:xfrm>
          <a:prstGeom prst="rect">
            <a:avLst/>
          </a:prstGeom>
          <a:noFill/>
          <a:ln/>
        </p:spPr>
        <p:txBody>
          <a:bodyPr wrap="square" rtlCol="0" anchor="ctr"/>
          <a:lstStyle/>
          <a:p>
            <a:pPr marL="0" indent="0">
              <a:buNone/>
            </a:pPr>
            <a:r>
              <a:rPr lang="en-US" sz="1300" b="1" dirty="0">
                <a:solidFill>
                  <a:srgbClr val="BC8CFF"/>
                </a:solidFill>
                <a:latin typeface="Calibri" pitchFamily="34" charset="0"/>
                <a:ea typeface="Calibri" pitchFamily="34" charset="-122"/>
                <a:cs typeface="Calibri" pitchFamily="34" charset="-120"/>
              </a:rPr>
              <a:t>Claude Opus 4.6 / o3</a:t>
            </a:r>
            <a:endParaRPr lang="en-US" sz="1300" dirty="0"/>
          </a:p>
        </p:txBody>
      </p:sp>
      <p:sp>
        <p:nvSpPr>
          <p:cNvPr id="21" name="Text 19"/>
          <p:cNvSpPr/>
          <p:nvPr/>
        </p:nvSpPr>
        <p:spPr>
          <a:xfrm>
            <a:off x="6080760" y="1627632"/>
            <a:ext cx="2377440" cy="256032"/>
          </a:xfrm>
          <a:prstGeom prst="rect">
            <a:avLst/>
          </a:prstGeom>
          <a:noFill/>
          <a:ln/>
        </p:spPr>
        <p:txBody>
          <a:bodyPr wrap="square" rtlCol="0" anchor="ctr"/>
          <a:lstStyle/>
          <a:p>
            <a:pPr marL="0" indent="0">
              <a:buNone/>
            </a:pPr>
            <a:r>
              <a:rPr lang="en-US" sz="1000" dirty="0">
                <a:solidFill>
                  <a:srgbClr val="8B949E"/>
                </a:solidFill>
                <a:latin typeface="Consolas" pitchFamily="34" charset="0"/>
                <a:ea typeface="Consolas" pitchFamily="34" charset="-122"/>
                <a:cs typeface="Consolas" pitchFamily="34" charset="-120"/>
              </a:rPr>
              <a:t>Deep Reasoning</a:t>
            </a:r>
            <a:endParaRPr lang="en-US" sz="1000" dirty="0"/>
          </a:p>
        </p:txBody>
      </p:sp>
      <p:sp>
        <p:nvSpPr>
          <p:cNvPr id="22" name="Shape 20"/>
          <p:cNvSpPr/>
          <p:nvPr/>
        </p:nvSpPr>
        <p:spPr>
          <a:xfrm>
            <a:off x="6080760" y="1892808"/>
            <a:ext cx="2377440" cy="9144"/>
          </a:xfrm>
          <a:prstGeom prst="rect">
            <a:avLst/>
          </a:prstGeom>
          <a:solidFill>
            <a:srgbClr val="30363D"/>
          </a:solidFill>
          <a:ln w="12700">
            <a:solidFill>
              <a:srgbClr val="30363D"/>
            </a:solidFill>
            <a:prstDash val="solid"/>
          </a:ln>
        </p:spPr>
      </p:sp>
      <p:sp>
        <p:nvSpPr>
          <p:cNvPr id="23" name="Text 21"/>
          <p:cNvSpPr/>
          <p:nvPr/>
        </p:nvSpPr>
        <p:spPr>
          <a:xfrm>
            <a:off x="6080760" y="1965960"/>
            <a:ext cx="2377440" cy="1371600"/>
          </a:xfrm>
          <a:prstGeom prst="rect">
            <a:avLst/>
          </a:prstGeom>
          <a:noFill/>
          <a:ln/>
        </p:spPr>
        <p:txBody>
          <a:bodyPr wrap="square" rtlCol="0" anchor="ctr"/>
          <a:lstStyle/>
          <a:p>
            <a:pPr marL="0" indent="0">
              <a:buNone/>
            </a:pPr>
            <a:r>
              <a:rPr lang="en-US" sz="1100" dirty="0">
                <a:solidFill>
                  <a:srgbClr val="E6EDF3"/>
                </a:solidFill>
                <a:latin typeface="Calibri" pitchFamily="34" charset="0"/>
                <a:ea typeface="Calibri" pitchFamily="34" charset="-122"/>
                <a:cs typeface="Calibri" pitchFamily="34" charset="-120"/>
              </a:rPr>
              <a:t>Architecture decisions, complex refactoring, long-horizon planning, autonomous PR generation end-to-end.</a:t>
            </a:r>
            <a:endParaRPr lang="en-US" sz="1100" dirty="0"/>
          </a:p>
        </p:txBody>
      </p:sp>
      <p:sp>
        <p:nvSpPr>
          <p:cNvPr id="24" name="Shape 22"/>
          <p:cNvSpPr/>
          <p:nvPr/>
        </p:nvSpPr>
        <p:spPr>
          <a:xfrm>
            <a:off x="365760" y="3657600"/>
            <a:ext cx="8412480" cy="822960"/>
          </a:xfrm>
          <a:prstGeom prst="rect">
            <a:avLst/>
          </a:prstGeom>
          <a:solidFill>
            <a:srgbClr val="0D1F2D"/>
          </a:solidFill>
          <a:ln w="12700">
            <a:solidFill>
              <a:srgbClr val="007ACC"/>
            </a:solidFill>
            <a:prstDash val="solid"/>
          </a:ln>
        </p:spPr>
      </p:sp>
      <p:sp>
        <p:nvSpPr>
          <p:cNvPr id="25" name="Text 23"/>
          <p:cNvSpPr/>
          <p:nvPr/>
        </p:nvSpPr>
        <p:spPr>
          <a:xfrm>
            <a:off x="548640" y="3703320"/>
            <a:ext cx="8046720" cy="731520"/>
          </a:xfrm>
          <a:prstGeom prst="rect">
            <a:avLst/>
          </a:prstGeom>
          <a:noFill/>
          <a:ln/>
        </p:spPr>
        <p:txBody>
          <a:bodyPr wrap="square" rtlCol="0" anchor="ctr"/>
          <a:lstStyle/>
          <a:p>
            <a:pPr marL="0" indent="0" algn="ctr">
              <a:buNone/>
            </a:pPr>
            <a:r>
              <a:rPr lang="en-US" sz="1200" i="1" dirty="0">
                <a:solidFill>
                  <a:srgbClr val="00A3E0"/>
                </a:solidFill>
                <a:latin typeface="Calibri" pitchFamily="34" charset="0"/>
                <a:ea typeface="Calibri" pitchFamily="34" charset="-122"/>
                <a:cs typeface="Calibri" pitchFamily="34" charset="-120"/>
              </a:rPr>
              <a:t>GitHub Copilot in VS Code includes Claude, GPT, and Gemini models natively. Switch per session — pick the right engine for each task.</a:t>
            </a:r>
            <a:endParaRPr lang="en-US" sz="1200" dirty="0"/>
          </a:p>
        </p:txBody>
      </p:sp>
      <p:sp>
        <p:nvSpPr>
          <p:cNvPr id="26" name="Shape 24"/>
          <p:cNvSpPr/>
          <p:nvPr/>
        </p:nvSpPr>
        <p:spPr>
          <a:xfrm>
            <a:off x="0" y="4960620"/>
            <a:ext cx="9144000" cy="182880"/>
          </a:xfrm>
          <a:prstGeom prst="rect">
            <a:avLst/>
          </a:prstGeom>
          <a:solidFill>
            <a:srgbClr val="161B22"/>
          </a:solidFill>
          <a:ln w="12700">
            <a:solidFill>
              <a:srgbClr val="30363D"/>
            </a:solidFill>
            <a:prstDash val="solid"/>
          </a:ln>
        </p:spPr>
      </p:sp>
      <p:sp>
        <p:nvSpPr>
          <p:cNvPr id="27" name="Text 25"/>
          <p:cNvSpPr/>
          <p:nvPr/>
        </p:nvSpPr>
        <p:spPr>
          <a:xfrm>
            <a:off x="274320" y="4965192"/>
            <a:ext cx="8595360" cy="164592"/>
          </a:xfrm>
          <a:prstGeom prst="rect">
            <a:avLst/>
          </a:prstGeom>
          <a:noFill/>
          <a:ln/>
        </p:spPr>
        <p:txBody>
          <a:bodyPr wrap="square" rtlCol="0" anchor="ctr"/>
          <a:lstStyle/>
          <a:p>
            <a:pPr marL="0" indent="0" algn="l">
              <a:buNone/>
            </a:pPr>
            <a:r>
              <a:rPr lang="en-US" sz="800" dirty="0">
                <a:solidFill>
                  <a:srgbClr val="484F58"/>
                </a:solidFill>
                <a:latin typeface="Consolas" pitchFamily="34" charset="0"/>
                <a:ea typeface="Consolas" pitchFamily="34" charset="-122"/>
                <a:cs typeface="Consolas" pitchFamily="34" charset="-120"/>
              </a:rPr>
              <a:t>Multi-Agent in VS Code  •  Developer Community</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007ACC"/>
          </a:solidFill>
          <a:ln w="12700">
            <a:solidFill>
              <a:srgbClr val="007ACC"/>
            </a:solidFill>
            <a:prstDash val="solid"/>
          </a:ln>
        </p:spPr>
      </p:sp>
      <p:sp>
        <p:nvSpPr>
          <p:cNvPr id="3" name="Text 1"/>
          <p:cNvSpPr/>
          <p:nvPr/>
        </p:nvSpPr>
        <p:spPr>
          <a:xfrm>
            <a:off x="457200" y="182880"/>
            <a:ext cx="8229600" cy="502920"/>
          </a:xfrm>
          <a:prstGeom prst="rect">
            <a:avLst/>
          </a:prstGeom>
          <a:noFill/>
          <a:ln/>
        </p:spPr>
        <p:txBody>
          <a:bodyPr wrap="square" lIns="0" tIns="0" rIns="0" bIns="0" rtlCol="0" anchor="ctr"/>
          <a:lstStyle/>
          <a:p>
            <a:pPr marL="0" indent="0">
              <a:buNone/>
            </a:pPr>
            <a:r>
              <a:rPr lang="en-US" sz="2200" b="1" dirty="0">
                <a:solidFill>
                  <a:srgbClr val="E6EDF3"/>
                </a:solidFill>
                <a:latin typeface="Calibri" pitchFamily="34" charset="0"/>
                <a:ea typeface="Calibri" pitchFamily="34" charset="-122"/>
                <a:cs typeface="Calibri" pitchFamily="34" charset="-120"/>
              </a:rPr>
              <a:t>Context Delegation and Hand-Offs</a:t>
            </a:r>
            <a:endParaRPr lang="en-US" sz="2200" dirty="0"/>
          </a:p>
        </p:txBody>
      </p:sp>
      <p:sp>
        <p:nvSpPr>
          <p:cNvPr id="4" name="Text 2"/>
          <p:cNvSpPr/>
          <p:nvPr/>
        </p:nvSpPr>
        <p:spPr>
          <a:xfrm>
            <a:off x="457200" y="685800"/>
            <a:ext cx="8229600" cy="320040"/>
          </a:xfrm>
          <a:prstGeom prst="rect">
            <a:avLst/>
          </a:prstGeom>
          <a:noFill/>
          <a:ln/>
        </p:spPr>
        <p:txBody>
          <a:bodyPr wrap="square" lIns="0" tIns="0" rIns="0" bIns="0" rtlCol="0" anchor="ctr"/>
          <a:lstStyle/>
          <a:p>
            <a:pPr marL="0" indent="0">
              <a:buNone/>
            </a:pPr>
            <a:r>
              <a:rPr lang="en-US" sz="1200" dirty="0">
                <a:solidFill>
                  <a:srgbClr val="8B949E"/>
                </a:solidFill>
                <a:latin typeface="Calibri" pitchFamily="34" charset="0"/>
                <a:ea typeface="Calibri" pitchFamily="34" charset="-122"/>
                <a:cs typeface="Calibri" pitchFamily="34" charset="-120"/>
              </a:rPr>
              <a:t>The Local Agent is the project manager, not the executor</a:t>
            </a:r>
            <a:endParaRPr lang="en-US" sz="1200" dirty="0"/>
          </a:p>
        </p:txBody>
      </p:sp>
      <p:sp>
        <p:nvSpPr>
          <p:cNvPr id="5" name="Shape 3"/>
          <p:cNvSpPr/>
          <p:nvPr/>
        </p:nvSpPr>
        <p:spPr>
          <a:xfrm>
            <a:off x="457200" y="1005840"/>
            <a:ext cx="8229600" cy="9144"/>
          </a:xfrm>
          <a:prstGeom prst="rect">
            <a:avLst/>
          </a:prstGeom>
          <a:solidFill>
            <a:srgbClr val="30363D"/>
          </a:solidFill>
          <a:ln w="12700">
            <a:solidFill>
              <a:srgbClr val="30363D"/>
            </a:solidFill>
            <a:prstDash val="solid"/>
          </a:ln>
        </p:spPr>
      </p:sp>
      <p:sp>
        <p:nvSpPr>
          <p:cNvPr id="6" name="Shape 4"/>
          <p:cNvSpPr/>
          <p:nvPr/>
        </p:nvSpPr>
        <p:spPr>
          <a:xfrm>
            <a:off x="3383280" y="1188720"/>
            <a:ext cx="2377440" cy="914400"/>
          </a:xfrm>
          <a:prstGeom prst="rect">
            <a:avLst/>
          </a:prstGeom>
          <a:solidFill>
            <a:srgbClr val="1C2333"/>
          </a:solidFill>
          <a:ln w="12700">
            <a:solidFill>
              <a:srgbClr val="007ACC"/>
            </a:solidFill>
            <a:prstDash val="solid"/>
          </a:ln>
        </p:spPr>
      </p:sp>
      <p:sp>
        <p:nvSpPr>
          <p:cNvPr id="7" name="Shape 5"/>
          <p:cNvSpPr/>
          <p:nvPr/>
        </p:nvSpPr>
        <p:spPr>
          <a:xfrm>
            <a:off x="3383280" y="1188720"/>
            <a:ext cx="45720" cy="914400"/>
          </a:xfrm>
          <a:prstGeom prst="rect">
            <a:avLst/>
          </a:prstGeom>
          <a:solidFill>
            <a:srgbClr val="007ACC"/>
          </a:solidFill>
          <a:ln w="12700">
            <a:solidFill>
              <a:srgbClr val="007ACC"/>
            </a:solidFill>
            <a:prstDash val="solid"/>
          </a:ln>
        </p:spPr>
      </p:sp>
      <p:sp>
        <p:nvSpPr>
          <p:cNvPr id="8" name="Text 6"/>
          <p:cNvSpPr/>
          <p:nvPr/>
        </p:nvSpPr>
        <p:spPr>
          <a:xfrm>
            <a:off x="3520440" y="1261872"/>
            <a:ext cx="2103120" cy="274320"/>
          </a:xfrm>
          <a:prstGeom prst="rect">
            <a:avLst/>
          </a:prstGeom>
          <a:noFill/>
          <a:ln/>
        </p:spPr>
        <p:txBody>
          <a:bodyPr wrap="square" rtlCol="0" anchor="ctr"/>
          <a:lstStyle/>
          <a:p>
            <a:pPr marL="0" indent="0">
              <a:buNone/>
            </a:pPr>
            <a:r>
              <a:rPr lang="en-US" sz="1300" b="1" dirty="0">
                <a:solidFill>
                  <a:srgbClr val="007ACC"/>
                </a:solidFill>
                <a:latin typeface="Calibri" pitchFamily="34" charset="0"/>
                <a:ea typeface="Calibri" pitchFamily="34" charset="-122"/>
                <a:cs typeface="Calibri" pitchFamily="34" charset="-120"/>
              </a:rPr>
              <a:t>The Master Plan</a:t>
            </a:r>
            <a:endParaRPr lang="en-US" sz="1300" dirty="0"/>
          </a:p>
        </p:txBody>
      </p:sp>
      <p:sp>
        <p:nvSpPr>
          <p:cNvPr id="9" name="Text 7"/>
          <p:cNvSpPr/>
          <p:nvPr/>
        </p:nvSpPr>
        <p:spPr>
          <a:xfrm>
            <a:off x="3520440" y="1536192"/>
            <a:ext cx="2103120" cy="228600"/>
          </a:xfrm>
          <a:prstGeom prst="rect">
            <a:avLst/>
          </a:prstGeom>
          <a:noFill/>
          <a:ln/>
        </p:spPr>
        <p:txBody>
          <a:bodyPr wrap="square" rtlCol="0" anchor="ctr"/>
          <a:lstStyle/>
          <a:p>
            <a:pPr marL="0" indent="0">
              <a:buNone/>
            </a:pPr>
            <a:r>
              <a:rPr lang="en-US" sz="1000" dirty="0">
                <a:solidFill>
                  <a:srgbClr val="8B949E"/>
                </a:solidFill>
                <a:latin typeface="Consolas" pitchFamily="34" charset="0"/>
                <a:ea typeface="Consolas" pitchFamily="34" charset="-122"/>
                <a:cs typeface="Consolas" pitchFamily="34" charset="-120"/>
              </a:rPr>
              <a:t>Packaged markdown spec</a:t>
            </a:r>
            <a:endParaRPr lang="en-US" sz="1000" dirty="0"/>
          </a:p>
        </p:txBody>
      </p:sp>
      <p:sp>
        <p:nvSpPr>
          <p:cNvPr id="10" name="Shape 8"/>
          <p:cNvSpPr/>
          <p:nvPr/>
        </p:nvSpPr>
        <p:spPr>
          <a:xfrm>
            <a:off x="274320" y="1188720"/>
            <a:ext cx="2651760" cy="914400"/>
          </a:xfrm>
          <a:prstGeom prst="rect">
            <a:avLst/>
          </a:prstGeom>
          <a:solidFill>
            <a:srgbClr val="161B22"/>
          </a:solidFill>
          <a:ln w="12700">
            <a:solidFill>
              <a:srgbClr val="3FB950"/>
            </a:solidFill>
            <a:prstDash val="solid"/>
          </a:ln>
        </p:spPr>
      </p:sp>
      <p:sp>
        <p:nvSpPr>
          <p:cNvPr id="11" name="Text 9"/>
          <p:cNvSpPr/>
          <p:nvPr/>
        </p:nvSpPr>
        <p:spPr>
          <a:xfrm>
            <a:off x="411480" y="1261872"/>
            <a:ext cx="2377440" cy="274320"/>
          </a:xfrm>
          <a:prstGeom prst="rect">
            <a:avLst/>
          </a:prstGeom>
          <a:noFill/>
          <a:ln/>
        </p:spPr>
        <p:txBody>
          <a:bodyPr wrap="square" rtlCol="0" anchor="ctr"/>
          <a:lstStyle/>
          <a:p>
            <a:pPr marL="0" indent="0">
              <a:buNone/>
            </a:pPr>
            <a:r>
              <a:rPr lang="en-US" sz="1300" b="1" dirty="0">
                <a:solidFill>
                  <a:srgbClr val="3FB950"/>
                </a:solidFill>
                <a:latin typeface="Calibri" pitchFamily="34" charset="0"/>
                <a:ea typeface="Calibri" pitchFamily="34" charset="-122"/>
                <a:cs typeface="Calibri" pitchFamily="34" charset="-120"/>
              </a:rPr>
              <a:t>Local Agent</a:t>
            </a:r>
            <a:endParaRPr lang="en-US" sz="1300" dirty="0"/>
          </a:p>
        </p:txBody>
      </p:sp>
      <p:sp>
        <p:nvSpPr>
          <p:cNvPr id="12" name="Text 10"/>
          <p:cNvSpPr/>
          <p:nvPr/>
        </p:nvSpPr>
        <p:spPr>
          <a:xfrm>
            <a:off x="411480" y="1536192"/>
            <a:ext cx="2377440" cy="457200"/>
          </a:xfrm>
          <a:prstGeom prst="rect">
            <a:avLst/>
          </a:prstGeom>
          <a:noFill/>
          <a:ln/>
        </p:spPr>
        <p:txBody>
          <a:bodyPr wrap="square" rtlCol="0" anchor="ctr"/>
          <a:lstStyle/>
          <a:p>
            <a:pPr marL="0" indent="0">
              <a:buNone/>
            </a:pPr>
            <a:r>
              <a:rPr lang="en-US" sz="1000" dirty="0">
                <a:solidFill>
                  <a:srgbClr val="8B949E"/>
                </a:solidFill>
                <a:latin typeface="Calibri" pitchFamily="34" charset="0"/>
                <a:ea typeface="Calibri" pitchFamily="34" charset="-122"/>
                <a:cs typeface="Calibri" pitchFamily="34" charset="-120"/>
              </a:rPr>
              <a:t>Action: Gathers workspace</a:t>
            </a:r>
            <a:endParaRPr lang="en-US" sz="1000" dirty="0"/>
          </a:p>
          <a:p>
            <a:pPr marL="0" indent="0">
              <a:buNone/>
            </a:pPr>
            <a:r>
              <a:rPr lang="en-US" sz="1000" dirty="0">
                <a:solidFill>
                  <a:srgbClr val="8B949E"/>
                </a:solidFill>
                <a:latin typeface="Calibri" pitchFamily="34" charset="0"/>
                <a:ea typeface="Calibri" pitchFamily="34" charset="-122"/>
                <a:cs typeface="Calibri" pitchFamily="34" charset="-120"/>
              </a:rPr>
              <a:t>context &amp; user intent</a:t>
            </a:r>
            <a:endParaRPr lang="en-US" sz="1000" dirty="0"/>
          </a:p>
        </p:txBody>
      </p:sp>
      <p:sp>
        <p:nvSpPr>
          <p:cNvPr id="13" name="Shape 11"/>
          <p:cNvSpPr/>
          <p:nvPr/>
        </p:nvSpPr>
        <p:spPr>
          <a:xfrm>
            <a:off x="2926080" y="1645920"/>
            <a:ext cx="457200" cy="0"/>
          </a:xfrm>
          <a:prstGeom prst="line">
            <a:avLst/>
          </a:prstGeom>
          <a:noFill/>
          <a:ln w="25400">
            <a:solidFill>
              <a:srgbClr val="007ACC"/>
            </a:solidFill>
            <a:prstDash val="solid"/>
          </a:ln>
        </p:spPr>
      </p:sp>
      <p:sp>
        <p:nvSpPr>
          <p:cNvPr id="14" name="Shape 12"/>
          <p:cNvSpPr/>
          <p:nvPr/>
        </p:nvSpPr>
        <p:spPr>
          <a:xfrm>
            <a:off x="6126480" y="960120"/>
            <a:ext cx="2651760" cy="1188720"/>
          </a:xfrm>
          <a:prstGeom prst="rect">
            <a:avLst/>
          </a:prstGeom>
          <a:solidFill>
            <a:srgbClr val="161B22"/>
          </a:solidFill>
          <a:ln w="12700">
            <a:solidFill>
              <a:srgbClr val="F78166"/>
            </a:solidFill>
            <a:prstDash val="solid"/>
          </a:ln>
        </p:spPr>
      </p:sp>
      <p:sp>
        <p:nvSpPr>
          <p:cNvPr id="15" name="Text 13"/>
          <p:cNvSpPr/>
          <p:nvPr/>
        </p:nvSpPr>
        <p:spPr>
          <a:xfrm>
            <a:off x="6263640" y="1033272"/>
            <a:ext cx="2377440" cy="274320"/>
          </a:xfrm>
          <a:prstGeom prst="rect">
            <a:avLst/>
          </a:prstGeom>
          <a:noFill/>
          <a:ln/>
        </p:spPr>
        <p:txBody>
          <a:bodyPr wrap="square" rtlCol="0" anchor="ctr"/>
          <a:lstStyle/>
          <a:p>
            <a:pPr marL="0" indent="0">
              <a:buNone/>
            </a:pPr>
            <a:r>
              <a:rPr lang="en-US" sz="1300" b="1" dirty="0">
                <a:solidFill>
                  <a:srgbClr val="F78166"/>
                </a:solidFill>
                <a:latin typeface="Calibri" pitchFamily="34" charset="0"/>
                <a:ea typeface="Calibri" pitchFamily="34" charset="-122"/>
                <a:cs typeface="Calibri" pitchFamily="34" charset="-120"/>
              </a:rPr>
              <a:t>Background Agent</a:t>
            </a:r>
            <a:endParaRPr lang="en-US" sz="1300" dirty="0"/>
          </a:p>
        </p:txBody>
      </p:sp>
      <p:sp>
        <p:nvSpPr>
          <p:cNvPr id="16" name="Text 14"/>
          <p:cNvSpPr/>
          <p:nvPr/>
        </p:nvSpPr>
        <p:spPr>
          <a:xfrm>
            <a:off x="6263640" y="1307592"/>
            <a:ext cx="2377440" cy="594360"/>
          </a:xfrm>
          <a:prstGeom prst="rect">
            <a:avLst/>
          </a:prstGeom>
          <a:noFill/>
          <a:ln/>
        </p:spPr>
        <p:txBody>
          <a:bodyPr wrap="square" rtlCol="0" anchor="ctr"/>
          <a:lstStyle/>
          <a:p>
            <a:pPr marL="0" indent="0">
              <a:buNone/>
            </a:pPr>
            <a:r>
              <a:rPr lang="en-US" sz="1000" dirty="0">
                <a:solidFill>
                  <a:srgbClr val="8B949E"/>
                </a:solidFill>
                <a:latin typeface="Calibri" pitchFamily="34" charset="0"/>
                <a:ea typeface="Calibri" pitchFamily="34" charset="-122"/>
                <a:cs typeface="Calibri" pitchFamily="34" charset="-120"/>
              </a:rPr>
              <a:t>Receives delegated plan to</a:t>
            </a:r>
            <a:endParaRPr lang="en-US" sz="1000" dirty="0"/>
          </a:p>
          <a:p>
            <a:pPr marL="0" indent="0">
              <a:buNone/>
            </a:pPr>
            <a:r>
              <a:rPr lang="en-US" sz="1000" dirty="0">
                <a:solidFill>
                  <a:srgbClr val="8B949E"/>
                </a:solidFill>
                <a:latin typeface="Calibri" pitchFamily="34" charset="0"/>
                <a:ea typeface="Calibri" pitchFamily="34" charset="-122"/>
                <a:cs typeface="Calibri" pitchFamily="34" charset="-120"/>
              </a:rPr>
              <a:t>execute isolated code changes</a:t>
            </a:r>
            <a:endParaRPr lang="en-US" sz="1000" dirty="0"/>
          </a:p>
        </p:txBody>
      </p:sp>
      <p:sp>
        <p:nvSpPr>
          <p:cNvPr id="17" name="Shape 15"/>
          <p:cNvSpPr/>
          <p:nvPr/>
        </p:nvSpPr>
        <p:spPr>
          <a:xfrm>
            <a:off x="6126480" y="2377440"/>
            <a:ext cx="2651760" cy="1188720"/>
          </a:xfrm>
          <a:prstGeom prst="rect">
            <a:avLst/>
          </a:prstGeom>
          <a:solidFill>
            <a:srgbClr val="161B22"/>
          </a:solidFill>
          <a:ln w="12700">
            <a:solidFill>
              <a:srgbClr val="BC8CFF"/>
            </a:solidFill>
            <a:prstDash val="solid"/>
          </a:ln>
        </p:spPr>
      </p:sp>
      <p:sp>
        <p:nvSpPr>
          <p:cNvPr id="18" name="Text 16"/>
          <p:cNvSpPr/>
          <p:nvPr/>
        </p:nvSpPr>
        <p:spPr>
          <a:xfrm>
            <a:off x="6263640" y="2450592"/>
            <a:ext cx="2377440" cy="274320"/>
          </a:xfrm>
          <a:prstGeom prst="rect">
            <a:avLst/>
          </a:prstGeom>
          <a:noFill/>
          <a:ln/>
        </p:spPr>
        <p:txBody>
          <a:bodyPr wrap="square" rtlCol="0" anchor="ctr"/>
          <a:lstStyle/>
          <a:p>
            <a:pPr marL="0" indent="0">
              <a:buNone/>
            </a:pPr>
            <a:r>
              <a:rPr lang="en-US" sz="1300" b="1" dirty="0">
                <a:solidFill>
                  <a:srgbClr val="BC8CFF"/>
                </a:solidFill>
                <a:latin typeface="Calibri" pitchFamily="34" charset="0"/>
                <a:ea typeface="Calibri" pitchFamily="34" charset="-122"/>
                <a:cs typeface="Calibri" pitchFamily="34" charset="-120"/>
              </a:rPr>
              <a:t>Cloud Agent</a:t>
            </a:r>
            <a:endParaRPr lang="en-US" sz="1300" dirty="0"/>
          </a:p>
        </p:txBody>
      </p:sp>
      <p:sp>
        <p:nvSpPr>
          <p:cNvPr id="19" name="Text 17"/>
          <p:cNvSpPr/>
          <p:nvPr/>
        </p:nvSpPr>
        <p:spPr>
          <a:xfrm>
            <a:off x="6263640" y="2724912"/>
            <a:ext cx="2377440" cy="594360"/>
          </a:xfrm>
          <a:prstGeom prst="rect">
            <a:avLst/>
          </a:prstGeom>
          <a:noFill/>
          <a:ln/>
        </p:spPr>
        <p:txBody>
          <a:bodyPr wrap="square" rtlCol="0" anchor="ctr"/>
          <a:lstStyle/>
          <a:p>
            <a:pPr marL="0" indent="0">
              <a:buNone/>
            </a:pPr>
            <a:r>
              <a:rPr lang="en-US" sz="1000" dirty="0">
                <a:solidFill>
                  <a:srgbClr val="8B949E"/>
                </a:solidFill>
                <a:latin typeface="Calibri" pitchFamily="34" charset="0"/>
                <a:ea typeface="Calibri" pitchFamily="34" charset="-122"/>
                <a:cs typeface="Calibri" pitchFamily="34" charset="-120"/>
              </a:rPr>
              <a:t>Receives delegated plan to</a:t>
            </a:r>
            <a:endParaRPr lang="en-US" sz="1000" dirty="0"/>
          </a:p>
          <a:p>
            <a:pPr marL="0" indent="0">
              <a:buNone/>
            </a:pPr>
            <a:r>
              <a:rPr lang="en-US" sz="1000" dirty="0">
                <a:solidFill>
                  <a:srgbClr val="8B949E"/>
                </a:solidFill>
                <a:latin typeface="Calibri" pitchFamily="34" charset="0"/>
                <a:ea typeface="Calibri" pitchFamily="34" charset="-122"/>
                <a:cs typeface="Calibri" pitchFamily="34" charset="-120"/>
              </a:rPr>
              <a:t>autonomously generate test Pull Requests</a:t>
            </a:r>
            <a:endParaRPr lang="en-US" sz="1000" dirty="0"/>
          </a:p>
        </p:txBody>
      </p:sp>
      <p:sp>
        <p:nvSpPr>
          <p:cNvPr id="20" name="Shape 18"/>
          <p:cNvSpPr/>
          <p:nvPr/>
        </p:nvSpPr>
        <p:spPr>
          <a:xfrm>
            <a:off x="274320" y="2423160"/>
            <a:ext cx="5577840" cy="1280160"/>
          </a:xfrm>
          <a:prstGeom prst="rect">
            <a:avLst/>
          </a:prstGeom>
          <a:solidFill>
            <a:srgbClr val="1C2333"/>
          </a:solidFill>
          <a:ln w="12700">
            <a:solidFill>
              <a:srgbClr val="30363D"/>
            </a:solidFill>
            <a:prstDash val="solid"/>
          </a:ln>
        </p:spPr>
      </p:sp>
      <p:sp>
        <p:nvSpPr>
          <p:cNvPr id="21" name="Text 19"/>
          <p:cNvSpPr/>
          <p:nvPr/>
        </p:nvSpPr>
        <p:spPr>
          <a:xfrm>
            <a:off x="411480" y="2487168"/>
            <a:ext cx="5303520" cy="274320"/>
          </a:xfrm>
          <a:prstGeom prst="rect">
            <a:avLst/>
          </a:prstGeom>
          <a:noFill/>
          <a:ln/>
        </p:spPr>
        <p:txBody>
          <a:bodyPr wrap="square" rtlCol="0" anchor="ctr"/>
          <a:lstStyle/>
          <a:p>
            <a:pPr marL="0" indent="0">
              <a:buNone/>
            </a:pPr>
            <a:r>
              <a:rPr lang="en-US" sz="1100" b="1" dirty="0">
                <a:solidFill>
                  <a:srgbClr val="8B949E"/>
                </a:solidFill>
                <a:latin typeface="Calibri" pitchFamily="34" charset="0"/>
                <a:ea typeface="Calibri" pitchFamily="34" charset="-122"/>
                <a:cs typeface="Calibri" pitchFamily="34" charset="-120"/>
              </a:rPr>
              <a:t>The Delegation Flow</a:t>
            </a:r>
            <a:endParaRPr lang="en-US" sz="1100" dirty="0"/>
          </a:p>
        </p:txBody>
      </p:sp>
      <p:sp>
        <p:nvSpPr>
          <p:cNvPr id="22" name="Text 20"/>
          <p:cNvSpPr/>
          <p:nvPr/>
        </p:nvSpPr>
        <p:spPr>
          <a:xfrm>
            <a:off x="411480" y="2761488"/>
            <a:ext cx="5303520" cy="914400"/>
          </a:xfrm>
          <a:prstGeom prst="rect">
            <a:avLst/>
          </a:prstGeom>
          <a:noFill/>
          <a:ln/>
        </p:spPr>
        <p:txBody>
          <a:bodyPr wrap="square" rtlCol="0" anchor="ctr"/>
          <a:lstStyle/>
          <a:p>
            <a:pPr marL="0" indent="0">
              <a:buNone/>
            </a:pPr>
            <a:r>
              <a:rPr lang="en-US" sz="1100" b="1" dirty="0">
                <a:solidFill>
                  <a:srgbClr val="007ACC"/>
                </a:solidFill>
                <a:latin typeface="Calibri" pitchFamily="34" charset="0"/>
                <a:ea typeface="Calibri" pitchFamily="34" charset="-122"/>
                <a:cs typeface="Calibri" pitchFamily="34" charset="-120"/>
              </a:rPr>
              <a:t>1. </a:t>
            </a:r>
            <a:r>
              <a:rPr lang="en-US" sz="1100" dirty="0">
                <a:solidFill>
                  <a:srgbClr val="E6EDF3"/>
                </a:solidFill>
                <a:latin typeface="Calibri" pitchFamily="34" charset="0"/>
                <a:ea typeface="Calibri" pitchFamily="34" charset="-122"/>
                <a:cs typeface="Calibri" pitchFamily="34" charset="-120"/>
              </a:rPr>
              <a:t>Local agent collects full workspace context
</a:t>
            </a:r>
            <a:r>
              <a:rPr lang="en-US" sz="1100" b="1" dirty="0">
                <a:solidFill>
                  <a:srgbClr val="007ACC"/>
                </a:solidFill>
                <a:latin typeface="Calibri" pitchFamily="34" charset="0"/>
                <a:ea typeface="Calibri" pitchFamily="34" charset="-122"/>
                <a:cs typeface="Calibri" pitchFamily="34" charset="-120"/>
              </a:rPr>
              <a:t>2. </a:t>
            </a:r>
            <a:r>
              <a:rPr lang="en-US" sz="1100" dirty="0">
                <a:solidFill>
                  <a:srgbClr val="E6EDF3"/>
                </a:solidFill>
                <a:latin typeface="Calibri" pitchFamily="34" charset="0"/>
                <a:ea typeface="Calibri" pitchFamily="34" charset="-122"/>
                <a:cs typeface="Calibri" pitchFamily="34" charset="-120"/>
              </a:rPr>
              <a:t>Compiles intent into a structured markdown spec
</a:t>
            </a:r>
            <a:r>
              <a:rPr lang="en-US" sz="1100" b="1" dirty="0">
                <a:solidFill>
                  <a:srgbClr val="007ACC"/>
                </a:solidFill>
                <a:latin typeface="Calibri" pitchFamily="34" charset="0"/>
                <a:ea typeface="Calibri" pitchFamily="34" charset="-122"/>
                <a:cs typeface="Calibri" pitchFamily="34" charset="-120"/>
              </a:rPr>
              <a:t>3. </a:t>
            </a:r>
            <a:r>
              <a:rPr lang="en-US" sz="1100" dirty="0">
                <a:solidFill>
                  <a:srgbClr val="E6EDF3"/>
                </a:solidFill>
                <a:latin typeface="Calibri" pitchFamily="34" charset="0"/>
                <a:ea typeface="Calibri" pitchFamily="34" charset="-122"/>
                <a:cs typeface="Calibri" pitchFamily="34" charset="-120"/>
              </a:rPr>
              <a:t>Dispatches spec to background or cloud agents
</a:t>
            </a:r>
            <a:r>
              <a:rPr lang="en-US" sz="1100" b="1" dirty="0">
                <a:solidFill>
                  <a:srgbClr val="007ACC"/>
                </a:solidFill>
                <a:latin typeface="Calibri" pitchFamily="34" charset="0"/>
                <a:ea typeface="Calibri" pitchFamily="34" charset="-122"/>
                <a:cs typeface="Calibri" pitchFamily="34" charset="-120"/>
              </a:rPr>
              <a:t>4. </a:t>
            </a:r>
            <a:r>
              <a:rPr lang="en-US" sz="1100" dirty="0">
                <a:solidFill>
                  <a:srgbClr val="E6EDF3"/>
                </a:solidFill>
                <a:latin typeface="Calibri" pitchFamily="34" charset="0"/>
                <a:ea typeface="Calibri" pitchFamily="34" charset="-122"/>
                <a:cs typeface="Calibri" pitchFamily="34" charset="-120"/>
              </a:rPr>
              <a:t>Results returned for human review before merge</a:t>
            </a:r>
            <a:endParaRPr lang="en-US" sz="1100" dirty="0"/>
          </a:p>
        </p:txBody>
      </p:sp>
      <p:sp>
        <p:nvSpPr>
          <p:cNvPr id="23" name="Text 21"/>
          <p:cNvSpPr/>
          <p:nvPr/>
        </p:nvSpPr>
        <p:spPr>
          <a:xfrm>
            <a:off x="274320" y="3886200"/>
            <a:ext cx="8595360" cy="502920"/>
          </a:xfrm>
          <a:prstGeom prst="rect">
            <a:avLst/>
          </a:prstGeom>
          <a:noFill/>
          <a:ln/>
        </p:spPr>
        <p:txBody>
          <a:bodyPr wrap="square" rtlCol="0" anchor="ctr"/>
          <a:lstStyle/>
          <a:p>
            <a:pPr marL="0" indent="0">
              <a:buNone/>
            </a:pPr>
            <a:r>
              <a:rPr lang="en-US" sz="1100" i="1" dirty="0">
                <a:solidFill>
                  <a:srgbClr val="8B949E"/>
                </a:solidFill>
                <a:latin typeface="Calibri" pitchFamily="34" charset="0"/>
                <a:ea typeface="Calibri" pitchFamily="34" charset="-122"/>
                <a:cs typeface="Calibri" pitchFamily="34" charset="-120"/>
              </a:rPr>
              <a:t>Tip: Build prismatic context first, then click 'Delegate' to seamlessly transfer the compiled spec to async executors.</a:t>
            </a:r>
            <a:endParaRPr lang="en-US" sz="1100" dirty="0"/>
          </a:p>
        </p:txBody>
      </p:sp>
      <p:sp>
        <p:nvSpPr>
          <p:cNvPr id="24" name="Shape 22"/>
          <p:cNvSpPr/>
          <p:nvPr/>
        </p:nvSpPr>
        <p:spPr>
          <a:xfrm>
            <a:off x="0" y="4960620"/>
            <a:ext cx="9144000" cy="182880"/>
          </a:xfrm>
          <a:prstGeom prst="rect">
            <a:avLst/>
          </a:prstGeom>
          <a:solidFill>
            <a:srgbClr val="161B22"/>
          </a:solidFill>
          <a:ln w="12700">
            <a:solidFill>
              <a:srgbClr val="30363D"/>
            </a:solidFill>
            <a:prstDash val="solid"/>
          </a:ln>
        </p:spPr>
      </p:sp>
      <p:sp>
        <p:nvSpPr>
          <p:cNvPr id="25" name="Text 23"/>
          <p:cNvSpPr/>
          <p:nvPr/>
        </p:nvSpPr>
        <p:spPr>
          <a:xfrm>
            <a:off x="274320" y="4965192"/>
            <a:ext cx="8595360" cy="164592"/>
          </a:xfrm>
          <a:prstGeom prst="rect">
            <a:avLst/>
          </a:prstGeom>
          <a:noFill/>
          <a:ln/>
        </p:spPr>
        <p:txBody>
          <a:bodyPr wrap="square" rtlCol="0" anchor="ctr"/>
          <a:lstStyle/>
          <a:p>
            <a:pPr marL="0" indent="0" algn="l">
              <a:buNone/>
            </a:pPr>
            <a:r>
              <a:rPr lang="en-US" sz="800" dirty="0">
                <a:solidFill>
                  <a:srgbClr val="484F58"/>
                </a:solidFill>
                <a:latin typeface="Consolas" pitchFamily="34" charset="0"/>
                <a:ea typeface="Consolas" pitchFamily="34" charset="-122"/>
                <a:cs typeface="Consolas" pitchFamily="34" charset="-120"/>
              </a:rPr>
              <a:t>Multi-Agent in VS Code  •  Developer Community</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007ACC"/>
          </a:solidFill>
          <a:ln w="12700">
            <a:solidFill>
              <a:srgbClr val="007ACC"/>
            </a:solidFill>
            <a:prstDash val="solid"/>
          </a:ln>
        </p:spPr>
      </p:sp>
      <p:sp>
        <p:nvSpPr>
          <p:cNvPr id="3" name="Text 1"/>
          <p:cNvSpPr/>
          <p:nvPr/>
        </p:nvSpPr>
        <p:spPr>
          <a:xfrm>
            <a:off x="457200" y="182880"/>
            <a:ext cx="8229600" cy="502920"/>
          </a:xfrm>
          <a:prstGeom prst="rect">
            <a:avLst/>
          </a:prstGeom>
          <a:noFill/>
          <a:ln/>
        </p:spPr>
        <p:txBody>
          <a:bodyPr wrap="square" lIns="0" tIns="0" rIns="0" bIns="0" rtlCol="0" anchor="ctr"/>
          <a:lstStyle/>
          <a:p>
            <a:pPr marL="0" indent="0">
              <a:buNone/>
            </a:pPr>
            <a:r>
              <a:rPr lang="en-US" sz="2200" b="1" dirty="0">
                <a:solidFill>
                  <a:srgbClr val="E6EDF3"/>
                </a:solidFill>
                <a:latin typeface="Calibri" pitchFamily="34" charset="0"/>
                <a:ea typeface="Calibri" pitchFamily="34" charset="-122"/>
                <a:cs typeface="Calibri" pitchFamily="34" charset="-120"/>
              </a:rPr>
              <a:t>True Isolation via Git Worktrees</a:t>
            </a:r>
            <a:endParaRPr lang="en-US" sz="2200" dirty="0"/>
          </a:p>
        </p:txBody>
      </p:sp>
      <p:sp>
        <p:nvSpPr>
          <p:cNvPr id="4" name="Text 2"/>
          <p:cNvSpPr/>
          <p:nvPr/>
        </p:nvSpPr>
        <p:spPr>
          <a:xfrm>
            <a:off x="457200" y="685800"/>
            <a:ext cx="8229600" cy="320040"/>
          </a:xfrm>
          <a:prstGeom prst="rect">
            <a:avLst/>
          </a:prstGeom>
          <a:noFill/>
          <a:ln/>
        </p:spPr>
        <p:txBody>
          <a:bodyPr wrap="square" lIns="0" tIns="0" rIns="0" bIns="0" rtlCol="0" anchor="ctr"/>
          <a:lstStyle/>
          <a:p>
            <a:pPr marL="0" indent="0">
              <a:buNone/>
            </a:pPr>
            <a:r>
              <a:rPr lang="en-US" sz="1200" dirty="0">
                <a:solidFill>
                  <a:srgbClr val="8B949E"/>
                </a:solidFill>
                <a:latin typeface="Calibri" pitchFamily="34" charset="0"/>
                <a:ea typeface="Calibri" pitchFamily="34" charset="-122"/>
                <a:cs typeface="Calibri" pitchFamily="34" charset="-120"/>
              </a:rPr>
              <a:t>Background agents run in parallel without breaking your workspace</a:t>
            </a:r>
            <a:endParaRPr lang="en-US" sz="1200" dirty="0"/>
          </a:p>
        </p:txBody>
      </p:sp>
      <p:sp>
        <p:nvSpPr>
          <p:cNvPr id="5" name="Shape 3"/>
          <p:cNvSpPr/>
          <p:nvPr/>
        </p:nvSpPr>
        <p:spPr>
          <a:xfrm>
            <a:off x="457200" y="1005840"/>
            <a:ext cx="8229600" cy="9144"/>
          </a:xfrm>
          <a:prstGeom prst="rect">
            <a:avLst/>
          </a:prstGeom>
          <a:solidFill>
            <a:srgbClr val="30363D"/>
          </a:solidFill>
          <a:ln w="12700">
            <a:solidFill>
              <a:srgbClr val="30363D"/>
            </a:solidFill>
            <a:prstDash val="solid"/>
          </a:ln>
        </p:spPr>
      </p:sp>
      <p:sp>
        <p:nvSpPr>
          <p:cNvPr id="6" name="Shape 4"/>
          <p:cNvSpPr/>
          <p:nvPr/>
        </p:nvSpPr>
        <p:spPr>
          <a:xfrm>
            <a:off x="365760" y="1188720"/>
            <a:ext cx="2560320" cy="914400"/>
          </a:xfrm>
          <a:prstGeom prst="rect">
            <a:avLst/>
          </a:prstGeom>
          <a:solidFill>
            <a:srgbClr val="161B22"/>
          </a:solidFill>
          <a:ln w="12700">
            <a:solidFill>
              <a:srgbClr val="007ACC"/>
            </a:solidFill>
            <a:prstDash val="solid"/>
          </a:ln>
        </p:spPr>
      </p:sp>
      <p:sp>
        <p:nvSpPr>
          <p:cNvPr id="7" name="Text 5"/>
          <p:cNvSpPr/>
          <p:nvPr/>
        </p:nvSpPr>
        <p:spPr>
          <a:xfrm>
            <a:off x="502920" y="1261872"/>
            <a:ext cx="2331720" cy="320040"/>
          </a:xfrm>
          <a:prstGeom prst="rect">
            <a:avLst/>
          </a:prstGeom>
          <a:noFill/>
          <a:ln/>
        </p:spPr>
        <p:txBody>
          <a:bodyPr wrap="square" rtlCol="0" anchor="ctr"/>
          <a:lstStyle/>
          <a:p>
            <a:pPr marL="0" indent="0">
              <a:buNone/>
            </a:pPr>
            <a:r>
              <a:rPr lang="en-US" sz="1100" b="1" dirty="0">
                <a:solidFill>
                  <a:srgbClr val="007ACC"/>
                </a:solidFill>
                <a:latin typeface="Calibri" pitchFamily="34" charset="0"/>
                <a:ea typeface="Calibri" pitchFamily="34" charset="-122"/>
                <a:cs typeface="Calibri" pitchFamily="34" charset="-120"/>
              </a:rPr>
              <a:t>Active Foreground Workspace</a:t>
            </a:r>
            <a:endParaRPr lang="en-US" sz="1100" dirty="0"/>
          </a:p>
        </p:txBody>
      </p:sp>
      <p:sp>
        <p:nvSpPr>
          <p:cNvPr id="8" name="Text 6"/>
          <p:cNvSpPr/>
          <p:nvPr/>
        </p:nvSpPr>
        <p:spPr>
          <a:xfrm>
            <a:off x="502920" y="1581912"/>
            <a:ext cx="2331720" cy="228600"/>
          </a:xfrm>
          <a:prstGeom prst="rect">
            <a:avLst/>
          </a:prstGeom>
          <a:noFill/>
          <a:ln/>
        </p:spPr>
        <p:txBody>
          <a:bodyPr wrap="square" rtlCol="0" anchor="ctr"/>
          <a:lstStyle/>
          <a:p>
            <a:pPr marL="0" indent="0">
              <a:buNone/>
            </a:pPr>
            <a:r>
              <a:rPr lang="en-US" sz="900" dirty="0">
                <a:solidFill>
                  <a:srgbClr val="8B949E"/>
                </a:solidFill>
                <a:latin typeface="Consolas" pitchFamily="34" charset="0"/>
                <a:ea typeface="Consolas" pitchFamily="34" charset="-122"/>
                <a:cs typeface="Consolas" pitchFamily="34" charset="-120"/>
              </a:rPr>
              <a:t>You — coding, reviewing</a:t>
            </a:r>
            <a:endParaRPr lang="en-US" sz="900" dirty="0"/>
          </a:p>
        </p:txBody>
      </p:sp>
      <p:sp>
        <p:nvSpPr>
          <p:cNvPr id="9" name="Shape 7"/>
          <p:cNvSpPr/>
          <p:nvPr/>
        </p:nvSpPr>
        <p:spPr>
          <a:xfrm>
            <a:off x="365760" y="2331720"/>
            <a:ext cx="2560320" cy="502920"/>
          </a:xfrm>
          <a:prstGeom prst="rect">
            <a:avLst/>
          </a:prstGeom>
          <a:solidFill>
            <a:srgbClr val="161B22"/>
          </a:solidFill>
          <a:ln w="12700">
            <a:solidFill>
              <a:srgbClr val="3FB950"/>
            </a:solidFill>
            <a:prstDash val="solid"/>
          </a:ln>
        </p:spPr>
      </p:sp>
      <p:sp>
        <p:nvSpPr>
          <p:cNvPr id="10" name="Shape 8"/>
          <p:cNvSpPr/>
          <p:nvPr/>
        </p:nvSpPr>
        <p:spPr>
          <a:xfrm>
            <a:off x="365760" y="2331720"/>
            <a:ext cx="45720" cy="502920"/>
          </a:xfrm>
          <a:prstGeom prst="rect">
            <a:avLst/>
          </a:prstGeom>
          <a:solidFill>
            <a:srgbClr val="3FB950"/>
          </a:solidFill>
          <a:ln w="12700">
            <a:solidFill>
              <a:srgbClr val="3FB950"/>
            </a:solidFill>
            <a:prstDash val="solid"/>
          </a:ln>
        </p:spPr>
      </p:sp>
      <p:sp>
        <p:nvSpPr>
          <p:cNvPr id="11" name="Text 9"/>
          <p:cNvSpPr/>
          <p:nvPr/>
        </p:nvSpPr>
        <p:spPr>
          <a:xfrm>
            <a:off x="548640" y="2441448"/>
            <a:ext cx="2286000" cy="274320"/>
          </a:xfrm>
          <a:prstGeom prst="rect">
            <a:avLst/>
          </a:prstGeom>
          <a:noFill/>
          <a:ln/>
        </p:spPr>
        <p:txBody>
          <a:bodyPr wrap="square" rtlCol="0" anchor="ctr"/>
          <a:lstStyle/>
          <a:p>
            <a:pPr marL="0" indent="0">
              <a:buNone/>
            </a:pPr>
            <a:r>
              <a:rPr lang="en-US" sz="1100" b="1" dirty="0">
                <a:solidFill>
                  <a:srgbClr val="3FB950"/>
                </a:solidFill>
                <a:latin typeface="Calibri" pitchFamily="34" charset="0"/>
                <a:ea typeface="Calibri" pitchFamily="34" charset="-122"/>
                <a:cs typeface="Calibri" pitchFamily="34" charset="-120"/>
              </a:rPr>
              <a:t>Copilot Git Worktree 1</a:t>
            </a:r>
            <a:endParaRPr lang="en-US" sz="1100" dirty="0"/>
          </a:p>
        </p:txBody>
      </p:sp>
      <p:sp>
        <p:nvSpPr>
          <p:cNvPr id="12" name="Shape 10"/>
          <p:cNvSpPr/>
          <p:nvPr/>
        </p:nvSpPr>
        <p:spPr>
          <a:xfrm>
            <a:off x="365760" y="2971800"/>
            <a:ext cx="2560320" cy="502920"/>
          </a:xfrm>
          <a:prstGeom prst="rect">
            <a:avLst/>
          </a:prstGeom>
          <a:solidFill>
            <a:srgbClr val="161B22"/>
          </a:solidFill>
          <a:ln w="12700">
            <a:solidFill>
              <a:srgbClr val="F78166"/>
            </a:solidFill>
            <a:prstDash val="solid"/>
          </a:ln>
        </p:spPr>
      </p:sp>
      <p:sp>
        <p:nvSpPr>
          <p:cNvPr id="13" name="Shape 11"/>
          <p:cNvSpPr/>
          <p:nvPr/>
        </p:nvSpPr>
        <p:spPr>
          <a:xfrm>
            <a:off x="365760" y="2971800"/>
            <a:ext cx="45720" cy="502920"/>
          </a:xfrm>
          <a:prstGeom prst="rect">
            <a:avLst/>
          </a:prstGeom>
          <a:solidFill>
            <a:srgbClr val="F78166"/>
          </a:solidFill>
          <a:ln w="12700">
            <a:solidFill>
              <a:srgbClr val="F78166"/>
            </a:solidFill>
            <a:prstDash val="solid"/>
          </a:ln>
        </p:spPr>
      </p:sp>
      <p:sp>
        <p:nvSpPr>
          <p:cNvPr id="14" name="Text 12"/>
          <p:cNvSpPr/>
          <p:nvPr/>
        </p:nvSpPr>
        <p:spPr>
          <a:xfrm>
            <a:off x="548640" y="3081528"/>
            <a:ext cx="2286000" cy="274320"/>
          </a:xfrm>
          <a:prstGeom prst="rect">
            <a:avLst/>
          </a:prstGeom>
          <a:noFill/>
          <a:ln/>
        </p:spPr>
        <p:txBody>
          <a:bodyPr wrap="square" rtlCol="0" anchor="ctr"/>
          <a:lstStyle/>
          <a:p>
            <a:pPr marL="0" indent="0">
              <a:buNone/>
            </a:pPr>
            <a:r>
              <a:rPr lang="en-US" sz="1100" b="1" dirty="0">
                <a:solidFill>
                  <a:srgbClr val="F78166"/>
                </a:solidFill>
                <a:latin typeface="Calibri" pitchFamily="34" charset="0"/>
                <a:ea typeface="Calibri" pitchFamily="34" charset="-122"/>
                <a:cs typeface="Calibri" pitchFamily="34" charset="-120"/>
              </a:rPr>
              <a:t>Copilot Git Worktree 2</a:t>
            </a:r>
            <a:endParaRPr lang="en-US" sz="1100" dirty="0"/>
          </a:p>
        </p:txBody>
      </p:sp>
      <p:sp>
        <p:nvSpPr>
          <p:cNvPr id="15" name="Shape 13"/>
          <p:cNvSpPr/>
          <p:nvPr/>
        </p:nvSpPr>
        <p:spPr>
          <a:xfrm>
            <a:off x="365760" y="3611880"/>
            <a:ext cx="2560320" cy="502920"/>
          </a:xfrm>
          <a:prstGeom prst="rect">
            <a:avLst/>
          </a:prstGeom>
          <a:solidFill>
            <a:srgbClr val="161B22"/>
          </a:solidFill>
          <a:ln w="12700">
            <a:solidFill>
              <a:srgbClr val="BC8CFF"/>
            </a:solidFill>
            <a:prstDash val="solid"/>
          </a:ln>
        </p:spPr>
      </p:sp>
      <p:sp>
        <p:nvSpPr>
          <p:cNvPr id="16" name="Shape 14"/>
          <p:cNvSpPr/>
          <p:nvPr/>
        </p:nvSpPr>
        <p:spPr>
          <a:xfrm>
            <a:off x="365760" y="3611880"/>
            <a:ext cx="45720" cy="502920"/>
          </a:xfrm>
          <a:prstGeom prst="rect">
            <a:avLst/>
          </a:prstGeom>
          <a:solidFill>
            <a:srgbClr val="BC8CFF"/>
          </a:solidFill>
          <a:ln w="12700">
            <a:solidFill>
              <a:srgbClr val="BC8CFF"/>
            </a:solidFill>
            <a:prstDash val="solid"/>
          </a:ln>
        </p:spPr>
      </p:sp>
      <p:sp>
        <p:nvSpPr>
          <p:cNvPr id="17" name="Text 15"/>
          <p:cNvSpPr/>
          <p:nvPr/>
        </p:nvSpPr>
        <p:spPr>
          <a:xfrm>
            <a:off x="548640" y="3721608"/>
            <a:ext cx="2286000" cy="274320"/>
          </a:xfrm>
          <a:prstGeom prst="rect">
            <a:avLst/>
          </a:prstGeom>
          <a:noFill/>
          <a:ln/>
        </p:spPr>
        <p:txBody>
          <a:bodyPr wrap="square" rtlCol="0" anchor="ctr"/>
          <a:lstStyle/>
          <a:p>
            <a:pPr marL="0" indent="0">
              <a:buNone/>
            </a:pPr>
            <a:r>
              <a:rPr lang="en-US" sz="1100" b="1" dirty="0">
                <a:solidFill>
                  <a:srgbClr val="BC8CFF"/>
                </a:solidFill>
                <a:latin typeface="Calibri" pitchFamily="34" charset="0"/>
                <a:ea typeface="Calibri" pitchFamily="34" charset="-122"/>
                <a:cs typeface="Calibri" pitchFamily="34" charset="-120"/>
              </a:rPr>
              <a:t>Copilot Git Worktree 3</a:t>
            </a:r>
            <a:endParaRPr lang="en-US" sz="1100" dirty="0"/>
          </a:p>
        </p:txBody>
      </p:sp>
      <p:sp>
        <p:nvSpPr>
          <p:cNvPr id="18" name="Shape 16"/>
          <p:cNvSpPr/>
          <p:nvPr/>
        </p:nvSpPr>
        <p:spPr>
          <a:xfrm>
            <a:off x="1645920" y="2103120"/>
            <a:ext cx="0" cy="228600"/>
          </a:xfrm>
          <a:prstGeom prst="line">
            <a:avLst/>
          </a:prstGeom>
          <a:noFill/>
          <a:ln w="12700">
            <a:solidFill>
              <a:srgbClr val="484F58"/>
            </a:solidFill>
            <a:prstDash val="sysDot"/>
          </a:ln>
        </p:spPr>
      </p:sp>
      <p:sp>
        <p:nvSpPr>
          <p:cNvPr id="19" name="Shape 17"/>
          <p:cNvSpPr/>
          <p:nvPr/>
        </p:nvSpPr>
        <p:spPr>
          <a:xfrm>
            <a:off x="1645920" y="2103120"/>
            <a:ext cx="0" cy="868680"/>
          </a:xfrm>
          <a:prstGeom prst="line">
            <a:avLst/>
          </a:prstGeom>
          <a:noFill/>
          <a:ln w="12700">
            <a:solidFill>
              <a:srgbClr val="484F58"/>
            </a:solidFill>
            <a:prstDash val="sysDot"/>
          </a:ln>
        </p:spPr>
      </p:sp>
      <p:sp>
        <p:nvSpPr>
          <p:cNvPr id="20" name="Shape 18"/>
          <p:cNvSpPr/>
          <p:nvPr/>
        </p:nvSpPr>
        <p:spPr>
          <a:xfrm>
            <a:off x="1645920" y="2103120"/>
            <a:ext cx="0" cy="1508760"/>
          </a:xfrm>
          <a:prstGeom prst="line">
            <a:avLst/>
          </a:prstGeom>
          <a:noFill/>
          <a:ln w="12700">
            <a:solidFill>
              <a:srgbClr val="484F58"/>
            </a:solidFill>
            <a:prstDash val="sysDot"/>
          </a:ln>
        </p:spPr>
      </p:sp>
      <p:sp>
        <p:nvSpPr>
          <p:cNvPr id="21" name="Shape 19"/>
          <p:cNvSpPr/>
          <p:nvPr/>
        </p:nvSpPr>
        <p:spPr>
          <a:xfrm>
            <a:off x="3246120" y="1188720"/>
            <a:ext cx="2560320" cy="3108960"/>
          </a:xfrm>
          <a:prstGeom prst="rect">
            <a:avLst/>
          </a:prstGeom>
          <a:solidFill>
            <a:srgbClr val="1C2333"/>
          </a:solidFill>
          <a:ln w="12700">
            <a:solidFill>
              <a:srgbClr val="30363D"/>
            </a:solidFill>
            <a:prstDash val="solid"/>
          </a:ln>
        </p:spPr>
      </p:sp>
      <p:sp>
        <p:nvSpPr>
          <p:cNvPr id="22" name="Text 20"/>
          <p:cNvSpPr/>
          <p:nvPr/>
        </p:nvSpPr>
        <p:spPr>
          <a:xfrm>
            <a:off x="3383280" y="1261872"/>
            <a:ext cx="2331720" cy="320040"/>
          </a:xfrm>
          <a:prstGeom prst="rect">
            <a:avLst/>
          </a:prstGeom>
          <a:noFill/>
          <a:ln/>
        </p:spPr>
        <p:txBody>
          <a:bodyPr wrap="square" rtlCol="0" anchor="ctr"/>
          <a:lstStyle/>
          <a:p>
            <a:pPr marL="0" indent="0">
              <a:buNone/>
            </a:pPr>
            <a:r>
              <a:rPr lang="en-US" sz="1300" b="1" dirty="0">
                <a:solidFill>
                  <a:srgbClr val="E6EDF3"/>
                </a:solidFill>
                <a:latin typeface="Calibri" pitchFamily="34" charset="0"/>
                <a:ea typeface="Calibri" pitchFamily="34" charset="-122"/>
                <a:cs typeface="Calibri" pitchFamily="34" charset="-120"/>
              </a:rPr>
              <a:t>The Mechanism</a:t>
            </a:r>
            <a:endParaRPr lang="en-US" sz="1300" dirty="0"/>
          </a:p>
        </p:txBody>
      </p:sp>
      <p:sp>
        <p:nvSpPr>
          <p:cNvPr id="23" name="Text 21"/>
          <p:cNvSpPr/>
          <p:nvPr/>
        </p:nvSpPr>
        <p:spPr>
          <a:xfrm>
            <a:off x="3383280" y="1600200"/>
            <a:ext cx="2331720" cy="1097280"/>
          </a:xfrm>
          <a:prstGeom prst="rect">
            <a:avLst/>
          </a:prstGeom>
          <a:noFill/>
          <a:ln/>
        </p:spPr>
        <p:txBody>
          <a:bodyPr wrap="square" rtlCol="0" anchor="ctr"/>
          <a:lstStyle/>
          <a:p>
            <a:pPr marL="0" indent="0">
              <a:buNone/>
            </a:pPr>
            <a:r>
              <a:rPr lang="en-US" sz="1100" dirty="0">
                <a:solidFill>
                  <a:srgbClr val="8B949E"/>
                </a:solidFill>
                <a:latin typeface="Calibri" pitchFamily="34" charset="0"/>
                <a:ea typeface="Calibri" pitchFamily="34" charset="-122"/>
                <a:cs typeface="Calibri" pitchFamily="34" charset="-120"/>
              </a:rPr>
              <a:t>Background agents utilise the Copilot CLI to spin up an isolated Git Worktree. Open editors and terminals remain completely untouched.</a:t>
            </a:r>
            <a:endParaRPr lang="en-US" sz="1100" dirty="0"/>
          </a:p>
        </p:txBody>
      </p:sp>
      <p:sp>
        <p:nvSpPr>
          <p:cNvPr id="24" name="Shape 22"/>
          <p:cNvSpPr/>
          <p:nvPr/>
        </p:nvSpPr>
        <p:spPr>
          <a:xfrm>
            <a:off x="3383280" y="2697480"/>
            <a:ext cx="2286000" cy="9144"/>
          </a:xfrm>
          <a:prstGeom prst="rect">
            <a:avLst/>
          </a:prstGeom>
          <a:solidFill>
            <a:srgbClr val="30363D"/>
          </a:solidFill>
          <a:ln w="12700">
            <a:solidFill>
              <a:srgbClr val="30363D"/>
            </a:solidFill>
            <a:prstDash val="solid"/>
          </a:ln>
        </p:spPr>
      </p:sp>
      <p:sp>
        <p:nvSpPr>
          <p:cNvPr id="25" name="Text 23"/>
          <p:cNvSpPr/>
          <p:nvPr/>
        </p:nvSpPr>
        <p:spPr>
          <a:xfrm>
            <a:off x="3383280" y="2788920"/>
            <a:ext cx="2331720" cy="320040"/>
          </a:xfrm>
          <a:prstGeom prst="rect">
            <a:avLst/>
          </a:prstGeom>
          <a:noFill/>
          <a:ln/>
        </p:spPr>
        <p:txBody>
          <a:bodyPr wrap="square" rtlCol="0" anchor="ctr"/>
          <a:lstStyle/>
          <a:p>
            <a:pPr marL="0" indent="0">
              <a:buNone/>
            </a:pPr>
            <a:r>
              <a:rPr lang="en-US" sz="1300" b="1" dirty="0">
                <a:solidFill>
                  <a:srgbClr val="3FB950"/>
                </a:solidFill>
                <a:latin typeface="Calibri" pitchFamily="34" charset="0"/>
                <a:ea typeface="Calibri" pitchFamily="34" charset="-122"/>
                <a:cs typeface="Calibri" pitchFamily="34" charset="-120"/>
              </a:rPr>
              <a:t>The Result</a:t>
            </a:r>
            <a:endParaRPr lang="en-US" sz="1300" dirty="0"/>
          </a:p>
        </p:txBody>
      </p:sp>
      <p:sp>
        <p:nvSpPr>
          <p:cNvPr id="26" name="Text 24"/>
          <p:cNvSpPr/>
          <p:nvPr/>
        </p:nvSpPr>
        <p:spPr>
          <a:xfrm>
            <a:off x="3383280" y="3127248"/>
            <a:ext cx="2331720" cy="1005840"/>
          </a:xfrm>
          <a:prstGeom prst="rect">
            <a:avLst/>
          </a:prstGeom>
          <a:noFill/>
          <a:ln/>
        </p:spPr>
        <p:txBody>
          <a:bodyPr wrap="square" rtlCol="0" anchor="ctr"/>
          <a:lstStyle/>
          <a:p>
            <a:pPr marL="0" indent="0">
              <a:buNone/>
            </a:pPr>
            <a:r>
              <a:rPr lang="en-US" sz="1100" dirty="0">
                <a:solidFill>
                  <a:srgbClr val="8B949E"/>
                </a:solidFill>
                <a:latin typeface="Calibri" pitchFamily="34" charset="0"/>
                <a:ea typeface="Calibri" pitchFamily="34" charset="-122"/>
                <a:cs typeface="Calibri" pitchFamily="34" charset="-120"/>
              </a:rPr>
              <a:t>Parallel code compilation, editing, and testing in completely isolated environments — zero collisions or broken states.</a:t>
            </a:r>
            <a:endParaRPr lang="en-US" sz="1100" dirty="0"/>
          </a:p>
        </p:txBody>
      </p:sp>
      <p:sp>
        <p:nvSpPr>
          <p:cNvPr id="27" name="Shape 25"/>
          <p:cNvSpPr/>
          <p:nvPr/>
        </p:nvSpPr>
        <p:spPr>
          <a:xfrm>
            <a:off x="6080760" y="1188720"/>
            <a:ext cx="2651760" cy="3108960"/>
          </a:xfrm>
          <a:prstGeom prst="rect">
            <a:avLst/>
          </a:prstGeom>
          <a:solidFill>
            <a:srgbClr val="161B22"/>
          </a:solidFill>
          <a:ln w="12700">
            <a:solidFill>
              <a:srgbClr val="3FB950"/>
            </a:solidFill>
            <a:prstDash val="solid"/>
          </a:ln>
        </p:spPr>
      </p:sp>
      <p:sp>
        <p:nvSpPr>
          <p:cNvPr id="28" name="Text 26"/>
          <p:cNvSpPr/>
          <p:nvPr/>
        </p:nvSpPr>
        <p:spPr>
          <a:xfrm>
            <a:off x="6217920" y="1261872"/>
            <a:ext cx="2377440" cy="320040"/>
          </a:xfrm>
          <a:prstGeom prst="rect">
            <a:avLst/>
          </a:prstGeom>
          <a:noFill/>
          <a:ln/>
        </p:spPr>
        <p:txBody>
          <a:bodyPr wrap="square" rtlCol="0" anchor="ctr"/>
          <a:lstStyle/>
          <a:p>
            <a:pPr marL="0" indent="0">
              <a:buNone/>
            </a:pPr>
            <a:r>
              <a:rPr lang="en-US" sz="1300" b="1" dirty="0">
                <a:solidFill>
                  <a:srgbClr val="3FB950"/>
                </a:solidFill>
                <a:latin typeface="Calibri" pitchFamily="34" charset="0"/>
                <a:ea typeface="Calibri" pitchFamily="34" charset="-122"/>
                <a:cs typeface="Calibri" pitchFamily="34" charset="-120"/>
              </a:rPr>
              <a:t>Benefits</a:t>
            </a:r>
            <a:endParaRPr lang="en-US" sz="1300" dirty="0"/>
          </a:p>
        </p:txBody>
      </p:sp>
      <p:sp>
        <p:nvSpPr>
          <p:cNvPr id="29" name="Text 27"/>
          <p:cNvSpPr/>
          <p:nvPr/>
        </p:nvSpPr>
        <p:spPr>
          <a:xfrm>
            <a:off x="6217920" y="1645920"/>
            <a:ext cx="2377440" cy="384048"/>
          </a:xfrm>
          <a:prstGeom prst="rect">
            <a:avLst/>
          </a:prstGeom>
          <a:noFill/>
          <a:ln/>
        </p:spPr>
        <p:txBody>
          <a:bodyPr wrap="square" rtlCol="0" anchor="ctr"/>
          <a:lstStyle/>
          <a:p>
            <a:pPr marL="0" indent="0">
              <a:buNone/>
            </a:pPr>
            <a:r>
              <a:rPr lang="en-US" sz="1100" b="1" dirty="0">
                <a:solidFill>
                  <a:srgbClr val="3FB950"/>
                </a:solidFill>
                <a:latin typeface="Calibri" pitchFamily="34" charset="0"/>
                <a:ea typeface="Calibri" pitchFamily="34" charset="-122"/>
                <a:cs typeface="Calibri" pitchFamily="34" charset="-120"/>
              </a:rPr>
              <a:t>✓ </a:t>
            </a:r>
            <a:r>
              <a:rPr lang="en-US" sz="1100" dirty="0">
                <a:solidFill>
                  <a:srgbClr val="E6EDF3"/>
                </a:solidFill>
                <a:latin typeface="Calibri" pitchFamily="34" charset="0"/>
                <a:ea typeface="Calibri" pitchFamily="34" charset="-122"/>
                <a:cs typeface="Calibri" pitchFamily="34" charset="-120"/>
              </a:rPr>
              <a:t>No context window pollution</a:t>
            </a:r>
            <a:endParaRPr lang="en-US" sz="1100" dirty="0"/>
          </a:p>
        </p:txBody>
      </p:sp>
      <p:sp>
        <p:nvSpPr>
          <p:cNvPr id="30" name="Text 28"/>
          <p:cNvSpPr/>
          <p:nvPr/>
        </p:nvSpPr>
        <p:spPr>
          <a:xfrm>
            <a:off x="6217920" y="2075688"/>
            <a:ext cx="2377440" cy="384048"/>
          </a:xfrm>
          <a:prstGeom prst="rect">
            <a:avLst/>
          </a:prstGeom>
          <a:noFill/>
          <a:ln/>
        </p:spPr>
        <p:txBody>
          <a:bodyPr wrap="square" rtlCol="0" anchor="ctr"/>
          <a:lstStyle/>
          <a:p>
            <a:pPr marL="0" indent="0">
              <a:buNone/>
            </a:pPr>
            <a:r>
              <a:rPr lang="en-US" sz="1100" b="1" dirty="0">
                <a:solidFill>
                  <a:srgbClr val="3FB950"/>
                </a:solidFill>
                <a:latin typeface="Calibri" pitchFamily="34" charset="0"/>
                <a:ea typeface="Calibri" pitchFamily="34" charset="-122"/>
                <a:cs typeface="Calibri" pitchFamily="34" charset="-120"/>
              </a:rPr>
              <a:t>✓ </a:t>
            </a:r>
            <a:r>
              <a:rPr lang="en-US" sz="1100" dirty="0">
                <a:solidFill>
                  <a:srgbClr val="E6EDF3"/>
                </a:solidFill>
                <a:latin typeface="Calibri" pitchFamily="34" charset="0"/>
                <a:ea typeface="Calibri" pitchFamily="34" charset="-122"/>
                <a:cs typeface="Calibri" pitchFamily="34" charset="-120"/>
              </a:rPr>
              <a:t>Separate branches per task</a:t>
            </a:r>
            <a:endParaRPr lang="en-US" sz="1100" dirty="0"/>
          </a:p>
        </p:txBody>
      </p:sp>
      <p:sp>
        <p:nvSpPr>
          <p:cNvPr id="31" name="Text 29"/>
          <p:cNvSpPr/>
          <p:nvPr/>
        </p:nvSpPr>
        <p:spPr>
          <a:xfrm>
            <a:off x="6217920" y="2505456"/>
            <a:ext cx="2377440" cy="384048"/>
          </a:xfrm>
          <a:prstGeom prst="rect">
            <a:avLst/>
          </a:prstGeom>
          <a:noFill/>
          <a:ln/>
        </p:spPr>
        <p:txBody>
          <a:bodyPr wrap="square" rtlCol="0" anchor="ctr"/>
          <a:lstStyle/>
          <a:p>
            <a:pPr marL="0" indent="0">
              <a:buNone/>
            </a:pPr>
            <a:r>
              <a:rPr lang="en-US" sz="1100" b="1" dirty="0">
                <a:solidFill>
                  <a:srgbClr val="3FB950"/>
                </a:solidFill>
                <a:latin typeface="Calibri" pitchFamily="34" charset="0"/>
                <a:ea typeface="Calibri" pitchFamily="34" charset="-122"/>
                <a:cs typeface="Calibri" pitchFamily="34" charset="-120"/>
              </a:rPr>
              <a:t>✓ </a:t>
            </a:r>
            <a:r>
              <a:rPr lang="en-US" sz="1100" dirty="0">
                <a:solidFill>
                  <a:srgbClr val="E6EDF3"/>
                </a:solidFill>
                <a:latin typeface="Calibri" pitchFamily="34" charset="0"/>
                <a:ea typeface="Calibri" pitchFamily="34" charset="-122"/>
                <a:cs typeface="Calibri" pitchFamily="34" charset="-120"/>
              </a:rPr>
              <a:t>Safe to fail — discard any tree</a:t>
            </a:r>
            <a:endParaRPr lang="en-US" sz="1100" dirty="0"/>
          </a:p>
        </p:txBody>
      </p:sp>
      <p:sp>
        <p:nvSpPr>
          <p:cNvPr id="32" name="Text 30"/>
          <p:cNvSpPr/>
          <p:nvPr/>
        </p:nvSpPr>
        <p:spPr>
          <a:xfrm>
            <a:off x="6217920" y="2935224"/>
            <a:ext cx="2377440" cy="384048"/>
          </a:xfrm>
          <a:prstGeom prst="rect">
            <a:avLst/>
          </a:prstGeom>
          <a:noFill/>
          <a:ln/>
        </p:spPr>
        <p:txBody>
          <a:bodyPr wrap="square" rtlCol="0" anchor="ctr"/>
          <a:lstStyle/>
          <a:p>
            <a:pPr marL="0" indent="0">
              <a:buNone/>
            </a:pPr>
            <a:r>
              <a:rPr lang="en-US" sz="1100" b="1" dirty="0">
                <a:solidFill>
                  <a:srgbClr val="3FB950"/>
                </a:solidFill>
                <a:latin typeface="Calibri" pitchFamily="34" charset="0"/>
                <a:ea typeface="Calibri" pitchFamily="34" charset="-122"/>
                <a:cs typeface="Calibri" pitchFamily="34" charset="-120"/>
              </a:rPr>
              <a:t>✓ </a:t>
            </a:r>
            <a:r>
              <a:rPr lang="en-US" sz="1100" dirty="0">
                <a:solidFill>
                  <a:srgbClr val="E6EDF3"/>
                </a:solidFill>
                <a:latin typeface="Calibri" pitchFamily="34" charset="0"/>
                <a:ea typeface="Calibri" pitchFamily="34" charset="-122"/>
                <a:cs typeface="Calibri" pitchFamily="34" charset="-120"/>
              </a:rPr>
              <a:t>Multiple agents run in parallel</a:t>
            </a:r>
            <a:endParaRPr lang="en-US" sz="1100" dirty="0"/>
          </a:p>
        </p:txBody>
      </p:sp>
      <p:sp>
        <p:nvSpPr>
          <p:cNvPr id="33" name="Text 31"/>
          <p:cNvSpPr/>
          <p:nvPr/>
        </p:nvSpPr>
        <p:spPr>
          <a:xfrm>
            <a:off x="6217920" y="3364992"/>
            <a:ext cx="2377440" cy="384048"/>
          </a:xfrm>
          <a:prstGeom prst="rect">
            <a:avLst/>
          </a:prstGeom>
          <a:noFill/>
          <a:ln/>
        </p:spPr>
        <p:txBody>
          <a:bodyPr wrap="square" rtlCol="0" anchor="ctr"/>
          <a:lstStyle/>
          <a:p>
            <a:pPr marL="0" indent="0">
              <a:buNone/>
            </a:pPr>
            <a:r>
              <a:rPr lang="en-US" sz="1100" b="1" dirty="0">
                <a:solidFill>
                  <a:srgbClr val="3FB950"/>
                </a:solidFill>
                <a:latin typeface="Calibri" pitchFamily="34" charset="0"/>
                <a:ea typeface="Calibri" pitchFamily="34" charset="-122"/>
                <a:cs typeface="Calibri" pitchFamily="34" charset="-120"/>
              </a:rPr>
              <a:t>✓ </a:t>
            </a:r>
            <a:r>
              <a:rPr lang="en-US" sz="1100" dirty="0">
                <a:solidFill>
                  <a:srgbClr val="E6EDF3"/>
                </a:solidFill>
                <a:latin typeface="Calibri" pitchFamily="34" charset="0"/>
                <a:ea typeface="Calibri" pitchFamily="34" charset="-122"/>
                <a:cs typeface="Calibri" pitchFamily="34" charset="-120"/>
              </a:rPr>
              <a:t>Main branch always stable</a:t>
            </a:r>
            <a:endParaRPr lang="en-US" sz="1100" dirty="0"/>
          </a:p>
        </p:txBody>
      </p:sp>
      <p:sp>
        <p:nvSpPr>
          <p:cNvPr id="34" name="Text 32"/>
          <p:cNvSpPr/>
          <p:nvPr/>
        </p:nvSpPr>
        <p:spPr>
          <a:xfrm>
            <a:off x="6217920" y="3794760"/>
            <a:ext cx="2377440" cy="384048"/>
          </a:xfrm>
          <a:prstGeom prst="rect">
            <a:avLst/>
          </a:prstGeom>
          <a:noFill/>
          <a:ln/>
        </p:spPr>
        <p:txBody>
          <a:bodyPr wrap="square" rtlCol="0" anchor="ctr"/>
          <a:lstStyle/>
          <a:p>
            <a:pPr marL="0" indent="0">
              <a:buNone/>
            </a:pPr>
            <a:r>
              <a:rPr lang="en-US" sz="1100" b="1" dirty="0">
                <a:solidFill>
                  <a:srgbClr val="3FB950"/>
                </a:solidFill>
                <a:latin typeface="Calibri" pitchFamily="34" charset="0"/>
                <a:ea typeface="Calibri" pitchFamily="34" charset="-122"/>
                <a:cs typeface="Calibri" pitchFamily="34" charset="-120"/>
              </a:rPr>
              <a:t>✓ </a:t>
            </a:r>
            <a:r>
              <a:rPr lang="en-US" sz="1100" dirty="0">
                <a:solidFill>
                  <a:srgbClr val="E6EDF3"/>
                </a:solidFill>
                <a:latin typeface="Calibri" pitchFamily="34" charset="0"/>
                <a:ea typeface="Calibri" pitchFamily="34" charset="-122"/>
                <a:cs typeface="Calibri" pitchFamily="34" charset="-120"/>
              </a:rPr>
              <a:t>Review diff before merging</a:t>
            </a:r>
            <a:endParaRPr lang="en-US" sz="1100" dirty="0"/>
          </a:p>
        </p:txBody>
      </p:sp>
      <p:sp>
        <p:nvSpPr>
          <p:cNvPr id="35" name="Shape 33"/>
          <p:cNvSpPr/>
          <p:nvPr/>
        </p:nvSpPr>
        <p:spPr>
          <a:xfrm>
            <a:off x="0" y="4960620"/>
            <a:ext cx="9144000" cy="182880"/>
          </a:xfrm>
          <a:prstGeom prst="rect">
            <a:avLst/>
          </a:prstGeom>
          <a:solidFill>
            <a:srgbClr val="161B22"/>
          </a:solidFill>
          <a:ln w="12700">
            <a:solidFill>
              <a:srgbClr val="30363D"/>
            </a:solidFill>
            <a:prstDash val="solid"/>
          </a:ln>
        </p:spPr>
      </p:sp>
      <p:sp>
        <p:nvSpPr>
          <p:cNvPr id="36" name="Text 34"/>
          <p:cNvSpPr/>
          <p:nvPr/>
        </p:nvSpPr>
        <p:spPr>
          <a:xfrm>
            <a:off x="274320" y="4965192"/>
            <a:ext cx="8595360" cy="164592"/>
          </a:xfrm>
          <a:prstGeom prst="rect">
            <a:avLst/>
          </a:prstGeom>
          <a:noFill/>
          <a:ln/>
        </p:spPr>
        <p:txBody>
          <a:bodyPr wrap="square" rtlCol="0" anchor="ctr"/>
          <a:lstStyle/>
          <a:p>
            <a:pPr marL="0" indent="0" algn="l">
              <a:buNone/>
            </a:pPr>
            <a:r>
              <a:rPr lang="en-US" sz="800" dirty="0">
                <a:solidFill>
                  <a:srgbClr val="484F58"/>
                </a:solidFill>
                <a:latin typeface="Consolas" pitchFamily="34" charset="0"/>
                <a:ea typeface="Consolas" pitchFamily="34" charset="-122"/>
                <a:cs typeface="Consolas" pitchFamily="34" charset="-120"/>
              </a:rPr>
              <a:t>Multi-Agent in VS Code  •  Developer Community</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007ACC"/>
          </a:solidFill>
          <a:ln w="12700">
            <a:solidFill>
              <a:srgbClr val="007ACC"/>
            </a:solidFill>
            <a:prstDash val="solid"/>
          </a:ln>
        </p:spPr>
      </p:sp>
      <p:sp>
        <p:nvSpPr>
          <p:cNvPr id="3" name="Text 1"/>
          <p:cNvSpPr/>
          <p:nvPr/>
        </p:nvSpPr>
        <p:spPr>
          <a:xfrm>
            <a:off x="457200" y="182880"/>
            <a:ext cx="8229600" cy="502920"/>
          </a:xfrm>
          <a:prstGeom prst="rect">
            <a:avLst/>
          </a:prstGeom>
          <a:noFill/>
          <a:ln/>
        </p:spPr>
        <p:txBody>
          <a:bodyPr wrap="square" lIns="0" tIns="0" rIns="0" bIns="0" rtlCol="0" anchor="ctr"/>
          <a:lstStyle/>
          <a:p>
            <a:pPr marL="0" indent="0">
              <a:buNone/>
            </a:pPr>
            <a:r>
              <a:rPr lang="en-US" sz="2200" b="1" dirty="0">
                <a:solidFill>
                  <a:srgbClr val="E6EDF3"/>
                </a:solidFill>
                <a:latin typeface="Calibri" pitchFamily="34" charset="0"/>
                <a:ea typeface="Calibri" pitchFamily="34" charset="-122"/>
                <a:cs typeface="Calibri" pitchFamily="34" charset="-120"/>
              </a:rPr>
              <a:t>Context Cleansing with Parallel Sub-Agents</a:t>
            </a:r>
            <a:endParaRPr lang="en-US" sz="2200" dirty="0"/>
          </a:p>
        </p:txBody>
      </p:sp>
      <p:sp>
        <p:nvSpPr>
          <p:cNvPr id="4" name="Text 2"/>
          <p:cNvSpPr/>
          <p:nvPr/>
        </p:nvSpPr>
        <p:spPr>
          <a:xfrm>
            <a:off x="457200" y="685800"/>
            <a:ext cx="8229600" cy="320040"/>
          </a:xfrm>
          <a:prstGeom prst="rect">
            <a:avLst/>
          </a:prstGeom>
          <a:noFill/>
          <a:ln/>
        </p:spPr>
        <p:txBody>
          <a:bodyPr wrap="square" lIns="0" tIns="0" rIns="0" bIns="0" rtlCol="0" anchor="ctr"/>
          <a:lstStyle/>
          <a:p>
            <a:pPr marL="0" indent="0">
              <a:buNone/>
            </a:pPr>
            <a:r>
              <a:rPr lang="en-US" sz="1200" dirty="0">
                <a:solidFill>
                  <a:srgbClr val="8B949E"/>
                </a:solidFill>
                <a:latin typeface="Calibri" pitchFamily="34" charset="0"/>
                <a:ea typeface="Calibri" pitchFamily="34" charset="-122"/>
                <a:cs typeface="Calibri" pitchFamily="34" charset="-120"/>
              </a:rPr>
              <a:t>Solving context window pollution through delegation</a:t>
            </a:r>
            <a:endParaRPr lang="en-US" sz="1200" dirty="0"/>
          </a:p>
        </p:txBody>
      </p:sp>
      <p:sp>
        <p:nvSpPr>
          <p:cNvPr id="5" name="Shape 3"/>
          <p:cNvSpPr/>
          <p:nvPr/>
        </p:nvSpPr>
        <p:spPr>
          <a:xfrm>
            <a:off x="457200" y="1005840"/>
            <a:ext cx="8229600" cy="9144"/>
          </a:xfrm>
          <a:prstGeom prst="rect">
            <a:avLst/>
          </a:prstGeom>
          <a:solidFill>
            <a:srgbClr val="30363D"/>
          </a:solidFill>
          <a:ln w="12700">
            <a:solidFill>
              <a:srgbClr val="30363D"/>
            </a:solidFill>
            <a:prstDash val="solid"/>
          </a:ln>
        </p:spPr>
      </p:sp>
      <p:sp>
        <p:nvSpPr>
          <p:cNvPr id="6" name="Shape 4"/>
          <p:cNvSpPr/>
          <p:nvPr/>
        </p:nvSpPr>
        <p:spPr>
          <a:xfrm>
            <a:off x="365760" y="1188720"/>
            <a:ext cx="2743200" cy="2560320"/>
          </a:xfrm>
          <a:prstGeom prst="rect">
            <a:avLst/>
          </a:prstGeom>
          <a:solidFill>
            <a:srgbClr val="1A0A0A"/>
          </a:solidFill>
          <a:ln w="12700">
            <a:solidFill>
              <a:srgbClr val="F78166"/>
            </a:solidFill>
            <a:prstDash val="solid"/>
          </a:ln>
        </p:spPr>
      </p:sp>
      <p:sp>
        <p:nvSpPr>
          <p:cNvPr id="7" name="Shape 5"/>
          <p:cNvSpPr/>
          <p:nvPr/>
        </p:nvSpPr>
        <p:spPr>
          <a:xfrm>
            <a:off x="365760" y="1188720"/>
            <a:ext cx="45720" cy="2560320"/>
          </a:xfrm>
          <a:prstGeom prst="rect">
            <a:avLst/>
          </a:prstGeom>
          <a:solidFill>
            <a:srgbClr val="F78166"/>
          </a:solidFill>
          <a:ln w="12700">
            <a:solidFill>
              <a:srgbClr val="F78166"/>
            </a:solidFill>
            <a:prstDash val="solid"/>
          </a:ln>
        </p:spPr>
      </p:sp>
      <p:sp>
        <p:nvSpPr>
          <p:cNvPr id="8" name="Text 6"/>
          <p:cNvSpPr/>
          <p:nvPr/>
        </p:nvSpPr>
        <p:spPr>
          <a:xfrm>
            <a:off x="548640" y="1261872"/>
            <a:ext cx="2468880" cy="320040"/>
          </a:xfrm>
          <a:prstGeom prst="rect">
            <a:avLst/>
          </a:prstGeom>
          <a:noFill/>
          <a:ln/>
        </p:spPr>
        <p:txBody>
          <a:bodyPr wrap="square" rtlCol="0" anchor="ctr"/>
          <a:lstStyle/>
          <a:p>
            <a:pPr marL="0" indent="0">
              <a:buNone/>
            </a:pPr>
            <a:r>
              <a:rPr lang="en-US" sz="1300" b="1" dirty="0">
                <a:solidFill>
                  <a:srgbClr val="F78166"/>
                </a:solidFill>
                <a:latin typeface="Calibri" pitchFamily="34" charset="0"/>
                <a:ea typeface="Calibri" pitchFamily="34" charset="-122"/>
                <a:cs typeface="Calibri" pitchFamily="34" charset="-120"/>
              </a:rPr>
              <a:t>The Problem</a:t>
            </a:r>
            <a:endParaRPr lang="en-US" sz="1300" dirty="0"/>
          </a:p>
        </p:txBody>
      </p:sp>
      <p:sp>
        <p:nvSpPr>
          <p:cNvPr id="9" name="Text 7"/>
          <p:cNvSpPr/>
          <p:nvPr/>
        </p:nvSpPr>
        <p:spPr>
          <a:xfrm>
            <a:off x="548640" y="1627632"/>
            <a:ext cx="2468880" cy="1920240"/>
          </a:xfrm>
          <a:prstGeom prst="rect">
            <a:avLst/>
          </a:prstGeom>
          <a:noFill/>
          <a:ln/>
        </p:spPr>
        <p:txBody>
          <a:bodyPr wrap="square" rtlCol="0" anchor="ctr"/>
          <a:lstStyle/>
          <a:p>
            <a:pPr marL="0" indent="0">
              <a:buNone/>
            </a:pPr>
            <a:r>
              <a:rPr lang="en-US" sz="1100" dirty="0">
                <a:solidFill>
                  <a:srgbClr val="8B949E"/>
                </a:solidFill>
                <a:latin typeface="Calibri" pitchFamily="34" charset="0"/>
                <a:ea typeface="Calibri" pitchFamily="34" charset="-122"/>
                <a:cs typeface="Calibri" pitchFamily="34" charset="-120"/>
              </a:rPr>
              <a:t>Feeding an agent the entire codebase simultaneously pollutes the context window, degrading reasoning quality. Long conversations accumulate noise that reduces output precision.</a:t>
            </a:r>
            <a:endParaRPr lang="en-US" sz="1100" dirty="0"/>
          </a:p>
        </p:txBody>
      </p:sp>
      <p:sp>
        <p:nvSpPr>
          <p:cNvPr id="10" name="Shape 8"/>
          <p:cNvSpPr/>
          <p:nvPr/>
        </p:nvSpPr>
        <p:spPr>
          <a:xfrm>
            <a:off x="3337560" y="1188720"/>
            <a:ext cx="2743200" cy="2560320"/>
          </a:xfrm>
          <a:prstGeom prst="rect">
            <a:avLst/>
          </a:prstGeom>
          <a:solidFill>
            <a:srgbClr val="0A1A0A"/>
          </a:solidFill>
          <a:ln w="12700">
            <a:solidFill>
              <a:srgbClr val="3FB950"/>
            </a:solidFill>
            <a:prstDash val="solid"/>
          </a:ln>
        </p:spPr>
      </p:sp>
      <p:sp>
        <p:nvSpPr>
          <p:cNvPr id="11" name="Shape 9"/>
          <p:cNvSpPr/>
          <p:nvPr/>
        </p:nvSpPr>
        <p:spPr>
          <a:xfrm>
            <a:off x="3337560" y="1188720"/>
            <a:ext cx="45720" cy="2560320"/>
          </a:xfrm>
          <a:prstGeom prst="rect">
            <a:avLst/>
          </a:prstGeom>
          <a:solidFill>
            <a:srgbClr val="3FB950"/>
          </a:solidFill>
          <a:ln w="12700">
            <a:solidFill>
              <a:srgbClr val="3FB950"/>
            </a:solidFill>
            <a:prstDash val="solid"/>
          </a:ln>
        </p:spPr>
      </p:sp>
      <p:sp>
        <p:nvSpPr>
          <p:cNvPr id="12" name="Text 10"/>
          <p:cNvSpPr/>
          <p:nvPr/>
        </p:nvSpPr>
        <p:spPr>
          <a:xfrm>
            <a:off x="3520440" y="1261872"/>
            <a:ext cx="2468880" cy="320040"/>
          </a:xfrm>
          <a:prstGeom prst="rect">
            <a:avLst/>
          </a:prstGeom>
          <a:noFill/>
          <a:ln/>
        </p:spPr>
        <p:txBody>
          <a:bodyPr wrap="square" rtlCol="0" anchor="ctr"/>
          <a:lstStyle/>
          <a:p>
            <a:pPr marL="0" indent="0">
              <a:buNone/>
            </a:pPr>
            <a:r>
              <a:rPr lang="en-US" sz="1300" b="1" dirty="0">
                <a:solidFill>
                  <a:srgbClr val="3FB950"/>
                </a:solidFill>
                <a:latin typeface="Calibri" pitchFamily="34" charset="0"/>
                <a:ea typeface="Calibri" pitchFamily="34" charset="-122"/>
                <a:cs typeface="Calibri" pitchFamily="34" charset="-120"/>
              </a:rPr>
              <a:t>The Solution</a:t>
            </a:r>
            <a:endParaRPr lang="en-US" sz="1300" dirty="0"/>
          </a:p>
        </p:txBody>
      </p:sp>
      <p:sp>
        <p:nvSpPr>
          <p:cNvPr id="13" name="Text 11"/>
          <p:cNvSpPr/>
          <p:nvPr/>
        </p:nvSpPr>
        <p:spPr>
          <a:xfrm>
            <a:off x="3520440" y="1627632"/>
            <a:ext cx="2468880" cy="1920240"/>
          </a:xfrm>
          <a:prstGeom prst="rect">
            <a:avLst/>
          </a:prstGeom>
          <a:noFill/>
          <a:ln/>
        </p:spPr>
        <p:txBody>
          <a:bodyPr wrap="square" rtlCol="0" anchor="ctr"/>
          <a:lstStyle/>
          <a:p>
            <a:pPr marL="0" indent="0">
              <a:buNone/>
            </a:pPr>
            <a:r>
              <a:rPr lang="en-US" sz="1100" dirty="0">
                <a:solidFill>
                  <a:srgbClr val="8B949E"/>
                </a:solidFill>
                <a:latin typeface="Calibri" pitchFamily="34" charset="0"/>
                <a:ea typeface="Calibri" pitchFamily="34" charset="-122"/>
                <a:cs typeface="Calibri" pitchFamily="34" charset="-120"/>
              </a:rPr>
              <a:t>Sub-agents operate with heavily restricted context. They process a narrow slice of the codebase only, then return the distilled summary back to the main thread — clean and focused.</a:t>
            </a:r>
            <a:endParaRPr lang="en-US" sz="1100" dirty="0"/>
          </a:p>
        </p:txBody>
      </p:sp>
      <p:sp>
        <p:nvSpPr>
          <p:cNvPr id="14" name="Shape 12"/>
          <p:cNvSpPr/>
          <p:nvPr/>
        </p:nvSpPr>
        <p:spPr>
          <a:xfrm>
            <a:off x="6309360" y="1188720"/>
            <a:ext cx="2468880" cy="1051560"/>
          </a:xfrm>
          <a:prstGeom prst="rect">
            <a:avLst/>
          </a:prstGeom>
          <a:solidFill>
            <a:srgbClr val="161B22"/>
          </a:solidFill>
          <a:ln w="12700">
            <a:solidFill>
              <a:srgbClr val="007ACC"/>
            </a:solidFill>
            <a:prstDash val="solid"/>
          </a:ln>
        </p:spPr>
      </p:sp>
      <p:sp>
        <p:nvSpPr>
          <p:cNvPr id="15" name="Text 13"/>
          <p:cNvSpPr/>
          <p:nvPr/>
        </p:nvSpPr>
        <p:spPr>
          <a:xfrm>
            <a:off x="6446520" y="1261872"/>
            <a:ext cx="2194560" cy="274320"/>
          </a:xfrm>
          <a:prstGeom prst="rect">
            <a:avLst/>
          </a:prstGeom>
          <a:noFill/>
          <a:ln/>
        </p:spPr>
        <p:txBody>
          <a:bodyPr wrap="square" rtlCol="0" anchor="ctr"/>
          <a:lstStyle/>
          <a:p>
            <a:pPr marL="0" indent="0" algn="ctr">
              <a:buNone/>
            </a:pPr>
            <a:r>
              <a:rPr lang="en-US" sz="1100" b="1" dirty="0">
                <a:solidFill>
                  <a:srgbClr val="007ACC"/>
                </a:solidFill>
                <a:latin typeface="Calibri" pitchFamily="34" charset="0"/>
                <a:ea typeface="Calibri" pitchFamily="34" charset="-122"/>
                <a:cs typeface="Calibri" pitchFamily="34" charset="-120"/>
              </a:rPr>
              <a:t>Main Chat Session</a:t>
            </a:r>
            <a:endParaRPr lang="en-US" sz="1100" dirty="0"/>
          </a:p>
        </p:txBody>
      </p:sp>
      <p:sp>
        <p:nvSpPr>
          <p:cNvPr id="16" name="Text 14"/>
          <p:cNvSpPr/>
          <p:nvPr/>
        </p:nvSpPr>
        <p:spPr>
          <a:xfrm>
            <a:off x="6446520" y="1554480"/>
            <a:ext cx="2194560" cy="228600"/>
          </a:xfrm>
          <a:prstGeom prst="rect">
            <a:avLst/>
          </a:prstGeom>
          <a:noFill/>
          <a:ln/>
        </p:spPr>
        <p:txBody>
          <a:bodyPr wrap="square" rtlCol="0" anchor="ctr"/>
          <a:lstStyle/>
          <a:p>
            <a:pPr marL="0" indent="0" algn="ctr">
              <a:buNone/>
            </a:pPr>
            <a:r>
              <a:rPr lang="en-US" sz="900" dirty="0">
                <a:solidFill>
                  <a:srgbClr val="8B949E"/>
                </a:solidFill>
                <a:latin typeface="Consolas" pitchFamily="34" charset="0"/>
                <a:ea typeface="Consolas" pitchFamily="34" charset="-122"/>
                <a:cs typeface="Consolas" pitchFamily="34" charset="-120"/>
              </a:rPr>
              <a:t>Clean Master Context</a:t>
            </a:r>
            <a:endParaRPr lang="en-US" sz="900" dirty="0"/>
          </a:p>
        </p:txBody>
      </p:sp>
      <p:sp>
        <p:nvSpPr>
          <p:cNvPr id="17" name="Shape 15"/>
          <p:cNvSpPr/>
          <p:nvPr/>
        </p:nvSpPr>
        <p:spPr>
          <a:xfrm>
            <a:off x="6309360" y="2468880"/>
            <a:ext cx="1371600" cy="640080"/>
          </a:xfrm>
          <a:prstGeom prst="rect">
            <a:avLst/>
          </a:prstGeom>
          <a:solidFill>
            <a:srgbClr val="161B22"/>
          </a:solidFill>
          <a:ln w="12700">
            <a:solidFill>
              <a:srgbClr val="3FB950"/>
            </a:solidFill>
            <a:prstDash val="solid"/>
          </a:ln>
        </p:spPr>
      </p:sp>
      <p:sp>
        <p:nvSpPr>
          <p:cNvPr id="18" name="Text 16"/>
          <p:cNvSpPr/>
          <p:nvPr/>
        </p:nvSpPr>
        <p:spPr>
          <a:xfrm>
            <a:off x="6355080" y="2578608"/>
            <a:ext cx="1280160" cy="457200"/>
          </a:xfrm>
          <a:prstGeom prst="rect">
            <a:avLst/>
          </a:prstGeom>
          <a:noFill/>
          <a:ln/>
        </p:spPr>
        <p:txBody>
          <a:bodyPr wrap="square" rtlCol="0" anchor="ctr"/>
          <a:lstStyle/>
          <a:p>
            <a:pPr marL="0" indent="0" algn="ctr">
              <a:buNone/>
            </a:pPr>
            <a:r>
              <a:rPr lang="en-US" sz="900" b="1" dirty="0">
                <a:solidFill>
                  <a:srgbClr val="3FB950"/>
                </a:solidFill>
                <a:latin typeface="Calibri" pitchFamily="34" charset="0"/>
                <a:ea typeface="Calibri" pitchFamily="34" charset="-122"/>
                <a:cs typeface="Calibri" pitchFamily="34" charset="-120"/>
              </a:rPr>
              <a:t>Front-end</a:t>
            </a:r>
            <a:endParaRPr lang="en-US" sz="900" dirty="0"/>
          </a:p>
          <a:p>
            <a:pPr marL="0" indent="0" algn="ctr">
              <a:buNone/>
            </a:pPr>
            <a:r>
              <a:rPr lang="en-US" sz="900" b="1" dirty="0">
                <a:solidFill>
                  <a:srgbClr val="3FB950"/>
                </a:solidFill>
                <a:latin typeface="Calibri" pitchFamily="34" charset="0"/>
                <a:ea typeface="Calibri" pitchFamily="34" charset="-122"/>
                <a:cs typeface="Calibri" pitchFamily="34" charset="-120"/>
              </a:rPr>
              <a:t>Sub-Agent</a:t>
            </a:r>
            <a:endParaRPr lang="en-US" sz="900" dirty="0"/>
          </a:p>
        </p:txBody>
      </p:sp>
      <p:sp>
        <p:nvSpPr>
          <p:cNvPr id="19" name="Shape 17"/>
          <p:cNvSpPr/>
          <p:nvPr/>
        </p:nvSpPr>
        <p:spPr>
          <a:xfrm>
            <a:off x="7223760" y="3200400"/>
            <a:ext cx="1371600" cy="640080"/>
          </a:xfrm>
          <a:prstGeom prst="rect">
            <a:avLst/>
          </a:prstGeom>
          <a:solidFill>
            <a:srgbClr val="161B22"/>
          </a:solidFill>
          <a:ln w="12700">
            <a:solidFill>
              <a:srgbClr val="F78166"/>
            </a:solidFill>
            <a:prstDash val="solid"/>
          </a:ln>
        </p:spPr>
      </p:sp>
      <p:sp>
        <p:nvSpPr>
          <p:cNvPr id="20" name="Text 18"/>
          <p:cNvSpPr/>
          <p:nvPr/>
        </p:nvSpPr>
        <p:spPr>
          <a:xfrm>
            <a:off x="7269480" y="3310128"/>
            <a:ext cx="1280160" cy="457200"/>
          </a:xfrm>
          <a:prstGeom prst="rect">
            <a:avLst/>
          </a:prstGeom>
          <a:noFill/>
          <a:ln/>
        </p:spPr>
        <p:txBody>
          <a:bodyPr wrap="square" rtlCol="0" anchor="ctr"/>
          <a:lstStyle/>
          <a:p>
            <a:pPr marL="0" indent="0" algn="ctr">
              <a:buNone/>
            </a:pPr>
            <a:r>
              <a:rPr lang="en-US" sz="900" b="1" dirty="0">
                <a:solidFill>
                  <a:srgbClr val="F78166"/>
                </a:solidFill>
                <a:latin typeface="Calibri" pitchFamily="34" charset="0"/>
                <a:ea typeface="Calibri" pitchFamily="34" charset="-122"/>
                <a:cs typeface="Calibri" pitchFamily="34" charset="-120"/>
              </a:rPr>
              <a:t>Back-end</a:t>
            </a:r>
            <a:endParaRPr lang="en-US" sz="900" dirty="0"/>
          </a:p>
          <a:p>
            <a:pPr marL="0" indent="0" algn="ctr">
              <a:buNone/>
            </a:pPr>
            <a:r>
              <a:rPr lang="en-US" sz="900" b="1" dirty="0">
                <a:solidFill>
                  <a:srgbClr val="F78166"/>
                </a:solidFill>
                <a:latin typeface="Calibri" pitchFamily="34" charset="0"/>
                <a:ea typeface="Calibri" pitchFamily="34" charset="-122"/>
                <a:cs typeface="Calibri" pitchFamily="34" charset="-120"/>
              </a:rPr>
              <a:t>Sub-Agent</a:t>
            </a:r>
            <a:endParaRPr lang="en-US" sz="900" dirty="0"/>
          </a:p>
        </p:txBody>
      </p:sp>
      <p:sp>
        <p:nvSpPr>
          <p:cNvPr id="21" name="Shape 19"/>
          <p:cNvSpPr/>
          <p:nvPr/>
        </p:nvSpPr>
        <p:spPr>
          <a:xfrm>
            <a:off x="6309360" y="3840480"/>
            <a:ext cx="1371600" cy="640080"/>
          </a:xfrm>
          <a:prstGeom prst="rect">
            <a:avLst/>
          </a:prstGeom>
          <a:solidFill>
            <a:srgbClr val="161B22"/>
          </a:solidFill>
          <a:ln w="12700">
            <a:solidFill>
              <a:srgbClr val="BC8CFF"/>
            </a:solidFill>
            <a:prstDash val="solid"/>
          </a:ln>
        </p:spPr>
      </p:sp>
      <p:sp>
        <p:nvSpPr>
          <p:cNvPr id="22" name="Text 20"/>
          <p:cNvSpPr/>
          <p:nvPr/>
        </p:nvSpPr>
        <p:spPr>
          <a:xfrm>
            <a:off x="6355080" y="3950208"/>
            <a:ext cx="1280160" cy="457200"/>
          </a:xfrm>
          <a:prstGeom prst="rect">
            <a:avLst/>
          </a:prstGeom>
          <a:noFill/>
          <a:ln/>
        </p:spPr>
        <p:txBody>
          <a:bodyPr wrap="square" rtlCol="0" anchor="ctr"/>
          <a:lstStyle/>
          <a:p>
            <a:pPr marL="0" indent="0" algn="ctr">
              <a:buNone/>
            </a:pPr>
            <a:r>
              <a:rPr lang="en-US" sz="900" b="1" dirty="0">
                <a:solidFill>
                  <a:srgbClr val="BC8CFF"/>
                </a:solidFill>
                <a:latin typeface="Calibri" pitchFamily="34" charset="0"/>
                <a:ea typeface="Calibri" pitchFamily="34" charset="-122"/>
                <a:cs typeface="Calibri" pitchFamily="34" charset="-120"/>
              </a:rPr>
              <a:t>Database</a:t>
            </a:r>
            <a:endParaRPr lang="en-US" sz="900" dirty="0"/>
          </a:p>
          <a:p>
            <a:pPr marL="0" indent="0" algn="ctr">
              <a:buNone/>
            </a:pPr>
            <a:r>
              <a:rPr lang="en-US" sz="900" b="1" dirty="0">
                <a:solidFill>
                  <a:srgbClr val="BC8CFF"/>
                </a:solidFill>
                <a:latin typeface="Calibri" pitchFamily="34" charset="0"/>
                <a:ea typeface="Calibri" pitchFamily="34" charset="-122"/>
                <a:cs typeface="Calibri" pitchFamily="34" charset="-120"/>
              </a:rPr>
              <a:t>Sub-Agent</a:t>
            </a:r>
            <a:endParaRPr lang="en-US" sz="900" dirty="0"/>
          </a:p>
        </p:txBody>
      </p:sp>
      <p:sp>
        <p:nvSpPr>
          <p:cNvPr id="23" name="Shape 21"/>
          <p:cNvSpPr/>
          <p:nvPr/>
        </p:nvSpPr>
        <p:spPr>
          <a:xfrm>
            <a:off x="0" y="4960620"/>
            <a:ext cx="9144000" cy="182880"/>
          </a:xfrm>
          <a:prstGeom prst="rect">
            <a:avLst/>
          </a:prstGeom>
          <a:solidFill>
            <a:srgbClr val="161B22"/>
          </a:solidFill>
          <a:ln w="12700">
            <a:solidFill>
              <a:srgbClr val="30363D"/>
            </a:solidFill>
            <a:prstDash val="solid"/>
          </a:ln>
        </p:spPr>
      </p:sp>
      <p:sp>
        <p:nvSpPr>
          <p:cNvPr id="24" name="Text 22"/>
          <p:cNvSpPr/>
          <p:nvPr/>
        </p:nvSpPr>
        <p:spPr>
          <a:xfrm>
            <a:off x="274320" y="4965192"/>
            <a:ext cx="8595360" cy="164592"/>
          </a:xfrm>
          <a:prstGeom prst="rect">
            <a:avLst/>
          </a:prstGeom>
          <a:noFill/>
          <a:ln/>
        </p:spPr>
        <p:txBody>
          <a:bodyPr wrap="square" rtlCol="0" anchor="ctr"/>
          <a:lstStyle/>
          <a:p>
            <a:pPr marL="0" indent="0" algn="l">
              <a:buNone/>
            </a:pPr>
            <a:r>
              <a:rPr lang="en-US" sz="800" dirty="0">
                <a:solidFill>
                  <a:srgbClr val="484F58"/>
                </a:solidFill>
                <a:latin typeface="Consolas" pitchFamily="34" charset="0"/>
                <a:ea typeface="Consolas" pitchFamily="34" charset="-122"/>
                <a:cs typeface="Consolas" pitchFamily="34" charset="-120"/>
              </a:rPr>
              <a:t>Multi-Agent in VS Code  •  Developer Community</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007ACC"/>
          </a:solidFill>
          <a:ln w="12700">
            <a:solidFill>
              <a:srgbClr val="007ACC"/>
            </a:solidFill>
            <a:prstDash val="solid"/>
          </a:ln>
        </p:spPr>
      </p:sp>
      <p:sp>
        <p:nvSpPr>
          <p:cNvPr id="3" name="Text 1"/>
          <p:cNvSpPr/>
          <p:nvPr/>
        </p:nvSpPr>
        <p:spPr>
          <a:xfrm>
            <a:off x="457200" y="182880"/>
            <a:ext cx="8229600" cy="502920"/>
          </a:xfrm>
          <a:prstGeom prst="rect">
            <a:avLst/>
          </a:prstGeom>
          <a:noFill/>
          <a:ln/>
        </p:spPr>
        <p:txBody>
          <a:bodyPr wrap="square" lIns="0" tIns="0" rIns="0" bIns="0" rtlCol="0" anchor="ctr"/>
          <a:lstStyle/>
          <a:p>
            <a:pPr marL="0" indent="0">
              <a:buNone/>
            </a:pPr>
            <a:r>
              <a:rPr lang="en-US" sz="2200" b="1" dirty="0">
                <a:solidFill>
                  <a:srgbClr val="E6EDF3"/>
                </a:solidFill>
                <a:latin typeface="Calibri" pitchFamily="34" charset="0"/>
                <a:ea typeface="Calibri" pitchFamily="34" charset="-122"/>
                <a:cs typeface="Calibri" pitchFamily="34" charset="-120"/>
              </a:rPr>
              <a:t>Breaking the Text Barrier with MCP</a:t>
            </a:r>
            <a:endParaRPr lang="en-US" sz="2200" dirty="0"/>
          </a:p>
        </p:txBody>
      </p:sp>
      <p:sp>
        <p:nvSpPr>
          <p:cNvPr id="4" name="Text 2"/>
          <p:cNvSpPr/>
          <p:nvPr/>
        </p:nvSpPr>
        <p:spPr>
          <a:xfrm>
            <a:off x="457200" y="685800"/>
            <a:ext cx="8229600" cy="320040"/>
          </a:xfrm>
          <a:prstGeom prst="rect">
            <a:avLst/>
          </a:prstGeom>
          <a:noFill/>
          <a:ln/>
        </p:spPr>
        <p:txBody>
          <a:bodyPr wrap="square" lIns="0" tIns="0" rIns="0" bIns="0" rtlCol="0" anchor="ctr"/>
          <a:lstStyle/>
          <a:p>
            <a:pPr marL="0" indent="0">
              <a:buNone/>
            </a:pPr>
            <a:r>
              <a:rPr lang="en-US" sz="1200" dirty="0">
                <a:solidFill>
                  <a:srgbClr val="8B949E"/>
                </a:solidFill>
                <a:latin typeface="Calibri" pitchFamily="34" charset="0"/>
                <a:ea typeface="Calibri" pitchFamily="34" charset="-122"/>
                <a:cs typeface="Calibri" pitchFamily="34" charset="-120"/>
              </a:rPr>
              <a:t>Iterative autonomy via Model Context Protocol servers</a:t>
            </a:r>
            <a:endParaRPr lang="en-US" sz="1200" dirty="0"/>
          </a:p>
        </p:txBody>
      </p:sp>
      <p:sp>
        <p:nvSpPr>
          <p:cNvPr id="5" name="Shape 3"/>
          <p:cNvSpPr/>
          <p:nvPr/>
        </p:nvSpPr>
        <p:spPr>
          <a:xfrm>
            <a:off x="457200" y="1005840"/>
            <a:ext cx="8229600" cy="9144"/>
          </a:xfrm>
          <a:prstGeom prst="rect">
            <a:avLst/>
          </a:prstGeom>
          <a:solidFill>
            <a:srgbClr val="30363D"/>
          </a:solidFill>
          <a:ln w="12700">
            <a:solidFill>
              <a:srgbClr val="30363D"/>
            </a:solidFill>
            <a:prstDash val="solid"/>
          </a:ln>
        </p:spPr>
      </p:sp>
      <p:sp>
        <p:nvSpPr>
          <p:cNvPr id="6" name="Shape 4"/>
          <p:cNvSpPr/>
          <p:nvPr/>
        </p:nvSpPr>
        <p:spPr>
          <a:xfrm>
            <a:off x="365760" y="1371600"/>
            <a:ext cx="1920240" cy="1280160"/>
          </a:xfrm>
          <a:prstGeom prst="rect">
            <a:avLst/>
          </a:prstGeom>
          <a:solidFill>
            <a:srgbClr val="161B22"/>
          </a:solidFill>
          <a:ln w="12700">
            <a:solidFill>
              <a:srgbClr val="007ACC"/>
            </a:solidFill>
            <a:prstDash val="solid"/>
          </a:ln>
        </p:spPr>
      </p:sp>
      <p:sp>
        <p:nvSpPr>
          <p:cNvPr id="7" name="Text 5"/>
          <p:cNvSpPr/>
          <p:nvPr/>
        </p:nvSpPr>
        <p:spPr>
          <a:xfrm>
            <a:off x="365760" y="1463040"/>
            <a:ext cx="1920240" cy="457200"/>
          </a:xfrm>
          <a:prstGeom prst="rect">
            <a:avLst/>
          </a:prstGeom>
          <a:noFill/>
          <a:ln/>
        </p:spPr>
        <p:txBody>
          <a:bodyPr wrap="square" rtlCol="0" anchor="ctr"/>
          <a:lstStyle/>
          <a:p>
            <a:pPr marL="0" indent="0" algn="ctr">
              <a:buNone/>
            </a:pPr>
            <a:r>
              <a:rPr lang="en-US" sz="2000" dirty="0">
                <a:solidFill>
                  <a:srgbClr val="007ACC"/>
                </a:solidFill>
                <a:latin typeface="Calibri" pitchFamily="34" charset="0"/>
                <a:ea typeface="Calibri" pitchFamily="34" charset="-122"/>
                <a:cs typeface="Calibri" pitchFamily="34" charset="-120"/>
              </a:rPr>
              <a:t>✏</a:t>
            </a:r>
            <a:endParaRPr lang="en-US" sz="2000" dirty="0"/>
          </a:p>
        </p:txBody>
      </p:sp>
      <p:sp>
        <p:nvSpPr>
          <p:cNvPr id="8" name="Text 6"/>
          <p:cNvSpPr/>
          <p:nvPr/>
        </p:nvSpPr>
        <p:spPr>
          <a:xfrm>
            <a:off x="457200" y="1965960"/>
            <a:ext cx="1737360" cy="640080"/>
          </a:xfrm>
          <a:prstGeom prst="rect">
            <a:avLst/>
          </a:prstGeom>
          <a:noFill/>
          <a:ln/>
        </p:spPr>
        <p:txBody>
          <a:bodyPr wrap="square" rtlCol="0" anchor="ctr"/>
          <a:lstStyle/>
          <a:p>
            <a:pPr marL="0" indent="0" algn="ctr">
              <a:buNone/>
            </a:pPr>
            <a:r>
              <a:rPr lang="en-US" sz="1100" dirty="0">
                <a:solidFill>
                  <a:srgbClr val="E6EDF3"/>
                </a:solidFill>
                <a:latin typeface="Calibri" pitchFamily="34" charset="0"/>
                <a:ea typeface="Calibri" pitchFamily="34" charset="-122"/>
                <a:cs typeface="Calibri" pitchFamily="34" charset="-120"/>
              </a:rPr>
              <a:t>Agent writes</a:t>
            </a:r>
            <a:endParaRPr lang="en-US" sz="1100" dirty="0"/>
          </a:p>
          <a:p>
            <a:pPr marL="0" indent="0" algn="ctr">
              <a:buNone/>
            </a:pPr>
            <a:r>
              <a:rPr lang="en-US" sz="1100" dirty="0">
                <a:solidFill>
                  <a:srgbClr val="E6EDF3"/>
                </a:solidFill>
                <a:latin typeface="Calibri" pitchFamily="34" charset="0"/>
                <a:ea typeface="Calibri" pitchFamily="34" charset="-122"/>
                <a:cs typeface="Calibri" pitchFamily="34" charset="-120"/>
              </a:rPr>
              <a:t>feature code</a:t>
            </a:r>
            <a:endParaRPr lang="en-US" sz="1100" dirty="0"/>
          </a:p>
        </p:txBody>
      </p:sp>
      <p:sp>
        <p:nvSpPr>
          <p:cNvPr id="9" name="Shape 7"/>
          <p:cNvSpPr/>
          <p:nvPr/>
        </p:nvSpPr>
        <p:spPr>
          <a:xfrm>
            <a:off x="2286000" y="2011680"/>
            <a:ext cx="640080" cy="0"/>
          </a:xfrm>
          <a:prstGeom prst="line">
            <a:avLst/>
          </a:prstGeom>
          <a:noFill/>
          <a:ln w="25400">
            <a:solidFill>
              <a:srgbClr val="007ACC"/>
            </a:solidFill>
            <a:prstDash val="solid"/>
          </a:ln>
        </p:spPr>
      </p:sp>
      <p:sp>
        <p:nvSpPr>
          <p:cNvPr id="10" name="Shape 8"/>
          <p:cNvSpPr/>
          <p:nvPr/>
        </p:nvSpPr>
        <p:spPr>
          <a:xfrm>
            <a:off x="2560320" y="1371600"/>
            <a:ext cx="1920240" cy="1280160"/>
          </a:xfrm>
          <a:prstGeom prst="rect">
            <a:avLst/>
          </a:prstGeom>
          <a:solidFill>
            <a:srgbClr val="161B22"/>
          </a:solidFill>
          <a:ln w="12700">
            <a:solidFill>
              <a:srgbClr val="3FB950"/>
            </a:solidFill>
            <a:prstDash val="solid"/>
          </a:ln>
        </p:spPr>
      </p:sp>
      <p:sp>
        <p:nvSpPr>
          <p:cNvPr id="11" name="Text 9"/>
          <p:cNvSpPr/>
          <p:nvPr/>
        </p:nvSpPr>
        <p:spPr>
          <a:xfrm>
            <a:off x="2560320" y="1463040"/>
            <a:ext cx="1920240" cy="457200"/>
          </a:xfrm>
          <a:prstGeom prst="rect">
            <a:avLst/>
          </a:prstGeom>
          <a:noFill/>
          <a:ln/>
        </p:spPr>
        <p:txBody>
          <a:bodyPr wrap="square" rtlCol="0" anchor="ctr"/>
          <a:lstStyle/>
          <a:p>
            <a:pPr marL="0" indent="0" algn="ctr">
              <a:buNone/>
            </a:pPr>
            <a:r>
              <a:rPr lang="en-US" sz="2000" dirty="0">
                <a:solidFill>
                  <a:srgbClr val="3FB950"/>
                </a:solidFill>
                <a:latin typeface="Calibri" pitchFamily="34" charset="0"/>
                <a:ea typeface="Calibri" pitchFamily="34" charset="-122"/>
                <a:cs typeface="Calibri" pitchFamily="34" charset="-120"/>
              </a:rPr>
              <a:t>👁</a:t>
            </a:r>
            <a:endParaRPr lang="en-US" sz="2000" dirty="0"/>
          </a:p>
        </p:txBody>
      </p:sp>
      <p:sp>
        <p:nvSpPr>
          <p:cNvPr id="12" name="Text 10"/>
          <p:cNvSpPr/>
          <p:nvPr/>
        </p:nvSpPr>
        <p:spPr>
          <a:xfrm>
            <a:off x="2651760" y="1965960"/>
            <a:ext cx="1737360" cy="640080"/>
          </a:xfrm>
          <a:prstGeom prst="rect">
            <a:avLst/>
          </a:prstGeom>
          <a:noFill/>
          <a:ln/>
        </p:spPr>
        <p:txBody>
          <a:bodyPr wrap="square" rtlCol="0" anchor="ctr"/>
          <a:lstStyle/>
          <a:p>
            <a:pPr marL="0" indent="0" algn="ctr">
              <a:buNone/>
            </a:pPr>
            <a:r>
              <a:rPr lang="en-US" sz="1100" dirty="0">
                <a:solidFill>
                  <a:srgbClr val="E6EDF3"/>
                </a:solidFill>
                <a:latin typeface="Calibri" pitchFamily="34" charset="0"/>
                <a:ea typeface="Calibri" pitchFamily="34" charset="-122"/>
                <a:cs typeface="Calibri" pitchFamily="34" charset="-120"/>
              </a:rPr>
              <a:t>Agent visually</a:t>
            </a:r>
            <a:endParaRPr lang="en-US" sz="1100" dirty="0"/>
          </a:p>
          <a:p>
            <a:pPr marL="0" indent="0" algn="ctr">
              <a:buNone/>
            </a:pPr>
            <a:r>
              <a:rPr lang="en-US" sz="1100" dirty="0">
                <a:solidFill>
                  <a:srgbClr val="E6EDF3"/>
                </a:solidFill>
                <a:latin typeface="Calibri" pitchFamily="34" charset="0"/>
                <a:ea typeface="Calibri" pitchFamily="34" charset="-122"/>
                <a:cs typeface="Calibri" pitchFamily="34" charset="-120"/>
              </a:rPr>
              <a:t>reviews artifact &amp;</a:t>
            </a:r>
            <a:endParaRPr lang="en-US" sz="1100" dirty="0"/>
          </a:p>
          <a:p>
            <a:pPr marL="0" indent="0" algn="ctr">
              <a:buNone/>
            </a:pPr>
            <a:r>
              <a:rPr lang="en-US" sz="1100" dirty="0">
                <a:solidFill>
                  <a:srgbClr val="E6EDF3"/>
                </a:solidFill>
                <a:latin typeface="Calibri" pitchFamily="34" charset="0"/>
                <a:ea typeface="Calibri" pitchFamily="34" charset="-122"/>
                <a:cs typeface="Calibri" pitchFamily="34" charset="-120"/>
              </a:rPr>
              <a:t>self-corrects</a:t>
            </a:r>
            <a:endParaRPr lang="en-US" sz="1100" dirty="0"/>
          </a:p>
        </p:txBody>
      </p:sp>
      <p:sp>
        <p:nvSpPr>
          <p:cNvPr id="13" name="Shape 11"/>
          <p:cNvSpPr/>
          <p:nvPr/>
        </p:nvSpPr>
        <p:spPr>
          <a:xfrm>
            <a:off x="4480560" y="2011680"/>
            <a:ext cx="640080" cy="0"/>
          </a:xfrm>
          <a:prstGeom prst="line">
            <a:avLst/>
          </a:prstGeom>
          <a:noFill/>
          <a:ln w="25400">
            <a:solidFill>
              <a:srgbClr val="3FB950"/>
            </a:solidFill>
            <a:prstDash val="solid"/>
          </a:ln>
        </p:spPr>
      </p:sp>
      <p:sp>
        <p:nvSpPr>
          <p:cNvPr id="14" name="Shape 12"/>
          <p:cNvSpPr/>
          <p:nvPr/>
        </p:nvSpPr>
        <p:spPr>
          <a:xfrm>
            <a:off x="4754880" y="1371600"/>
            <a:ext cx="1920240" cy="1280160"/>
          </a:xfrm>
          <a:prstGeom prst="rect">
            <a:avLst/>
          </a:prstGeom>
          <a:solidFill>
            <a:srgbClr val="161B22"/>
          </a:solidFill>
          <a:ln w="12700">
            <a:solidFill>
              <a:srgbClr val="F78166"/>
            </a:solidFill>
            <a:prstDash val="solid"/>
          </a:ln>
        </p:spPr>
      </p:sp>
      <p:sp>
        <p:nvSpPr>
          <p:cNvPr id="15" name="Text 13"/>
          <p:cNvSpPr/>
          <p:nvPr/>
        </p:nvSpPr>
        <p:spPr>
          <a:xfrm>
            <a:off x="4754880" y="1463040"/>
            <a:ext cx="1920240" cy="457200"/>
          </a:xfrm>
          <a:prstGeom prst="rect">
            <a:avLst/>
          </a:prstGeom>
          <a:noFill/>
          <a:ln/>
        </p:spPr>
        <p:txBody>
          <a:bodyPr wrap="square" rtlCol="0" anchor="ctr"/>
          <a:lstStyle/>
          <a:p>
            <a:pPr marL="0" indent="0" algn="ctr">
              <a:buNone/>
            </a:pPr>
            <a:r>
              <a:rPr lang="en-US" sz="2000" dirty="0">
                <a:solidFill>
                  <a:srgbClr val="F78166"/>
                </a:solidFill>
                <a:latin typeface="Calibri" pitchFamily="34" charset="0"/>
                <a:ea typeface="Calibri" pitchFamily="34" charset="-122"/>
                <a:cs typeface="Calibri" pitchFamily="34" charset="-120"/>
              </a:rPr>
              <a:t>🔬</a:t>
            </a:r>
            <a:endParaRPr lang="en-US" sz="2000" dirty="0"/>
          </a:p>
        </p:txBody>
      </p:sp>
      <p:sp>
        <p:nvSpPr>
          <p:cNvPr id="16" name="Text 14"/>
          <p:cNvSpPr/>
          <p:nvPr/>
        </p:nvSpPr>
        <p:spPr>
          <a:xfrm>
            <a:off x="4846320" y="1965960"/>
            <a:ext cx="1737360" cy="640080"/>
          </a:xfrm>
          <a:prstGeom prst="rect">
            <a:avLst/>
          </a:prstGeom>
          <a:noFill/>
          <a:ln/>
        </p:spPr>
        <p:txBody>
          <a:bodyPr wrap="square" rtlCol="0" anchor="ctr"/>
          <a:lstStyle/>
          <a:p>
            <a:pPr marL="0" indent="0" algn="ctr">
              <a:buNone/>
            </a:pPr>
            <a:r>
              <a:rPr lang="en-US" sz="1100" dirty="0">
                <a:solidFill>
                  <a:srgbClr val="E6EDF3"/>
                </a:solidFill>
                <a:latin typeface="Calibri" pitchFamily="34" charset="0"/>
                <a:ea typeface="Calibri" pitchFamily="34" charset="-122"/>
                <a:cs typeface="Calibri" pitchFamily="34" charset="-120"/>
              </a:rPr>
              <a:t>Agent writes</a:t>
            </a:r>
            <a:endParaRPr lang="en-US" sz="1100" dirty="0"/>
          </a:p>
          <a:p>
            <a:pPr marL="0" indent="0" algn="ctr">
              <a:buNone/>
            </a:pPr>
            <a:r>
              <a:rPr lang="en-US" sz="1100" dirty="0">
                <a:solidFill>
                  <a:srgbClr val="E6EDF3"/>
                </a:solidFill>
                <a:latin typeface="Calibri" pitchFamily="34" charset="0"/>
                <a:ea typeface="Calibri" pitchFamily="34" charset="-122"/>
                <a:cs typeface="Calibri" pitchFamily="34" charset="-120"/>
              </a:rPr>
              <a:t>artifact E2E test</a:t>
            </a:r>
            <a:endParaRPr lang="en-US" sz="1100" dirty="0"/>
          </a:p>
        </p:txBody>
      </p:sp>
      <p:sp>
        <p:nvSpPr>
          <p:cNvPr id="17" name="Shape 15"/>
          <p:cNvSpPr/>
          <p:nvPr/>
        </p:nvSpPr>
        <p:spPr>
          <a:xfrm>
            <a:off x="6675120" y="2011680"/>
            <a:ext cx="640080" cy="0"/>
          </a:xfrm>
          <a:prstGeom prst="line">
            <a:avLst/>
          </a:prstGeom>
          <a:noFill/>
          <a:ln w="25400">
            <a:solidFill>
              <a:srgbClr val="F78166"/>
            </a:solidFill>
            <a:prstDash val="solid"/>
          </a:ln>
        </p:spPr>
      </p:sp>
      <p:sp>
        <p:nvSpPr>
          <p:cNvPr id="18" name="Shape 16"/>
          <p:cNvSpPr/>
          <p:nvPr/>
        </p:nvSpPr>
        <p:spPr>
          <a:xfrm>
            <a:off x="6949440" y="1371600"/>
            <a:ext cx="1920240" cy="1280160"/>
          </a:xfrm>
          <a:prstGeom prst="rect">
            <a:avLst/>
          </a:prstGeom>
          <a:solidFill>
            <a:srgbClr val="161B22"/>
          </a:solidFill>
          <a:ln w="12700">
            <a:solidFill>
              <a:srgbClr val="BC8CFF"/>
            </a:solidFill>
            <a:prstDash val="solid"/>
          </a:ln>
        </p:spPr>
      </p:sp>
      <p:sp>
        <p:nvSpPr>
          <p:cNvPr id="19" name="Text 17"/>
          <p:cNvSpPr/>
          <p:nvPr/>
        </p:nvSpPr>
        <p:spPr>
          <a:xfrm>
            <a:off x="6949440" y="1463040"/>
            <a:ext cx="1920240" cy="457200"/>
          </a:xfrm>
          <a:prstGeom prst="rect">
            <a:avLst/>
          </a:prstGeom>
          <a:noFill/>
          <a:ln/>
        </p:spPr>
        <p:txBody>
          <a:bodyPr wrap="square" rtlCol="0" anchor="ctr"/>
          <a:lstStyle/>
          <a:p>
            <a:pPr marL="0" indent="0" algn="ctr">
              <a:buNone/>
            </a:pPr>
            <a:r>
              <a:rPr lang="en-US" sz="2000" dirty="0">
                <a:solidFill>
                  <a:srgbClr val="BC8CFF"/>
                </a:solidFill>
                <a:latin typeface="Calibri" pitchFamily="34" charset="0"/>
                <a:ea typeface="Calibri" pitchFamily="34" charset="-122"/>
                <a:cs typeface="Calibri" pitchFamily="34" charset="-120"/>
              </a:rPr>
              <a:t>▶</a:t>
            </a:r>
            <a:endParaRPr lang="en-US" sz="2000" dirty="0"/>
          </a:p>
        </p:txBody>
      </p:sp>
      <p:sp>
        <p:nvSpPr>
          <p:cNvPr id="20" name="Text 18"/>
          <p:cNvSpPr/>
          <p:nvPr/>
        </p:nvSpPr>
        <p:spPr>
          <a:xfrm>
            <a:off x="7040880" y="1965960"/>
            <a:ext cx="1737360" cy="640080"/>
          </a:xfrm>
          <a:prstGeom prst="rect">
            <a:avLst/>
          </a:prstGeom>
          <a:noFill/>
          <a:ln/>
        </p:spPr>
        <p:txBody>
          <a:bodyPr wrap="square" rtlCol="0" anchor="ctr"/>
          <a:lstStyle/>
          <a:p>
            <a:pPr marL="0" indent="0" algn="ctr">
              <a:buNone/>
            </a:pPr>
            <a:r>
              <a:rPr lang="en-US" sz="1100" dirty="0">
                <a:solidFill>
                  <a:srgbClr val="E6EDF3"/>
                </a:solidFill>
                <a:latin typeface="Calibri" pitchFamily="34" charset="0"/>
                <a:ea typeface="Calibri" pitchFamily="34" charset="-122"/>
                <a:cs typeface="Calibri" pitchFamily="34" charset="-120"/>
              </a:rPr>
              <a:t>MCP Server</a:t>
            </a:r>
            <a:endParaRPr lang="en-US" sz="1100" dirty="0"/>
          </a:p>
          <a:p>
            <a:pPr marL="0" indent="0" algn="ctr">
              <a:buNone/>
            </a:pPr>
            <a:r>
              <a:rPr lang="en-US" sz="1100" dirty="0">
                <a:solidFill>
                  <a:srgbClr val="E6EDF3"/>
                </a:solidFill>
                <a:latin typeface="Calibri" pitchFamily="34" charset="0"/>
                <a:ea typeface="Calibri" pitchFamily="34" charset="-122"/>
                <a:cs typeface="Calibri" pitchFamily="34" charset="-120"/>
              </a:rPr>
              <a:t>Launches test</a:t>
            </a:r>
            <a:endParaRPr lang="en-US" sz="1100" dirty="0"/>
          </a:p>
        </p:txBody>
      </p:sp>
      <p:sp>
        <p:nvSpPr>
          <p:cNvPr id="21" name="Shape 19"/>
          <p:cNvSpPr/>
          <p:nvPr/>
        </p:nvSpPr>
        <p:spPr>
          <a:xfrm>
            <a:off x="365760" y="2834640"/>
            <a:ext cx="8412480" cy="457200"/>
          </a:xfrm>
          <a:prstGeom prst="rect">
            <a:avLst/>
          </a:prstGeom>
          <a:solidFill>
            <a:srgbClr val="0A0A1A"/>
          </a:solidFill>
          <a:ln w="12700">
            <a:solidFill>
              <a:srgbClr val="BC8CFF"/>
            </a:solidFill>
            <a:prstDash val="solid"/>
          </a:ln>
        </p:spPr>
      </p:sp>
      <p:sp>
        <p:nvSpPr>
          <p:cNvPr id="22" name="Text 20"/>
          <p:cNvSpPr/>
          <p:nvPr/>
        </p:nvSpPr>
        <p:spPr>
          <a:xfrm>
            <a:off x="548640" y="2907792"/>
            <a:ext cx="8046720" cy="320040"/>
          </a:xfrm>
          <a:prstGeom prst="rect">
            <a:avLst/>
          </a:prstGeom>
          <a:noFill/>
          <a:ln/>
        </p:spPr>
        <p:txBody>
          <a:bodyPr wrap="square" rtlCol="0" anchor="ctr"/>
          <a:lstStyle/>
          <a:p>
            <a:pPr marL="0" indent="0" algn="ctr">
              <a:buNone/>
            </a:pPr>
            <a:r>
              <a:rPr lang="en-US" sz="1100" dirty="0">
                <a:solidFill>
                  <a:srgbClr val="BC8CFF"/>
                </a:solidFill>
                <a:latin typeface="Consolas" pitchFamily="34" charset="0"/>
                <a:ea typeface="Consolas" pitchFamily="34" charset="-122"/>
                <a:cs typeface="Consolas" pitchFamily="34" charset="-120"/>
              </a:rPr>
              <a:t>↩  Loop: MCP Generates Artifact → MCP Server Launches → Failure triggers re-write → Pass proceeds</a:t>
            </a:r>
            <a:endParaRPr lang="en-US" sz="1100" dirty="0"/>
          </a:p>
        </p:txBody>
      </p:sp>
      <p:sp>
        <p:nvSpPr>
          <p:cNvPr id="23" name="Shape 21"/>
          <p:cNvSpPr/>
          <p:nvPr/>
        </p:nvSpPr>
        <p:spPr>
          <a:xfrm>
            <a:off x="365760" y="3429000"/>
            <a:ext cx="8412480" cy="914400"/>
          </a:xfrm>
          <a:prstGeom prst="rect">
            <a:avLst/>
          </a:prstGeom>
          <a:solidFill>
            <a:srgbClr val="161B22"/>
          </a:solidFill>
          <a:ln w="12700">
            <a:solidFill>
              <a:srgbClr val="30363D"/>
            </a:solidFill>
            <a:prstDash val="solid"/>
          </a:ln>
        </p:spPr>
      </p:sp>
      <p:sp>
        <p:nvSpPr>
          <p:cNvPr id="24" name="Text 22"/>
          <p:cNvSpPr/>
          <p:nvPr/>
        </p:nvSpPr>
        <p:spPr>
          <a:xfrm>
            <a:off x="548640" y="3547872"/>
            <a:ext cx="8046720" cy="685800"/>
          </a:xfrm>
          <a:prstGeom prst="rect">
            <a:avLst/>
          </a:prstGeom>
          <a:noFill/>
          <a:ln/>
        </p:spPr>
        <p:txBody>
          <a:bodyPr wrap="square" rtlCol="0" anchor="ctr"/>
          <a:lstStyle/>
          <a:p>
            <a:pPr marL="0" indent="0">
              <a:buNone/>
            </a:pPr>
            <a:r>
              <a:rPr lang="en-US" sz="1200" dirty="0">
                <a:solidFill>
                  <a:srgbClr val="8B949E"/>
                </a:solidFill>
                <a:latin typeface="Calibri" pitchFamily="34" charset="0"/>
                <a:ea typeface="Calibri" pitchFamily="34" charset="-122"/>
                <a:cs typeface="Calibri" pitchFamily="34" charset="-120"/>
              </a:rPr>
              <a:t>Code generation is insufficient if the agent cannot validate the output. Model Context Protocol (MCP) servers give agents native access to external compilation tools and visual artifacts, enabling true iterative autonomy.</a:t>
            </a:r>
            <a:endParaRPr lang="en-US" sz="1200" dirty="0"/>
          </a:p>
        </p:txBody>
      </p:sp>
      <p:sp>
        <p:nvSpPr>
          <p:cNvPr id="25" name="Shape 23"/>
          <p:cNvSpPr/>
          <p:nvPr/>
        </p:nvSpPr>
        <p:spPr>
          <a:xfrm>
            <a:off x="365760" y="4507992"/>
            <a:ext cx="1645920" cy="228600"/>
          </a:xfrm>
          <a:prstGeom prst="roundRect">
            <a:avLst>
              <a:gd name="adj" fmla="val 20000"/>
            </a:avLst>
          </a:prstGeom>
          <a:solidFill>
            <a:srgbClr val="00A3E0">
              <a:alpha val="30000"/>
            </a:srgbClr>
          </a:solidFill>
          <a:ln w="12700">
            <a:solidFill>
              <a:srgbClr val="00A3E0"/>
            </a:solidFill>
            <a:prstDash val="solid"/>
          </a:ln>
        </p:spPr>
      </p:sp>
      <p:sp>
        <p:nvSpPr>
          <p:cNvPr id="26" name="Text 24"/>
          <p:cNvSpPr/>
          <p:nvPr/>
        </p:nvSpPr>
        <p:spPr>
          <a:xfrm>
            <a:off x="365760" y="4507992"/>
            <a:ext cx="1645920" cy="228600"/>
          </a:xfrm>
          <a:prstGeom prst="rect">
            <a:avLst/>
          </a:prstGeom>
          <a:noFill/>
          <a:ln/>
        </p:spPr>
        <p:txBody>
          <a:bodyPr wrap="square" lIns="0" tIns="0" rIns="0" bIns="0" rtlCol="0" anchor="ctr"/>
          <a:lstStyle/>
          <a:p>
            <a:pPr marL="0" indent="0" algn="ctr">
              <a:buNone/>
            </a:pPr>
            <a:r>
              <a:rPr lang="en-US" sz="900" b="1" dirty="0">
                <a:solidFill>
                  <a:srgbClr val="00A3E0"/>
                </a:solidFill>
                <a:latin typeface="Consolas" pitchFamily="34" charset="0"/>
                <a:ea typeface="Consolas" pitchFamily="34" charset="-122"/>
                <a:cs typeface="Consolas" pitchFamily="34" charset="-120"/>
              </a:rPr>
              <a:t>Screenshot Tool</a:t>
            </a:r>
            <a:endParaRPr lang="en-US" sz="900" dirty="0"/>
          </a:p>
        </p:txBody>
      </p:sp>
      <p:sp>
        <p:nvSpPr>
          <p:cNvPr id="27" name="Shape 25"/>
          <p:cNvSpPr/>
          <p:nvPr/>
        </p:nvSpPr>
        <p:spPr>
          <a:xfrm>
            <a:off x="1828800" y="4507992"/>
            <a:ext cx="1645920" cy="228600"/>
          </a:xfrm>
          <a:prstGeom prst="roundRect">
            <a:avLst>
              <a:gd name="adj" fmla="val 20000"/>
            </a:avLst>
          </a:prstGeom>
          <a:solidFill>
            <a:srgbClr val="00A3E0">
              <a:alpha val="30000"/>
            </a:srgbClr>
          </a:solidFill>
          <a:ln w="12700">
            <a:solidFill>
              <a:srgbClr val="00A3E0"/>
            </a:solidFill>
            <a:prstDash val="solid"/>
          </a:ln>
        </p:spPr>
      </p:sp>
      <p:sp>
        <p:nvSpPr>
          <p:cNvPr id="28" name="Text 26"/>
          <p:cNvSpPr/>
          <p:nvPr/>
        </p:nvSpPr>
        <p:spPr>
          <a:xfrm>
            <a:off x="1828800" y="4507992"/>
            <a:ext cx="1645920" cy="228600"/>
          </a:xfrm>
          <a:prstGeom prst="rect">
            <a:avLst/>
          </a:prstGeom>
          <a:noFill/>
          <a:ln/>
        </p:spPr>
        <p:txBody>
          <a:bodyPr wrap="square" lIns="0" tIns="0" rIns="0" bIns="0" rtlCol="0" anchor="ctr"/>
          <a:lstStyle/>
          <a:p>
            <a:pPr marL="0" indent="0" algn="ctr">
              <a:buNone/>
            </a:pPr>
            <a:r>
              <a:rPr lang="en-US" sz="900" b="1" dirty="0">
                <a:solidFill>
                  <a:srgbClr val="00A3E0"/>
                </a:solidFill>
                <a:latin typeface="Consolas" pitchFamily="34" charset="0"/>
                <a:ea typeface="Consolas" pitchFamily="34" charset="-122"/>
                <a:cs typeface="Consolas" pitchFamily="34" charset="-120"/>
              </a:rPr>
              <a:t>Browser Control</a:t>
            </a:r>
            <a:endParaRPr lang="en-US" sz="900" dirty="0"/>
          </a:p>
        </p:txBody>
      </p:sp>
      <p:sp>
        <p:nvSpPr>
          <p:cNvPr id="29" name="Shape 27"/>
          <p:cNvSpPr/>
          <p:nvPr/>
        </p:nvSpPr>
        <p:spPr>
          <a:xfrm>
            <a:off x="3291840" y="4507992"/>
            <a:ext cx="1645920" cy="228600"/>
          </a:xfrm>
          <a:prstGeom prst="roundRect">
            <a:avLst>
              <a:gd name="adj" fmla="val 20000"/>
            </a:avLst>
          </a:prstGeom>
          <a:solidFill>
            <a:srgbClr val="00A3E0">
              <a:alpha val="30000"/>
            </a:srgbClr>
          </a:solidFill>
          <a:ln w="12700">
            <a:solidFill>
              <a:srgbClr val="00A3E0"/>
            </a:solidFill>
            <a:prstDash val="solid"/>
          </a:ln>
        </p:spPr>
      </p:sp>
      <p:sp>
        <p:nvSpPr>
          <p:cNvPr id="30" name="Text 28"/>
          <p:cNvSpPr/>
          <p:nvPr/>
        </p:nvSpPr>
        <p:spPr>
          <a:xfrm>
            <a:off x="3291840" y="4507992"/>
            <a:ext cx="1645920" cy="228600"/>
          </a:xfrm>
          <a:prstGeom prst="rect">
            <a:avLst/>
          </a:prstGeom>
          <a:noFill/>
          <a:ln/>
        </p:spPr>
        <p:txBody>
          <a:bodyPr wrap="square" lIns="0" tIns="0" rIns="0" bIns="0" rtlCol="0" anchor="ctr"/>
          <a:lstStyle/>
          <a:p>
            <a:pPr marL="0" indent="0" algn="ctr">
              <a:buNone/>
            </a:pPr>
            <a:r>
              <a:rPr lang="en-US" sz="900" b="1" dirty="0">
                <a:solidFill>
                  <a:srgbClr val="00A3E0"/>
                </a:solidFill>
                <a:latin typeface="Consolas" pitchFamily="34" charset="0"/>
                <a:ea typeface="Consolas" pitchFamily="34" charset="-122"/>
                <a:cs typeface="Consolas" pitchFamily="34" charset="-120"/>
              </a:rPr>
              <a:t>Terminal / Exec</a:t>
            </a:r>
            <a:endParaRPr lang="en-US" sz="900" dirty="0"/>
          </a:p>
        </p:txBody>
      </p:sp>
      <p:sp>
        <p:nvSpPr>
          <p:cNvPr id="31" name="Shape 29"/>
          <p:cNvSpPr/>
          <p:nvPr/>
        </p:nvSpPr>
        <p:spPr>
          <a:xfrm>
            <a:off x="4754880" y="4507992"/>
            <a:ext cx="1920240" cy="228600"/>
          </a:xfrm>
          <a:prstGeom prst="roundRect">
            <a:avLst>
              <a:gd name="adj" fmla="val 20000"/>
            </a:avLst>
          </a:prstGeom>
          <a:solidFill>
            <a:srgbClr val="00A3E0">
              <a:alpha val="30000"/>
            </a:srgbClr>
          </a:solidFill>
          <a:ln w="12700">
            <a:solidFill>
              <a:srgbClr val="00A3E0"/>
            </a:solidFill>
            <a:prstDash val="solid"/>
          </a:ln>
        </p:spPr>
      </p:sp>
      <p:sp>
        <p:nvSpPr>
          <p:cNvPr id="32" name="Text 30"/>
          <p:cNvSpPr/>
          <p:nvPr/>
        </p:nvSpPr>
        <p:spPr>
          <a:xfrm>
            <a:off x="4754880" y="4507992"/>
            <a:ext cx="1920240" cy="228600"/>
          </a:xfrm>
          <a:prstGeom prst="rect">
            <a:avLst/>
          </a:prstGeom>
          <a:noFill/>
          <a:ln/>
        </p:spPr>
        <p:txBody>
          <a:bodyPr wrap="square" lIns="0" tIns="0" rIns="0" bIns="0" rtlCol="0" anchor="ctr"/>
          <a:lstStyle/>
          <a:p>
            <a:pPr marL="0" indent="0" algn="ctr">
              <a:buNone/>
            </a:pPr>
            <a:r>
              <a:rPr lang="en-US" sz="900" b="1" dirty="0">
                <a:solidFill>
                  <a:srgbClr val="00A3E0"/>
                </a:solidFill>
                <a:latin typeface="Consolas" pitchFamily="34" charset="0"/>
                <a:ea typeface="Consolas" pitchFamily="34" charset="-122"/>
                <a:cs typeface="Consolas" pitchFamily="34" charset="-120"/>
              </a:rPr>
              <a:t>Linter / Formatter</a:t>
            </a:r>
            <a:endParaRPr lang="en-US" sz="900" dirty="0"/>
          </a:p>
        </p:txBody>
      </p:sp>
      <p:sp>
        <p:nvSpPr>
          <p:cNvPr id="33" name="Shape 31"/>
          <p:cNvSpPr/>
          <p:nvPr/>
        </p:nvSpPr>
        <p:spPr>
          <a:xfrm>
            <a:off x="6217920" y="4507992"/>
            <a:ext cx="1280160" cy="228600"/>
          </a:xfrm>
          <a:prstGeom prst="roundRect">
            <a:avLst>
              <a:gd name="adj" fmla="val 20000"/>
            </a:avLst>
          </a:prstGeom>
          <a:solidFill>
            <a:srgbClr val="00A3E0">
              <a:alpha val="30000"/>
            </a:srgbClr>
          </a:solidFill>
          <a:ln w="12700">
            <a:solidFill>
              <a:srgbClr val="00A3E0"/>
            </a:solidFill>
            <a:prstDash val="solid"/>
          </a:ln>
        </p:spPr>
      </p:sp>
      <p:sp>
        <p:nvSpPr>
          <p:cNvPr id="34" name="Text 32"/>
          <p:cNvSpPr/>
          <p:nvPr/>
        </p:nvSpPr>
        <p:spPr>
          <a:xfrm>
            <a:off x="6217920" y="4507992"/>
            <a:ext cx="1280160" cy="228600"/>
          </a:xfrm>
          <a:prstGeom prst="rect">
            <a:avLst/>
          </a:prstGeom>
          <a:noFill/>
          <a:ln/>
        </p:spPr>
        <p:txBody>
          <a:bodyPr wrap="square" lIns="0" tIns="0" rIns="0" bIns="0" rtlCol="0" anchor="ctr"/>
          <a:lstStyle/>
          <a:p>
            <a:pPr marL="0" indent="0" algn="ctr">
              <a:buNone/>
            </a:pPr>
            <a:r>
              <a:rPr lang="en-US" sz="900" b="1" dirty="0">
                <a:solidFill>
                  <a:srgbClr val="00A3E0"/>
                </a:solidFill>
                <a:latin typeface="Consolas" pitchFamily="34" charset="0"/>
                <a:ea typeface="Consolas" pitchFamily="34" charset="-122"/>
                <a:cs typeface="Consolas" pitchFamily="34" charset="-120"/>
              </a:rPr>
              <a:t>Test Runner</a:t>
            </a:r>
            <a:endParaRPr lang="en-US" sz="900" dirty="0"/>
          </a:p>
        </p:txBody>
      </p:sp>
      <p:sp>
        <p:nvSpPr>
          <p:cNvPr id="35" name="Shape 33"/>
          <p:cNvSpPr/>
          <p:nvPr/>
        </p:nvSpPr>
        <p:spPr>
          <a:xfrm>
            <a:off x="7680960" y="4507992"/>
            <a:ext cx="1737360" cy="228600"/>
          </a:xfrm>
          <a:prstGeom prst="roundRect">
            <a:avLst>
              <a:gd name="adj" fmla="val 20000"/>
            </a:avLst>
          </a:prstGeom>
          <a:solidFill>
            <a:srgbClr val="00A3E0">
              <a:alpha val="30000"/>
            </a:srgbClr>
          </a:solidFill>
          <a:ln w="12700">
            <a:solidFill>
              <a:srgbClr val="00A3E0"/>
            </a:solidFill>
            <a:prstDash val="solid"/>
          </a:ln>
        </p:spPr>
      </p:sp>
      <p:sp>
        <p:nvSpPr>
          <p:cNvPr id="36" name="Text 34"/>
          <p:cNvSpPr/>
          <p:nvPr/>
        </p:nvSpPr>
        <p:spPr>
          <a:xfrm>
            <a:off x="7680960" y="4507992"/>
            <a:ext cx="1737360" cy="228600"/>
          </a:xfrm>
          <a:prstGeom prst="rect">
            <a:avLst/>
          </a:prstGeom>
          <a:noFill/>
          <a:ln/>
        </p:spPr>
        <p:txBody>
          <a:bodyPr wrap="square" lIns="0" tIns="0" rIns="0" bIns="0" rtlCol="0" anchor="ctr"/>
          <a:lstStyle/>
          <a:p>
            <a:pPr marL="0" indent="0" algn="ctr">
              <a:buNone/>
            </a:pPr>
            <a:r>
              <a:rPr lang="en-US" sz="900" b="1" dirty="0">
                <a:solidFill>
                  <a:srgbClr val="00A3E0"/>
                </a:solidFill>
                <a:latin typeface="Consolas" pitchFamily="34" charset="0"/>
                <a:ea typeface="Consolas" pitchFamily="34" charset="-122"/>
                <a:cs typeface="Consolas" pitchFamily="34" charset="-120"/>
              </a:rPr>
              <a:t>Error Log Reader</a:t>
            </a:r>
            <a:endParaRPr lang="en-US" sz="900" dirty="0"/>
          </a:p>
        </p:txBody>
      </p:sp>
      <p:sp>
        <p:nvSpPr>
          <p:cNvPr id="37" name="Shape 35"/>
          <p:cNvSpPr/>
          <p:nvPr/>
        </p:nvSpPr>
        <p:spPr>
          <a:xfrm>
            <a:off x="0" y="4960620"/>
            <a:ext cx="9144000" cy="182880"/>
          </a:xfrm>
          <a:prstGeom prst="rect">
            <a:avLst/>
          </a:prstGeom>
          <a:solidFill>
            <a:srgbClr val="161B22"/>
          </a:solidFill>
          <a:ln w="12700">
            <a:solidFill>
              <a:srgbClr val="30363D"/>
            </a:solidFill>
            <a:prstDash val="solid"/>
          </a:ln>
        </p:spPr>
      </p:sp>
      <p:sp>
        <p:nvSpPr>
          <p:cNvPr id="38" name="Text 36"/>
          <p:cNvSpPr/>
          <p:nvPr/>
        </p:nvSpPr>
        <p:spPr>
          <a:xfrm>
            <a:off x="274320" y="4965192"/>
            <a:ext cx="8595360" cy="164592"/>
          </a:xfrm>
          <a:prstGeom prst="rect">
            <a:avLst/>
          </a:prstGeom>
          <a:noFill/>
          <a:ln/>
        </p:spPr>
        <p:txBody>
          <a:bodyPr wrap="square" rtlCol="0" anchor="ctr"/>
          <a:lstStyle/>
          <a:p>
            <a:pPr marL="0" indent="0" algn="l">
              <a:buNone/>
            </a:pPr>
            <a:r>
              <a:rPr lang="en-US" sz="800" dirty="0">
                <a:solidFill>
                  <a:srgbClr val="484F58"/>
                </a:solidFill>
                <a:latin typeface="Consolas" pitchFamily="34" charset="0"/>
                <a:ea typeface="Consolas" pitchFamily="34" charset="-122"/>
                <a:cs typeface="Consolas" pitchFamily="34" charset="-120"/>
              </a:rPr>
              <a:t>Multi-Agent in VS Code  •  Developer Community</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007ACC"/>
          </a:solidFill>
          <a:ln w="12700">
            <a:solidFill>
              <a:srgbClr val="007ACC"/>
            </a:solidFill>
            <a:prstDash val="solid"/>
          </a:ln>
        </p:spPr>
      </p:sp>
      <p:sp>
        <p:nvSpPr>
          <p:cNvPr id="3" name="Text 1"/>
          <p:cNvSpPr/>
          <p:nvPr/>
        </p:nvSpPr>
        <p:spPr>
          <a:xfrm>
            <a:off x="457200" y="182880"/>
            <a:ext cx="8229600" cy="502920"/>
          </a:xfrm>
          <a:prstGeom prst="rect">
            <a:avLst/>
          </a:prstGeom>
          <a:noFill/>
          <a:ln/>
        </p:spPr>
        <p:txBody>
          <a:bodyPr wrap="square" lIns="0" tIns="0" rIns="0" bIns="0" rtlCol="0" anchor="ctr"/>
          <a:lstStyle/>
          <a:p>
            <a:pPr marL="0" indent="0">
              <a:buNone/>
            </a:pPr>
            <a:r>
              <a:rPr lang="en-US" sz="2200" b="1" dirty="0">
                <a:solidFill>
                  <a:srgbClr val="E6EDF3"/>
                </a:solidFill>
                <a:latin typeface="Calibri" pitchFamily="34" charset="0"/>
                <a:ea typeface="Calibri" pitchFamily="34" charset="-122"/>
                <a:cs typeface="Calibri" pitchFamily="34" charset="-120"/>
              </a:rPr>
              <a:t>Wiring Up Your First MCP Server in VS Code</a:t>
            </a:r>
            <a:endParaRPr lang="en-US" sz="2200" dirty="0"/>
          </a:p>
        </p:txBody>
      </p:sp>
      <p:sp>
        <p:nvSpPr>
          <p:cNvPr id="4" name="Text 2"/>
          <p:cNvSpPr/>
          <p:nvPr/>
        </p:nvSpPr>
        <p:spPr>
          <a:xfrm>
            <a:off x="457200" y="685800"/>
            <a:ext cx="8229600" cy="320040"/>
          </a:xfrm>
          <a:prstGeom prst="rect">
            <a:avLst/>
          </a:prstGeom>
          <a:noFill/>
          <a:ln/>
        </p:spPr>
        <p:txBody>
          <a:bodyPr wrap="square" lIns="0" tIns="0" rIns="0" bIns="0" rtlCol="0" anchor="ctr"/>
          <a:lstStyle/>
          <a:p>
            <a:pPr marL="0" indent="0">
              <a:buNone/>
            </a:pPr>
            <a:r>
              <a:rPr lang="en-US" sz="1200" dirty="0">
                <a:solidFill>
                  <a:srgbClr val="8B949E"/>
                </a:solidFill>
                <a:latin typeface="Calibri" pitchFamily="34" charset="0"/>
                <a:ea typeface="Calibri" pitchFamily="34" charset="-122"/>
                <a:cs typeface="Calibri" pitchFamily="34" charset="-120"/>
              </a:rPr>
              <a:t>Three config lines in settings.json unlock external tools — browser control, terminal, test runners — for fully autonomous agents.</a:t>
            </a:r>
            <a:endParaRPr lang="en-US" sz="1200" dirty="0"/>
          </a:p>
        </p:txBody>
      </p:sp>
      <p:sp>
        <p:nvSpPr>
          <p:cNvPr id="5" name="Shape 3"/>
          <p:cNvSpPr/>
          <p:nvPr/>
        </p:nvSpPr>
        <p:spPr>
          <a:xfrm>
            <a:off x="457200" y="1005840"/>
            <a:ext cx="8229600" cy="9144"/>
          </a:xfrm>
          <a:prstGeom prst="rect">
            <a:avLst/>
          </a:prstGeom>
          <a:solidFill>
            <a:srgbClr val="30363D"/>
          </a:solidFill>
          <a:ln w="12700">
            <a:solidFill>
              <a:srgbClr val="30363D"/>
            </a:solidFill>
            <a:prstDash val="solid"/>
          </a:ln>
        </p:spPr>
      </p:sp>
      <p:sp>
        <p:nvSpPr>
          <p:cNvPr id="6" name="Shape 4"/>
          <p:cNvSpPr/>
          <p:nvPr/>
        </p:nvSpPr>
        <p:spPr>
          <a:xfrm>
            <a:off x="365760" y="1371600"/>
            <a:ext cx="1920240" cy="1280160"/>
          </a:xfrm>
          <a:prstGeom prst="rect">
            <a:avLst/>
          </a:prstGeom>
          <a:solidFill>
            <a:srgbClr val="161B22"/>
          </a:solidFill>
          <a:ln w="12700">
            <a:solidFill>
              <a:srgbClr val="007ACC"/>
            </a:solidFill>
            <a:prstDash val="solid"/>
          </a:ln>
        </p:spPr>
      </p:sp>
      <p:sp>
        <p:nvSpPr>
          <p:cNvPr id="7" name="Text 5"/>
          <p:cNvSpPr/>
          <p:nvPr/>
        </p:nvSpPr>
        <p:spPr>
          <a:xfrm>
            <a:off x="365760" y="1463040"/>
            <a:ext cx="1920240" cy="457200"/>
          </a:xfrm>
          <a:prstGeom prst="rect">
            <a:avLst/>
          </a:prstGeom>
          <a:noFill/>
          <a:ln/>
        </p:spPr>
        <p:txBody>
          <a:bodyPr wrap="square" rtlCol="0" anchor="ctr"/>
          <a:lstStyle/>
          <a:p>
            <a:pPr marL="0" indent="0" algn="ctr">
              <a:buNone/>
            </a:pPr>
            <a:r>
              <a:rPr lang="en-US" sz="2000" dirty="0">
                <a:solidFill>
                  <a:srgbClr val="007ACC"/>
                </a:solidFill>
                <a:latin typeface="Calibri" pitchFamily="34" charset="0"/>
                <a:ea typeface="Calibri" pitchFamily="34" charset="-122"/>
                <a:cs typeface="Calibri" pitchFamily="34" charset="-120"/>
              </a:rPr>
              <a:t>✏</a:t>
            </a:r>
            <a:endParaRPr lang="en-US" sz="2000" dirty="0"/>
          </a:p>
        </p:txBody>
      </p:sp>
      <p:sp>
        <p:nvSpPr>
          <p:cNvPr id="8" name="Text 6"/>
          <p:cNvSpPr/>
          <p:nvPr/>
        </p:nvSpPr>
        <p:spPr>
          <a:xfrm>
            <a:off x="457200" y="1965960"/>
            <a:ext cx="1737360" cy="640080"/>
          </a:xfrm>
          <a:prstGeom prst="rect">
            <a:avLst/>
          </a:prstGeom>
          <a:noFill/>
          <a:ln/>
        </p:spPr>
        <p:txBody>
          <a:bodyPr wrap="square" rtlCol="0" anchor="ctr"/>
          <a:lstStyle/>
          <a:p>
            <a:pPr marL="0" indent="0" algn="ctr">
              <a:buNone/>
            </a:pPr>
            <a:r>
              <a:rPr lang="en-US" sz="1100" dirty="0">
                <a:solidFill>
                  <a:srgbClr val="E6EDF3"/>
                </a:solidFill>
                <a:latin typeface="Calibri" pitchFamily="34" charset="0"/>
                <a:ea typeface="Calibri" pitchFamily="34" charset="-122"/>
                <a:cs typeface="Calibri" pitchFamily="34" charset="-120"/>
              </a:rPr>
              <a:t>Add to</a:t>
            </a:r>
            <a:endParaRPr lang="en-US" sz="1100" dirty="0"/>
          </a:p>
          <a:p>
            <a:pPr marL="0" indent="0" algn="ctr">
              <a:buNone/>
            </a:pPr>
            <a:r>
              <a:rPr lang="en-US" sz="1100" dirty="0">
                <a:solidFill>
                  <a:srgbClr val="E6EDF3"/>
                </a:solidFill>
                <a:latin typeface="Calibri" pitchFamily="34" charset="0"/>
                <a:ea typeface="Calibri" pitchFamily="34" charset="-122"/>
                <a:cs typeface="Calibri" pitchFamily="34" charset="-120"/>
              </a:rPr>
              <a:t>.vscode/mcp.json</a:t>
            </a:r>
            <a:endParaRPr lang="en-US" sz="1100" dirty="0"/>
          </a:p>
        </p:txBody>
      </p:sp>
      <p:sp>
        <p:nvSpPr>
          <p:cNvPr id="9" name="Shape 7"/>
          <p:cNvSpPr/>
          <p:nvPr/>
        </p:nvSpPr>
        <p:spPr>
          <a:xfrm>
            <a:off x="2286000" y="2011680"/>
            <a:ext cx="640080" cy="0"/>
          </a:xfrm>
          <a:prstGeom prst="line">
            <a:avLst/>
          </a:prstGeom>
          <a:noFill/>
          <a:ln w="25400">
            <a:solidFill>
              <a:srgbClr val="007ACC"/>
            </a:solidFill>
            <a:prstDash val="solid"/>
          </a:ln>
        </p:spPr>
      </p:sp>
      <p:sp>
        <p:nvSpPr>
          <p:cNvPr id="10" name="Shape 8"/>
          <p:cNvSpPr/>
          <p:nvPr/>
        </p:nvSpPr>
        <p:spPr>
          <a:xfrm>
            <a:off x="2560320" y="1371600"/>
            <a:ext cx="1920240" cy="1280160"/>
          </a:xfrm>
          <a:prstGeom prst="rect">
            <a:avLst/>
          </a:prstGeom>
          <a:solidFill>
            <a:srgbClr val="161B22"/>
          </a:solidFill>
          <a:ln w="12700">
            <a:solidFill>
              <a:srgbClr val="3FB950"/>
            </a:solidFill>
            <a:prstDash val="solid"/>
          </a:ln>
        </p:spPr>
      </p:sp>
      <p:sp>
        <p:nvSpPr>
          <p:cNvPr id="11" name="Text 9"/>
          <p:cNvSpPr/>
          <p:nvPr/>
        </p:nvSpPr>
        <p:spPr>
          <a:xfrm>
            <a:off x="2560320" y="1463040"/>
            <a:ext cx="1920240" cy="457200"/>
          </a:xfrm>
          <a:prstGeom prst="rect">
            <a:avLst/>
          </a:prstGeom>
          <a:noFill/>
          <a:ln/>
        </p:spPr>
        <p:txBody>
          <a:bodyPr wrap="square" rtlCol="0" anchor="ctr"/>
          <a:lstStyle/>
          <a:p>
            <a:pPr marL="0" indent="0" algn="ctr">
              <a:buNone/>
            </a:pPr>
            <a:r>
              <a:rPr lang="en-US" sz="2000" dirty="0">
                <a:solidFill>
                  <a:srgbClr val="3FB950"/>
                </a:solidFill>
                <a:latin typeface="Calibri" pitchFamily="34" charset="0"/>
                <a:ea typeface="Calibri" pitchFamily="34" charset="-122"/>
                <a:cs typeface="Calibri" pitchFamily="34" charset="-120"/>
              </a:rPr>
              <a:t>👁</a:t>
            </a:r>
            <a:endParaRPr lang="en-US" sz="2000" dirty="0"/>
          </a:p>
        </p:txBody>
      </p:sp>
      <p:sp>
        <p:nvSpPr>
          <p:cNvPr id="12" name="Text 10"/>
          <p:cNvSpPr/>
          <p:nvPr/>
        </p:nvSpPr>
        <p:spPr>
          <a:xfrm>
            <a:off x="2651760" y="1965960"/>
            <a:ext cx="1737360" cy="640080"/>
          </a:xfrm>
          <a:prstGeom prst="rect">
            <a:avLst/>
          </a:prstGeom>
          <a:noFill/>
          <a:ln/>
        </p:spPr>
        <p:txBody>
          <a:bodyPr wrap="square" rtlCol="0" anchor="ctr"/>
          <a:lstStyle/>
          <a:p>
            <a:pPr marL="0" indent="0" algn="ctr">
              <a:buNone/>
            </a:pPr>
            <a:r>
              <a:rPr lang="en-US" sz="1100" dirty="0">
                <a:solidFill>
                  <a:srgbClr val="E6EDF3"/>
                </a:solidFill>
                <a:latin typeface="Calibri" pitchFamily="34" charset="0"/>
                <a:ea typeface="Calibri" pitchFamily="34" charset="-122"/>
                <a:cs typeface="Calibri" pitchFamily="34" charset="-120"/>
              </a:rPr>
              <a:t>Restart &amp;</a:t>
            </a:r>
            <a:endParaRPr lang="en-US" sz="1100" dirty="0"/>
          </a:p>
          <a:p>
            <a:pPr marL="0" indent="0" algn="ctr">
              <a:buNone/>
            </a:pPr>
            <a:r>
              <a:rPr lang="en-US" sz="1100" dirty="0">
                <a:solidFill>
                  <a:srgbClr val="E6EDF3"/>
                </a:solidFill>
                <a:latin typeface="Calibri" pitchFamily="34" charset="0"/>
                <a:ea typeface="Calibri" pitchFamily="34" charset="-122"/>
                <a:cs typeface="Calibri" pitchFamily="34" charset="-120"/>
              </a:rPr>
              <a:t>authorize server</a:t>
            </a:r>
            <a:endParaRPr lang="en-US" sz="1100" dirty="0"/>
          </a:p>
        </p:txBody>
      </p:sp>
      <p:sp>
        <p:nvSpPr>
          <p:cNvPr id="13" name="Shape 11"/>
          <p:cNvSpPr/>
          <p:nvPr/>
        </p:nvSpPr>
        <p:spPr>
          <a:xfrm>
            <a:off x="4480560" y="2011680"/>
            <a:ext cx="640080" cy="0"/>
          </a:xfrm>
          <a:prstGeom prst="line">
            <a:avLst/>
          </a:prstGeom>
          <a:noFill/>
          <a:ln w="25400">
            <a:solidFill>
              <a:srgbClr val="3FB950"/>
            </a:solidFill>
            <a:prstDash val="solid"/>
          </a:ln>
        </p:spPr>
      </p:sp>
      <p:sp>
        <p:nvSpPr>
          <p:cNvPr id="14" name="Shape 12"/>
          <p:cNvSpPr/>
          <p:nvPr/>
        </p:nvSpPr>
        <p:spPr>
          <a:xfrm>
            <a:off x="4754880" y="1371600"/>
            <a:ext cx="1920240" cy="1280160"/>
          </a:xfrm>
          <a:prstGeom prst="rect">
            <a:avLst/>
          </a:prstGeom>
          <a:solidFill>
            <a:srgbClr val="161B22"/>
          </a:solidFill>
          <a:ln w="12700">
            <a:solidFill>
              <a:srgbClr val="F78166"/>
            </a:solidFill>
            <a:prstDash val="solid"/>
          </a:ln>
        </p:spPr>
      </p:sp>
      <p:sp>
        <p:nvSpPr>
          <p:cNvPr id="15" name="Text 13"/>
          <p:cNvSpPr/>
          <p:nvPr/>
        </p:nvSpPr>
        <p:spPr>
          <a:xfrm>
            <a:off x="4754880" y="1463040"/>
            <a:ext cx="1920240" cy="457200"/>
          </a:xfrm>
          <a:prstGeom prst="rect">
            <a:avLst/>
          </a:prstGeom>
          <a:noFill/>
          <a:ln/>
        </p:spPr>
        <p:txBody>
          <a:bodyPr wrap="square" rtlCol="0" anchor="ctr"/>
          <a:lstStyle/>
          <a:p>
            <a:pPr marL="0" indent="0" algn="ctr">
              <a:buNone/>
            </a:pPr>
            <a:r>
              <a:rPr lang="en-US" sz="2000" dirty="0">
                <a:solidFill>
                  <a:srgbClr val="F78166"/>
                </a:solidFill>
                <a:latin typeface="Calibri" pitchFamily="34" charset="0"/>
                <a:ea typeface="Calibri" pitchFamily="34" charset="-122"/>
                <a:cs typeface="Calibri" pitchFamily="34" charset="-120"/>
              </a:rPr>
              <a:t>🔬</a:t>
            </a:r>
            <a:endParaRPr lang="en-US" sz="2000" dirty="0"/>
          </a:p>
        </p:txBody>
      </p:sp>
      <p:sp>
        <p:nvSpPr>
          <p:cNvPr id="16" name="Text 14"/>
          <p:cNvSpPr/>
          <p:nvPr/>
        </p:nvSpPr>
        <p:spPr>
          <a:xfrm>
            <a:off x="4846320" y="1965960"/>
            <a:ext cx="1737360" cy="640080"/>
          </a:xfrm>
          <a:prstGeom prst="rect">
            <a:avLst/>
          </a:prstGeom>
          <a:noFill/>
          <a:ln/>
        </p:spPr>
        <p:txBody>
          <a:bodyPr wrap="square" rtlCol="0" anchor="ctr"/>
          <a:lstStyle/>
          <a:p>
            <a:pPr marL="0" indent="0" algn="ctr">
              <a:buNone/>
            </a:pPr>
            <a:r>
              <a:rPr lang="en-US" sz="1100" dirty="0">
                <a:solidFill>
                  <a:srgbClr val="E6EDF3"/>
                </a:solidFill>
                <a:latin typeface="Calibri" pitchFamily="34" charset="0"/>
                <a:ea typeface="Calibri" pitchFamily="34" charset="-122"/>
                <a:cs typeface="Calibri" pitchFamily="34" charset="-120"/>
              </a:rPr>
              <a:t>Agent calls</a:t>
            </a:r>
            <a:endParaRPr lang="en-US" sz="1100" dirty="0"/>
          </a:p>
          <a:p>
            <a:pPr marL="0" indent="0" algn="ctr">
              <a:buNone/>
            </a:pPr>
            <a:r>
              <a:rPr lang="en-US" sz="1100" dirty="0">
                <a:solidFill>
                  <a:srgbClr val="E6EDF3"/>
                </a:solidFill>
                <a:latin typeface="Calibri" pitchFamily="34" charset="0"/>
                <a:ea typeface="Calibri" pitchFamily="34" charset="-122"/>
                <a:cs typeface="Calibri" pitchFamily="34" charset="-120"/>
              </a:rPr>
              <a:t>tool in its loop</a:t>
            </a:r>
            <a:endParaRPr lang="en-US" sz="1100" dirty="0"/>
          </a:p>
        </p:txBody>
      </p:sp>
      <p:sp>
        <p:nvSpPr>
          <p:cNvPr id="17" name="Shape 15"/>
          <p:cNvSpPr/>
          <p:nvPr/>
        </p:nvSpPr>
        <p:spPr>
          <a:xfrm>
            <a:off x="6675120" y="2011680"/>
            <a:ext cx="640080" cy="0"/>
          </a:xfrm>
          <a:prstGeom prst="line">
            <a:avLst/>
          </a:prstGeom>
          <a:noFill/>
          <a:ln w="25400">
            <a:solidFill>
              <a:srgbClr val="F78166"/>
            </a:solidFill>
            <a:prstDash val="solid"/>
          </a:ln>
        </p:spPr>
      </p:sp>
      <p:sp>
        <p:nvSpPr>
          <p:cNvPr id="18" name="Shape 16"/>
          <p:cNvSpPr/>
          <p:nvPr/>
        </p:nvSpPr>
        <p:spPr>
          <a:xfrm>
            <a:off x="6949440" y="1371600"/>
            <a:ext cx="1920240" cy="1280160"/>
          </a:xfrm>
          <a:prstGeom prst="rect">
            <a:avLst/>
          </a:prstGeom>
          <a:solidFill>
            <a:srgbClr val="161B22"/>
          </a:solidFill>
          <a:ln w="12700">
            <a:solidFill>
              <a:srgbClr val="BC8CFF"/>
            </a:solidFill>
            <a:prstDash val="solid"/>
          </a:ln>
        </p:spPr>
      </p:sp>
      <p:sp>
        <p:nvSpPr>
          <p:cNvPr id="19" name="Text 17"/>
          <p:cNvSpPr/>
          <p:nvPr/>
        </p:nvSpPr>
        <p:spPr>
          <a:xfrm>
            <a:off x="6949440" y="1463040"/>
            <a:ext cx="1920240" cy="457200"/>
          </a:xfrm>
          <a:prstGeom prst="rect">
            <a:avLst/>
          </a:prstGeom>
          <a:noFill/>
          <a:ln/>
        </p:spPr>
        <p:txBody>
          <a:bodyPr wrap="square" rtlCol="0" anchor="ctr"/>
          <a:lstStyle/>
          <a:p>
            <a:pPr marL="0" indent="0" algn="ctr">
              <a:buNone/>
            </a:pPr>
            <a:r>
              <a:rPr lang="en-US" sz="2000" dirty="0">
                <a:solidFill>
                  <a:srgbClr val="BC8CFF"/>
                </a:solidFill>
                <a:latin typeface="Calibri" pitchFamily="34" charset="0"/>
                <a:ea typeface="Calibri" pitchFamily="34" charset="-122"/>
                <a:cs typeface="Calibri" pitchFamily="34" charset="-120"/>
              </a:rPr>
              <a:t>▶</a:t>
            </a:r>
            <a:endParaRPr lang="en-US" sz="2000" dirty="0"/>
          </a:p>
        </p:txBody>
      </p:sp>
      <p:sp>
        <p:nvSpPr>
          <p:cNvPr id="20" name="Text 18"/>
          <p:cNvSpPr/>
          <p:nvPr/>
        </p:nvSpPr>
        <p:spPr>
          <a:xfrm>
            <a:off x="7040880" y="1965960"/>
            <a:ext cx="1737360" cy="640080"/>
          </a:xfrm>
          <a:prstGeom prst="rect">
            <a:avLst/>
          </a:prstGeom>
          <a:noFill/>
          <a:ln/>
        </p:spPr>
        <p:txBody>
          <a:bodyPr wrap="square" rtlCol="0" anchor="ctr"/>
          <a:lstStyle/>
          <a:p>
            <a:pPr marL="0" indent="0" algn="ctr">
              <a:buNone/>
            </a:pPr>
            <a:r>
              <a:rPr lang="en-US" sz="1100" dirty="0">
                <a:solidFill>
                  <a:srgbClr val="E6EDF3"/>
                </a:solidFill>
                <a:latin typeface="Calibri" pitchFamily="34" charset="0"/>
                <a:ea typeface="Calibri" pitchFamily="34" charset="-122"/>
                <a:cs typeface="Calibri" pitchFamily="34" charset="-120"/>
              </a:rPr>
              <a:t>Tool returns</a:t>
            </a:r>
            <a:endParaRPr lang="en-US" sz="1100" dirty="0"/>
          </a:p>
          <a:p>
            <a:pPr marL="0" indent="0" algn="ctr">
              <a:buNone/>
            </a:pPr>
            <a:r>
              <a:rPr lang="en-US" sz="1100" dirty="0">
                <a:solidFill>
                  <a:srgbClr val="E6EDF3"/>
                </a:solidFill>
                <a:latin typeface="Calibri" pitchFamily="34" charset="0"/>
                <a:ea typeface="Calibri" pitchFamily="34" charset="-122"/>
                <a:cs typeface="Calibri" pitchFamily="34" charset="-120"/>
              </a:rPr>
              <a:t>result to agent</a:t>
            </a:r>
            <a:endParaRPr lang="en-US" sz="1100" dirty="0"/>
          </a:p>
        </p:txBody>
      </p:sp>
      <p:sp>
        <p:nvSpPr>
          <p:cNvPr id="21" name="Shape 19"/>
          <p:cNvSpPr/>
          <p:nvPr/>
        </p:nvSpPr>
        <p:spPr>
          <a:xfrm>
            <a:off x="365760" y="2834640"/>
            <a:ext cx="8412480" cy="457200"/>
          </a:xfrm>
          <a:prstGeom prst="rect">
            <a:avLst/>
          </a:prstGeom>
          <a:solidFill>
            <a:srgbClr val="0A0A1A"/>
          </a:solidFill>
          <a:ln w="12700">
            <a:solidFill>
              <a:srgbClr val="BC8CFF"/>
            </a:solidFill>
            <a:prstDash val="solid"/>
          </a:ln>
        </p:spPr>
      </p:sp>
      <p:sp>
        <p:nvSpPr>
          <p:cNvPr id="22" name="Text 20"/>
          <p:cNvSpPr/>
          <p:nvPr/>
        </p:nvSpPr>
        <p:spPr>
          <a:xfrm>
            <a:off x="548640" y="2907792"/>
            <a:ext cx="8046720" cy="320040"/>
          </a:xfrm>
          <a:prstGeom prst="rect">
            <a:avLst/>
          </a:prstGeom>
          <a:noFill/>
          <a:ln/>
        </p:spPr>
        <p:txBody>
          <a:bodyPr wrap="square" rtlCol="0" anchor="ctr"/>
          <a:lstStyle/>
          <a:p>
            <a:pPr marL="0" indent="0" algn="ctr">
              <a:buNone/>
            </a:pPr>
            <a:r>
              <a:rPr lang="en-US" sz="1100" dirty="0">
                <a:solidFill>
                  <a:srgbClr val="BC8CFF"/>
                </a:solidFill>
                <a:latin typeface="Consolas" pitchFamily="34" charset="0"/>
                <a:ea typeface="Consolas" pitchFamily="34" charset="-122"/>
                <a:cs typeface="Consolas" pitchFamily="34" charset="-120"/>
              </a:rPr>
              <a:t>↩  Loop: config: Add server block → Reload VS Code → Copilot agent now has tool access → Agent calls tools in its loop → You review the result</a:t>
            </a:r>
            <a:endParaRPr lang="en-US" sz="1100" dirty="0"/>
          </a:p>
        </p:txBody>
      </p:sp>
      <p:sp>
        <p:nvSpPr>
          <p:cNvPr id="23" name="Shape 21"/>
          <p:cNvSpPr/>
          <p:nvPr/>
        </p:nvSpPr>
        <p:spPr>
          <a:xfrm>
            <a:off x="365760" y="3429000"/>
            <a:ext cx="8412480" cy="914400"/>
          </a:xfrm>
          <a:prstGeom prst="rect">
            <a:avLst/>
          </a:prstGeom>
          <a:solidFill>
            <a:srgbClr val="161B22"/>
          </a:solidFill>
          <a:ln w="12700">
            <a:solidFill>
              <a:srgbClr val="30363D"/>
            </a:solidFill>
            <a:prstDash val="solid"/>
          </a:ln>
        </p:spPr>
      </p:sp>
      <p:sp>
        <p:nvSpPr>
          <p:cNvPr id="24" name="Text 22"/>
          <p:cNvSpPr/>
          <p:nvPr/>
        </p:nvSpPr>
        <p:spPr>
          <a:xfrm>
            <a:off x="548640" y="3547872"/>
            <a:ext cx="8046720" cy="685800"/>
          </a:xfrm>
          <a:prstGeom prst="rect">
            <a:avLst/>
          </a:prstGeom>
          <a:noFill/>
          <a:ln/>
        </p:spPr>
        <p:txBody>
          <a:bodyPr wrap="square" rtlCol="0" anchor="ctr"/>
          <a:lstStyle/>
          <a:p>
            <a:pPr marL="0" indent="0">
              <a:buNone/>
            </a:pPr>
            <a:r>
              <a:rPr lang="en-US" sz="1200" dirty="0">
                <a:solidFill>
                  <a:srgbClr val="8B949E"/>
                </a:solidFill>
                <a:latin typeface="Calibri" pitchFamily="34" charset="0"/>
                <a:ea typeface="Calibri" pitchFamily="34" charset="-122"/>
                <a:cs typeface="Calibri" pitchFamily="34" charset="-120"/>
              </a:rPr>
              <a:t>Three config lines in .vscode/settings.json add an MCP server block and restart Copilot. Now your agent can call terminal commands, run tests, take screenshots, lint code — with full results back in chat. No npm install. No separate application. This single pattern scales to any tool.</a:t>
            </a:r>
            <a:endParaRPr lang="en-US" sz="1200" dirty="0"/>
          </a:p>
        </p:txBody>
      </p:sp>
      <p:sp>
        <p:nvSpPr>
          <p:cNvPr id="25" name="Shape 23"/>
          <p:cNvSpPr/>
          <p:nvPr/>
        </p:nvSpPr>
        <p:spPr>
          <a:xfrm>
            <a:off x="365760" y="4507992"/>
            <a:ext cx="1645920" cy="228600"/>
          </a:xfrm>
          <a:prstGeom prst="roundRect">
            <a:avLst>
              <a:gd name="adj" fmla="val 20000"/>
            </a:avLst>
          </a:prstGeom>
          <a:solidFill>
            <a:srgbClr val="00A3E0">
              <a:alpha val="30000"/>
            </a:srgbClr>
          </a:solidFill>
          <a:ln w="12700">
            <a:solidFill>
              <a:srgbClr val="00A3E0"/>
            </a:solidFill>
            <a:prstDash val="solid"/>
          </a:ln>
        </p:spPr>
      </p:sp>
      <p:sp>
        <p:nvSpPr>
          <p:cNvPr id="26" name="Text 24"/>
          <p:cNvSpPr/>
          <p:nvPr/>
        </p:nvSpPr>
        <p:spPr>
          <a:xfrm>
            <a:off x="365760" y="4507992"/>
            <a:ext cx="1645920" cy="228600"/>
          </a:xfrm>
          <a:prstGeom prst="rect">
            <a:avLst/>
          </a:prstGeom>
          <a:noFill/>
          <a:ln/>
        </p:spPr>
        <p:txBody>
          <a:bodyPr wrap="square" lIns="0" tIns="0" rIns="0" bIns="0" rtlCol="0" anchor="ctr"/>
          <a:lstStyle/>
          <a:p>
            <a:pPr marL="0" indent="0" algn="ctr">
              <a:buNone/>
            </a:pPr>
            <a:r>
              <a:rPr lang="en-US" sz="900" b="1" dirty="0">
                <a:solidFill>
                  <a:srgbClr val="00A3E0"/>
                </a:solidFill>
                <a:latin typeface="Consolas" pitchFamily="34" charset="0"/>
                <a:ea typeface="Consolas" pitchFamily="34" charset="-122"/>
                <a:cs typeface="Consolas" pitchFamily="34" charset="-120"/>
              </a:rPr>
              <a:t>Playwright MCP — browser + screenshot</a:t>
            </a:r>
            <a:endParaRPr lang="en-US" sz="900" dirty="0"/>
          </a:p>
        </p:txBody>
      </p:sp>
      <p:sp>
        <p:nvSpPr>
          <p:cNvPr id="27" name="Shape 25"/>
          <p:cNvSpPr/>
          <p:nvPr/>
        </p:nvSpPr>
        <p:spPr>
          <a:xfrm>
            <a:off x="1828800" y="4507992"/>
            <a:ext cx="1645920" cy="228600"/>
          </a:xfrm>
          <a:prstGeom prst="roundRect">
            <a:avLst>
              <a:gd name="adj" fmla="val 20000"/>
            </a:avLst>
          </a:prstGeom>
          <a:solidFill>
            <a:srgbClr val="00A3E0">
              <a:alpha val="30000"/>
            </a:srgbClr>
          </a:solidFill>
          <a:ln w="12700">
            <a:solidFill>
              <a:srgbClr val="00A3E0"/>
            </a:solidFill>
            <a:prstDash val="solid"/>
          </a:ln>
        </p:spPr>
      </p:sp>
      <p:sp>
        <p:nvSpPr>
          <p:cNvPr id="28" name="Text 26"/>
          <p:cNvSpPr/>
          <p:nvPr/>
        </p:nvSpPr>
        <p:spPr>
          <a:xfrm>
            <a:off x="1828800" y="4507992"/>
            <a:ext cx="1645920" cy="228600"/>
          </a:xfrm>
          <a:prstGeom prst="rect">
            <a:avLst/>
          </a:prstGeom>
          <a:noFill/>
          <a:ln/>
        </p:spPr>
        <p:txBody>
          <a:bodyPr wrap="square" lIns="0" tIns="0" rIns="0" bIns="0" rtlCol="0" anchor="ctr"/>
          <a:lstStyle/>
          <a:p>
            <a:pPr marL="0" indent="0" algn="ctr">
              <a:buNone/>
            </a:pPr>
            <a:r>
              <a:rPr lang="en-US" sz="900" b="1" dirty="0">
                <a:solidFill>
                  <a:srgbClr val="00A3E0"/>
                </a:solidFill>
                <a:latin typeface="Consolas" pitchFamily="34" charset="0"/>
                <a:ea typeface="Consolas" pitchFamily="34" charset="-122"/>
                <a:cs typeface="Consolas" pitchFamily="34" charset="-120"/>
              </a:rPr>
              <a:t>Terminal MCP — run shell commands</a:t>
            </a:r>
            <a:endParaRPr lang="en-US" sz="900" dirty="0"/>
          </a:p>
        </p:txBody>
      </p:sp>
      <p:sp>
        <p:nvSpPr>
          <p:cNvPr id="29" name="Shape 27"/>
          <p:cNvSpPr/>
          <p:nvPr/>
        </p:nvSpPr>
        <p:spPr>
          <a:xfrm>
            <a:off x="3291840" y="4507992"/>
            <a:ext cx="1645920" cy="228600"/>
          </a:xfrm>
          <a:prstGeom prst="roundRect">
            <a:avLst>
              <a:gd name="adj" fmla="val 20000"/>
            </a:avLst>
          </a:prstGeom>
          <a:solidFill>
            <a:srgbClr val="00A3E0">
              <a:alpha val="30000"/>
            </a:srgbClr>
          </a:solidFill>
          <a:ln w="12700">
            <a:solidFill>
              <a:srgbClr val="00A3E0"/>
            </a:solidFill>
            <a:prstDash val="solid"/>
          </a:ln>
        </p:spPr>
      </p:sp>
      <p:sp>
        <p:nvSpPr>
          <p:cNvPr id="30" name="Text 28"/>
          <p:cNvSpPr/>
          <p:nvPr/>
        </p:nvSpPr>
        <p:spPr>
          <a:xfrm>
            <a:off x="3291840" y="4507992"/>
            <a:ext cx="1645920" cy="228600"/>
          </a:xfrm>
          <a:prstGeom prst="rect">
            <a:avLst/>
          </a:prstGeom>
          <a:noFill/>
          <a:ln/>
        </p:spPr>
        <p:txBody>
          <a:bodyPr wrap="square" lIns="0" tIns="0" rIns="0" bIns="0" rtlCol="0" anchor="ctr"/>
          <a:lstStyle/>
          <a:p>
            <a:pPr marL="0" indent="0" algn="ctr">
              <a:buNone/>
            </a:pPr>
            <a:r>
              <a:rPr lang="en-US" sz="900" b="1" dirty="0">
                <a:solidFill>
                  <a:srgbClr val="00A3E0"/>
                </a:solidFill>
                <a:latin typeface="Consolas" pitchFamily="34" charset="0"/>
                <a:ea typeface="Consolas" pitchFamily="34" charset="-122"/>
                <a:cs typeface="Consolas" pitchFamily="34" charset="-120"/>
              </a:rPr>
              <a:t>Jest / Vitest MCP — run tests inline</a:t>
            </a:r>
            <a:endParaRPr lang="en-US" sz="900" dirty="0"/>
          </a:p>
        </p:txBody>
      </p:sp>
      <p:sp>
        <p:nvSpPr>
          <p:cNvPr id="31" name="Shape 29"/>
          <p:cNvSpPr/>
          <p:nvPr/>
        </p:nvSpPr>
        <p:spPr>
          <a:xfrm>
            <a:off x="4754880" y="4507992"/>
            <a:ext cx="1920240" cy="228600"/>
          </a:xfrm>
          <a:prstGeom prst="roundRect">
            <a:avLst>
              <a:gd name="adj" fmla="val 20000"/>
            </a:avLst>
          </a:prstGeom>
          <a:solidFill>
            <a:srgbClr val="00A3E0">
              <a:alpha val="30000"/>
            </a:srgbClr>
          </a:solidFill>
          <a:ln w="12700">
            <a:solidFill>
              <a:srgbClr val="00A3E0"/>
            </a:solidFill>
            <a:prstDash val="solid"/>
          </a:ln>
        </p:spPr>
      </p:sp>
      <p:sp>
        <p:nvSpPr>
          <p:cNvPr id="32" name="Text 30"/>
          <p:cNvSpPr/>
          <p:nvPr/>
        </p:nvSpPr>
        <p:spPr>
          <a:xfrm>
            <a:off x="4754880" y="4507992"/>
            <a:ext cx="1920240" cy="228600"/>
          </a:xfrm>
          <a:prstGeom prst="rect">
            <a:avLst/>
          </a:prstGeom>
          <a:noFill/>
          <a:ln/>
        </p:spPr>
        <p:txBody>
          <a:bodyPr wrap="square" lIns="0" tIns="0" rIns="0" bIns="0" rtlCol="0" anchor="ctr"/>
          <a:lstStyle/>
          <a:p>
            <a:pPr marL="0" indent="0" algn="ctr">
              <a:buNone/>
            </a:pPr>
            <a:r>
              <a:rPr lang="en-US" sz="900" b="1" dirty="0">
                <a:solidFill>
                  <a:srgbClr val="00A3E0"/>
                </a:solidFill>
                <a:latin typeface="Consolas" pitchFamily="34" charset="0"/>
                <a:ea typeface="Consolas" pitchFamily="34" charset="-122"/>
                <a:cs typeface="Consolas" pitchFamily="34" charset="-120"/>
              </a:rPr>
              <a:t>ESLint MCP — lint &amp;amp; autofix</a:t>
            </a:r>
            <a:endParaRPr lang="en-US" sz="900" dirty="0"/>
          </a:p>
        </p:txBody>
      </p:sp>
      <p:sp>
        <p:nvSpPr>
          <p:cNvPr id="33" name="Shape 31"/>
          <p:cNvSpPr/>
          <p:nvPr/>
        </p:nvSpPr>
        <p:spPr>
          <a:xfrm>
            <a:off x="6217920" y="4507992"/>
            <a:ext cx="1280160" cy="228600"/>
          </a:xfrm>
          <a:prstGeom prst="roundRect">
            <a:avLst>
              <a:gd name="adj" fmla="val 20000"/>
            </a:avLst>
          </a:prstGeom>
          <a:solidFill>
            <a:srgbClr val="00A3E0">
              <a:alpha val="30000"/>
            </a:srgbClr>
          </a:solidFill>
          <a:ln w="12700">
            <a:solidFill>
              <a:srgbClr val="00A3E0"/>
            </a:solidFill>
            <a:prstDash val="solid"/>
          </a:ln>
        </p:spPr>
      </p:sp>
      <p:sp>
        <p:nvSpPr>
          <p:cNvPr id="34" name="Text 32"/>
          <p:cNvSpPr/>
          <p:nvPr/>
        </p:nvSpPr>
        <p:spPr>
          <a:xfrm>
            <a:off x="6217920" y="4507992"/>
            <a:ext cx="1280160" cy="228600"/>
          </a:xfrm>
          <a:prstGeom prst="rect">
            <a:avLst/>
          </a:prstGeom>
          <a:noFill/>
          <a:ln/>
        </p:spPr>
        <p:txBody>
          <a:bodyPr wrap="square" lIns="0" tIns="0" rIns="0" bIns="0" rtlCol="0" anchor="ctr"/>
          <a:lstStyle/>
          <a:p>
            <a:pPr marL="0" indent="0" algn="ctr">
              <a:buNone/>
            </a:pPr>
            <a:r>
              <a:rPr lang="en-US" sz="900" b="1" dirty="0">
                <a:solidFill>
                  <a:srgbClr val="00A3E0"/>
                </a:solidFill>
                <a:latin typeface="Consolas" pitchFamily="34" charset="0"/>
                <a:ea typeface="Consolas" pitchFamily="34" charset="-122"/>
                <a:cs typeface="Consolas" pitchFamily="34" charset="-120"/>
              </a:rPr>
              <a:t>GitHub MCP — read issues, raise PRs</a:t>
            </a:r>
            <a:endParaRPr lang="en-US" sz="900" dirty="0"/>
          </a:p>
        </p:txBody>
      </p:sp>
      <p:sp>
        <p:nvSpPr>
          <p:cNvPr id="35" name="Shape 33"/>
          <p:cNvSpPr/>
          <p:nvPr/>
        </p:nvSpPr>
        <p:spPr>
          <a:xfrm>
            <a:off x="7680960" y="4507992"/>
            <a:ext cx="1737360" cy="228600"/>
          </a:xfrm>
          <a:prstGeom prst="roundRect">
            <a:avLst>
              <a:gd name="adj" fmla="val 20000"/>
            </a:avLst>
          </a:prstGeom>
          <a:solidFill>
            <a:srgbClr val="00A3E0">
              <a:alpha val="30000"/>
            </a:srgbClr>
          </a:solidFill>
          <a:ln w="12700">
            <a:solidFill>
              <a:srgbClr val="00A3E0"/>
            </a:solidFill>
            <a:prstDash val="solid"/>
          </a:ln>
        </p:spPr>
      </p:sp>
      <p:sp>
        <p:nvSpPr>
          <p:cNvPr id="36" name="Text 34"/>
          <p:cNvSpPr/>
          <p:nvPr/>
        </p:nvSpPr>
        <p:spPr>
          <a:xfrm>
            <a:off x="7680960" y="4507992"/>
            <a:ext cx="1737360" cy="228600"/>
          </a:xfrm>
          <a:prstGeom prst="rect">
            <a:avLst/>
          </a:prstGeom>
          <a:noFill/>
          <a:ln/>
        </p:spPr>
        <p:txBody>
          <a:bodyPr wrap="square" lIns="0" tIns="0" rIns="0" bIns="0" rtlCol="0" anchor="ctr"/>
          <a:lstStyle/>
          <a:p>
            <a:pPr marL="0" indent="0" algn="ctr">
              <a:buNone/>
            </a:pPr>
            <a:r>
              <a:rPr lang="en-US" sz="900" b="1" dirty="0">
                <a:solidFill>
                  <a:srgbClr val="00A3E0"/>
                </a:solidFill>
                <a:latin typeface="Consolas" pitchFamily="34" charset="0"/>
                <a:ea typeface="Consolas" pitchFamily="34" charset="-122"/>
                <a:cs typeface="Consolas" pitchFamily="34" charset="-120"/>
              </a:rPr>
              <a:t>Fetch MCP — read docs &amp; web pages</a:t>
            </a:r>
            <a:endParaRPr lang="en-US" sz="900" dirty="0"/>
          </a:p>
        </p:txBody>
      </p:sp>
      <p:sp>
        <p:nvSpPr>
          <p:cNvPr id="37" name="Shape 35"/>
          <p:cNvSpPr/>
          <p:nvPr/>
        </p:nvSpPr>
        <p:spPr>
          <a:xfrm>
            <a:off x="0" y="4960620"/>
            <a:ext cx="9144000" cy="182880"/>
          </a:xfrm>
          <a:prstGeom prst="rect">
            <a:avLst/>
          </a:prstGeom>
          <a:solidFill>
            <a:srgbClr val="161B22"/>
          </a:solidFill>
          <a:ln w="12700">
            <a:solidFill>
              <a:srgbClr val="30363D"/>
            </a:solidFill>
            <a:prstDash val="solid"/>
          </a:ln>
        </p:spPr>
      </p:sp>
      <p:sp>
        <p:nvSpPr>
          <p:cNvPr id="38" name="Text 36"/>
          <p:cNvSpPr/>
          <p:nvPr/>
        </p:nvSpPr>
        <p:spPr>
          <a:xfrm>
            <a:off x="274320" y="4965192"/>
            <a:ext cx="8595360" cy="164592"/>
          </a:xfrm>
          <a:prstGeom prst="rect">
            <a:avLst/>
          </a:prstGeom>
          <a:noFill/>
          <a:ln/>
        </p:spPr>
        <p:txBody>
          <a:bodyPr wrap="square" rtlCol="0" anchor="ctr"/>
          <a:lstStyle/>
          <a:p>
            <a:pPr marL="0" indent="0" algn="l">
              <a:buNone/>
            </a:pPr>
            <a:r>
              <a:rPr lang="en-US" sz="800" dirty="0">
                <a:solidFill>
                  <a:srgbClr val="484F58"/>
                </a:solidFill>
                <a:latin typeface="Consolas" pitchFamily="34" charset="0"/>
                <a:ea typeface="Consolas" pitchFamily="34" charset="-122"/>
                <a:cs typeface="Consolas" pitchFamily="34" charset="-120"/>
              </a:rPr>
              <a:t>💡 Start with one MCP server. The Playwright MCP (browser + screenshot) gives agents visual feedback immediately — the highest-impact addition for UI work.</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007ACC"/>
          </a:solidFill>
          <a:ln w="12700">
            <a:solidFill>
              <a:srgbClr val="007ACC"/>
            </a:solidFill>
            <a:prstDash val="solid"/>
          </a:ln>
        </p:spPr>
      </p:sp>
      <p:sp>
        <p:nvSpPr>
          <p:cNvPr id="3" name="Text 1"/>
          <p:cNvSpPr/>
          <p:nvPr/>
        </p:nvSpPr>
        <p:spPr>
          <a:xfrm>
            <a:off x="457200" y="182880"/>
            <a:ext cx="8229600" cy="502920"/>
          </a:xfrm>
          <a:prstGeom prst="rect">
            <a:avLst/>
          </a:prstGeom>
          <a:noFill/>
          <a:ln/>
        </p:spPr>
        <p:txBody>
          <a:bodyPr wrap="square" lIns="0" tIns="0" rIns="0" bIns="0" rtlCol="0" anchor="ctr"/>
          <a:lstStyle/>
          <a:p>
            <a:pPr marL="0" indent="0">
              <a:buNone/>
            </a:pPr>
            <a:r>
              <a:rPr lang="en-US" sz="2200" b="1" dirty="0">
                <a:solidFill>
                  <a:srgbClr val="E6EDF3"/>
                </a:solidFill>
                <a:latin typeface="Calibri" pitchFamily="34" charset="0"/>
                <a:ea typeface="Calibri" pitchFamily="34" charset="-122"/>
                <a:cs typeface="Calibri" pitchFamily="34" charset="-120"/>
              </a:rPr>
              <a:t>The Control Room: Agent Sessions</a:t>
            </a:r>
            <a:endParaRPr lang="en-US" sz="2200" dirty="0"/>
          </a:p>
        </p:txBody>
      </p:sp>
      <p:sp>
        <p:nvSpPr>
          <p:cNvPr id="4" name="Text 2"/>
          <p:cNvSpPr/>
          <p:nvPr/>
        </p:nvSpPr>
        <p:spPr>
          <a:xfrm>
            <a:off x="457200" y="685800"/>
            <a:ext cx="8229600" cy="320040"/>
          </a:xfrm>
          <a:prstGeom prst="rect">
            <a:avLst/>
          </a:prstGeom>
          <a:noFill/>
          <a:ln/>
        </p:spPr>
        <p:txBody>
          <a:bodyPr wrap="square" lIns="0" tIns="0" rIns="0" bIns="0" rtlCol="0" anchor="ctr"/>
          <a:lstStyle/>
          <a:p>
            <a:pPr marL="0" indent="0">
              <a:buNone/>
            </a:pPr>
            <a:r>
              <a:rPr lang="en-US" sz="1200" dirty="0">
                <a:solidFill>
                  <a:srgbClr val="8B949E"/>
                </a:solidFill>
                <a:latin typeface="Calibri" pitchFamily="34" charset="0"/>
                <a:ea typeface="Calibri" pitchFamily="34" charset="-122"/>
                <a:cs typeface="Calibri" pitchFamily="34" charset="-120"/>
              </a:rPr>
              <a:t>Managing your fleet of AI workers from one interface</a:t>
            </a:r>
            <a:endParaRPr lang="en-US" sz="1200" dirty="0"/>
          </a:p>
        </p:txBody>
      </p:sp>
      <p:sp>
        <p:nvSpPr>
          <p:cNvPr id="5" name="Shape 3"/>
          <p:cNvSpPr/>
          <p:nvPr/>
        </p:nvSpPr>
        <p:spPr>
          <a:xfrm>
            <a:off x="457200" y="1005840"/>
            <a:ext cx="8229600" cy="9144"/>
          </a:xfrm>
          <a:prstGeom prst="rect">
            <a:avLst/>
          </a:prstGeom>
          <a:solidFill>
            <a:srgbClr val="30363D"/>
          </a:solidFill>
          <a:ln w="12700">
            <a:solidFill>
              <a:srgbClr val="30363D"/>
            </a:solidFill>
            <a:prstDash val="solid"/>
          </a:ln>
        </p:spPr>
      </p:sp>
      <p:sp>
        <p:nvSpPr>
          <p:cNvPr id="6" name="Shape 4"/>
          <p:cNvSpPr/>
          <p:nvPr/>
        </p:nvSpPr>
        <p:spPr>
          <a:xfrm>
            <a:off x="365760" y="1188720"/>
            <a:ext cx="4206240" cy="1097280"/>
          </a:xfrm>
          <a:prstGeom prst="rect">
            <a:avLst/>
          </a:prstGeom>
          <a:solidFill>
            <a:srgbClr val="161B22"/>
          </a:solidFill>
          <a:ln w="12700">
            <a:solidFill>
              <a:srgbClr val="007ACC"/>
            </a:solidFill>
            <a:prstDash val="solid"/>
          </a:ln>
        </p:spPr>
      </p:sp>
      <p:sp>
        <p:nvSpPr>
          <p:cNvPr id="7" name="Shape 5"/>
          <p:cNvSpPr/>
          <p:nvPr/>
        </p:nvSpPr>
        <p:spPr>
          <a:xfrm>
            <a:off x="365760" y="1188720"/>
            <a:ext cx="45720" cy="1097280"/>
          </a:xfrm>
          <a:prstGeom prst="rect">
            <a:avLst/>
          </a:prstGeom>
          <a:solidFill>
            <a:srgbClr val="007ACC"/>
          </a:solidFill>
          <a:ln w="12700">
            <a:solidFill>
              <a:srgbClr val="007ACC"/>
            </a:solidFill>
            <a:prstDash val="solid"/>
          </a:ln>
        </p:spPr>
      </p:sp>
      <p:sp>
        <p:nvSpPr>
          <p:cNvPr id="8" name="Text 6"/>
          <p:cNvSpPr/>
          <p:nvPr/>
        </p:nvSpPr>
        <p:spPr>
          <a:xfrm>
            <a:off x="548640" y="1261872"/>
            <a:ext cx="3931920" cy="320040"/>
          </a:xfrm>
          <a:prstGeom prst="rect">
            <a:avLst/>
          </a:prstGeom>
          <a:noFill/>
          <a:ln/>
        </p:spPr>
        <p:txBody>
          <a:bodyPr wrap="square" rtlCol="0" anchor="ctr"/>
          <a:lstStyle/>
          <a:p>
            <a:pPr marL="0" indent="0">
              <a:buNone/>
            </a:pPr>
            <a:r>
              <a:rPr lang="en-US" sz="1300" b="1" dirty="0">
                <a:solidFill>
                  <a:srgbClr val="007ACC"/>
                </a:solidFill>
                <a:latin typeface="Calibri" pitchFamily="34" charset="0"/>
                <a:ea typeface="Calibri" pitchFamily="34" charset="-122"/>
                <a:cs typeface="Calibri" pitchFamily="34" charset="-120"/>
              </a:rPr>
              <a:t>UX Paradigm Shift</a:t>
            </a:r>
            <a:endParaRPr lang="en-US" sz="1300" dirty="0"/>
          </a:p>
        </p:txBody>
      </p:sp>
      <p:sp>
        <p:nvSpPr>
          <p:cNvPr id="9" name="Text 7"/>
          <p:cNvSpPr/>
          <p:nvPr/>
        </p:nvSpPr>
        <p:spPr>
          <a:xfrm>
            <a:off x="548640" y="1581912"/>
            <a:ext cx="3931920" cy="594360"/>
          </a:xfrm>
          <a:prstGeom prst="rect">
            <a:avLst/>
          </a:prstGeom>
          <a:noFill/>
          <a:ln/>
        </p:spPr>
        <p:txBody>
          <a:bodyPr wrap="square" rtlCol="0" anchor="ctr"/>
          <a:lstStyle/>
          <a:p>
            <a:pPr marL="0" indent="0">
              <a:buNone/>
            </a:pPr>
            <a:r>
              <a:rPr lang="en-US" sz="1100" dirty="0">
                <a:solidFill>
                  <a:srgbClr val="8B949E"/>
                </a:solidFill>
                <a:latin typeface="Calibri" pitchFamily="34" charset="0"/>
                <a:ea typeface="Calibri" pitchFamily="34" charset="-122"/>
                <a:cs typeface="Calibri" pitchFamily="34" charset="-120"/>
              </a:rPr>
              <a:t>Moving from a single blocking chat window to an Asynchronous Inbox. Sessions work while you context-switch freely.</a:t>
            </a:r>
            <a:endParaRPr lang="en-US" sz="1100" dirty="0"/>
          </a:p>
        </p:txBody>
      </p:sp>
      <p:sp>
        <p:nvSpPr>
          <p:cNvPr id="10" name="Shape 8"/>
          <p:cNvSpPr/>
          <p:nvPr/>
        </p:nvSpPr>
        <p:spPr>
          <a:xfrm>
            <a:off x="365760" y="2423160"/>
            <a:ext cx="4206240" cy="1097280"/>
          </a:xfrm>
          <a:prstGeom prst="rect">
            <a:avLst/>
          </a:prstGeom>
          <a:solidFill>
            <a:srgbClr val="161B22"/>
          </a:solidFill>
          <a:ln w="12700">
            <a:solidFill>
              <a:srgbClr val="3FB950"/>
            </a:solidFill>
            <a:prstDash val="solid"/>
          </a:ln>
        </p:spPr>
      </p:sp>
      <p:sp>
        <p:nvSpPr>
          <p:cNvPr id="11" name="Shape 9"/>
          <p:cNvSpPr/>
          <p:nvPr/>
        </p:nvSpPr>
        <p:spPr>
          <a:xfrm>
            <a:off x="365760" y="2423160"/>
            <a:ext cx="45720" cy="1097280"/>
          </a:xfrm>
          <a:prstGeom prst="rect">
            <a:avLst/>
          </a:prstGeom>
          <a:solidFill>
            <a:srgbClr val="3FB950"/>
          </a:solidFill>
          <a:ln w="12700">
            <a:solidFill>
              <a:srgbClr val="3FB950"/>
            </a:solidFill>
            <a:prstDash val="solid"/>
          </a:ln>
        </p:spPr>
      </p:sp>
      <p:sp>
        <p:nvSpPr>
          <p:cNvPr id="12" name="Text 10"/>
          <p:cNvSpPr/>
          <p:nvPr/>
        </p:nvSpPr>
        <p:spPr>
          <a:xfrm>
            <a:off x="548640" y="2496312"/>
            <a:ext cx="3931920" cy="320040"/>
          </a:xfrm>
          <a:prstGeom prst="rect">
            <a:avLst/>
          </a:prstGeom>
          <a:noFill/>
          <a:ln/>
        </p:spPr>
        <p:txBody>
          <a:bodyPr wrap="square" rtlCol="0" anchor="ctr"/>
          <a:lstStyle/>
          <a:p>
            <a:pPr marL="0" indent="0">
              <a:buNone/>
            </a:pPr>
            <a:r>
              <a:rPr lang="en-US" sz="1300" b="1" dirty="0">
                <a:solidFill>
                  <a:srgbClr val="3FB950"/>
                </a:solidFill>
                <a:latin typeface="Calibri" pitchFamily="34" charset="0"/>
                <a:ea typeface="Calibri" pitchFamily="34" charset="-122"/>
                <a:cs typeface="Calibri" pitchFamily="34" charset="-120"/>
              </a:rPr>
              <a:t>Global Visibility</a:t>
            </a:r>
            <a:endParaRPr lang="en-US" sz="1300" dirty="0"/>
          </a:p>
        </p:txBody>
      </p:sp>
      <p:sp>
        <p:nvSpPr>
          <p:cNvPr id="13" name="Text 11"/>
          <p:cNvSpPr/>
          <p:nvPr/>
        </p:nvSpPr>
        <p:spPr>
          <a:xfrm>
            <a:off x="548640" y="2816352"/>
            <a:ext cx="3931920" cy="594360"/>
          </a:xfrm>
          <a:prstGeom prst="rect">
            <a:avLst/>
          </a:prstGeom>
          <a:noFill/>
          <a:ln/>
        </p:spPr>
        <p:txBody>
          <a:bodyPr wrap="square" rtlCol="0" anchor="ctr"/>
          <a:lstStyle/>
          <a:p>
            <a:pPr marL="0" indent="0">
              <a:buNone/>
            </a:pPr>
            <a:r>
              <a:rPr lang="en-US" sz="1100" dirty="0">
                <a:solidFill>
                  <a:srgbClr val="8B949E"/>
                </a:solidFill>
                <a:latin typeface="Calibri" pitchFamily="34" charset="0"/>
                <a:ea typeface="Calibri" pitchFamily="34" charset="-122"/>
                <a:cs typeface="Calibri" pitchFamily="34" charset="-120"/>
              </a:rPr>
              <a:t>View all active, pending, and completed sessions across Local, Background, and Cloud environments at a single glance.</a:t>
            </a:r>
            <a:endParaRPr lang="en-US" sz="1100" dirty="0"/>
          </a:p>
        </p:txBody>
      </p:sp>
      <p:sp>
        <p:nvSpPr>
          <p:cNvPr id="14" name="Shape 12"/>
          <p:cNvSpPr/>
          <p:nvPr/>
        </p:nvSpPr>
        <p:spPr>
          <a:xfrm>
            <a:off x="365760" y="3657600"/>
            <a:ext cx="4206240" cy="1097280"/>
          </a:xfrm>
          <a:prstGeom prst="rect">
            <a:avLst/>
          </a:prstGeom>
          <a:solidFill>
            <a:srgbClr val="161B22"/>
          </a:solidFill>
          <a:ln w="12700">
            <a:solidFill>
              <a:srgbClr val="F78166"/>
            </a:solidFill>
            <a:prstDash val="solid"/>
          </a:ln>
        </p:spPr>
      </p:sp>
      <p:sp>
        <p:nvSpPr>
          <p:cNvPr id="15" name="Shape 13"/>
          <p:cNvSpPr/>
          <p:nvPr/>
        </p:nvSpPr>
        <p:spPr>
          <a:xfrm>
            <a:off x="365760" y="3657600"/>
            <a:ext cx="45720" cy="1097280"/>
          </a:xfrm>
          <a:prstGeom prst="rect">
            <a:avLst/>
          </a:prstGeom>
          <a:solidFill>
            <a:srgbClr val="F78166"/>
          </a:solidFill>
          <a:ln w="12700">
            <a:solidFill>
              <a:srgbClr val="F78166"/>
            </a:solidFill>
            <a:prstDash val="solid"/>
          </a:ln>
        </p:spPr>
      </p:sp>
      <p:sp>
        <p:nvSpPr>
          <p:cNvPr id="16" name="Text 14"/>
          <p:cNvSpPr/>
          <p:nvPr/>
        </p:nvSpPr>
        <p:spPr>
          <a:xfrm>
            <a:off x="548640" y="3730752"/>
            <a:ext cx="3931920" cy="320040"/>
          </a:xfrm>
          <a:prstGeom prst="rect">
            <a:avLst/>
          </a:prstGeom>
          <a:noFill/>
          <a:ln/>
        </p:spPr>
        <p:txBody>
          <a:bodyPr wrap="square" rtlCol="0" anchor="ctr"/>
          <a:lstStyle/>
          <a:p>
            <a:pPr marL="0" indent="0">
              <a:buNone/>
            </a:pPr>
            <a:r>
              <a:rPr lang="en-US" sz="1300" b="1" dirty="0">
                <a:solidFill>
                  <a:srgbClr val="F78166"/>
                </a:solidFill>
                <a:latin typeface="Calibri" pitchFamily="34" charset="0"/>
                <a:ea typeface="Calibri" pitchFamily="34" charset="-122"/>
                <a:cs typeface="Calibri" pitchFamily="34" charset="-120"/>
              </a:rPr>
              <a:t>Triage Workflow</a:t>
            </a:r>
            <a:endParaRPr lang="en-US" sz="1300" dirty="0"/>
          </a:p>
        </p:txBody>
      </p:sp>
      <p:sp>
        <p:nvSpPr>
          <p:cNvPr id="17" name="Text 15"/>
          <p:cNvSpPr/>
          <p:nvPr/>
        </p:nvSpPr>
        <p:spPr>
          <a:xfrm>
            <a:off x="548640" y="4050792"/>
            <a:ext cx="3931920" cy="594360"/>
          </a:xfrm>
          <a:prstGeom prst="rect">
            <a:avLst/>
          </a:prstGeom>
          <a:noFill/>
          <a:ln/>
        </p:spPr>
        <p:txBody>
          <a:bodyPr wrap="square" rtlCol="0" anchor="ctr"/>
          <a:lstStyle/>
          <a:p>
            <a:pPr marL="0" indent="0">
              <a:buNone/>
            </a:pPr>
            <a:r>
              <a:rPr lang="en-US" sz="1100" dirty="0">
                <a:solidFill>
                  <a:srgbClr val="8B949E"/>
                </a:solidFill>
                <a:latin typeface="Calibri" pitchFamily="34" charset="0"/>
                <a:ea typeface="Calibri" pitchFamily="34" charset="-122"/>
                <a:cs typeface="Calibri" pitchFamily="34" charset="-120"/>
              </a:rPr>
              <a:t>Treat sessions like emails: Triage, archive, or click in to review a completed pull request when your cognitive capacity allows.</a:t>
            </a:r>
            <a:endParaRPr lang="en-US" sz="1100" dirty="0"/>
          </a:p>
        </p:txBody>
      </p:sp>
      <p:sp>
        <p:nvSpPr>
          <p:cNvPr id="18" name="Shape 16"/>
          <p:cNvSpPr/>
          <p:nvPr/>
        </p:nvSpPr>
        <p:spPr>
          <a:xfrm>
            <a:off x="4846320" y="1188720"/>
            <a:ext cx="3931920" cy="3611880"/>
          </a:xfrm>
          <a:prstGeom prst="rect">
            <a:avLst/>
          </a:prstGeom>
          <a:solidFill>
            <a:srgbClr val="1C2333"/>
          </a:solidFill>
          <a:ln w="12700">
            <a:solidFill>
              <a:srgbClr val="30363D"/>
            </a:solidFill>
            <a:prstDash val="solid"/>
          </a:ln>
        </p:spPr>
      </p:sp>
      <p:sp>
        <p:nvSpPr>
          <p:cNvPr id="19" name="Text 17"/>
          <p:cNvSpPr/>
          <p:nvPr/>
        </p:nvSpPr>
        <p:spPr>
          <a:xfrm>
            <a:off x="5029200" y="1261872"/>
            <a:ext cx="3566160" cy="256032"/>
          </a:xfrm>
          <a:prstGeom prst="rect">
            <a:avLst/>
          </a:prstGeom>
          <a:noFill/>
          <a:ln/>
        </p:spPr>
        <p:txBody>
          <a:bodyPr wrap="square" rtlCol="0" anchor="ctr"/>
          <a:lstStyle/>
          <a:p>
            <a:pPr marL="0" indent="0">
              <a:buNone/>
            </a:pPr>
            <a:r>
              <a:rPr lang="en-US" sz="1000" b="1" dirty="0">
                <a:solidFill>
                  <a:srgbClr val="484F58"/>
                </a:solidFill>
                <a:latin typeface="Consolas" pitchFamily="34" charset="0"/>
                <a:ea typeface="Consolas" pitchFamily="34" charset="-122"/>
                <a:cs typeface="Consolas" pitchFamily="34" charset="-120"/>
              </a:rPr>
              <a:t>AGENT SESSIONS</a:t>
            </a:r>
            <a:endParaRPr lang="en-US" sz="1000" dirty="0"/>
          </a:p>
        </p:txBody>
      </p:sp>
      <p:sp>
        <p:nvSpPr>
          <p:cNvPr id="20" name="Shape 18"/>
          <p:cNvSpPr/>
          <p:nvPr/>
        </p:nvSpPr>
        <p:spPr>
          <a:xfrm>
            <a:off x="4892040" y="1600200"/>
            <a:ext cx="3840480" cy="502920"/>
          </a:xfrm>
          <a:prstGeom prst="rect">
            <a:avLst/>
          </a:prstGeom>
          <a:solidFill>
            <a:srgbClr val="161B22"/>
          </a:solidFill>
          <a:ln w="6350">
            <a:solidFill>
              <a:srgbClr val="30363D"/>
            </a:solidFill>
            <a:prstDash val="solid"/>
          </a:ln>
        </p:spPr>
      </p:sp>
      <p:sp>
        <p:nvSpPr>
          <p:cNvPr id="21" name="Text 19"/>
          <p:cNvSpPr/>
          <p:nvPr/>
        </p:nvSpPr>
        <p:spPr>
          <a:xfrm>
            <a:off x="5029200" y="1645920"/>
            <a:ext cx="2286000" cy="228600"/>
          </a:xfrm>
          <a:prstGeom prst="rect">
            <a:avLst/>
          </a:prstGeom>
          <a:noFill/>
          <a:ln/>
        </p:spPr>
        <p:txBody>
          <a:bodyPr wrap="square" rtlCol="0" anchor="ctr"/>
          <a:lstStyle/>
          <a:p>
            <a:pPr marL="0" indent="0">
              <a:buNone/>
            </a:pPr>
            <a:r>
              <a:rPr lang="en-US" sz="1000" b="1" dirty="0">
                <a:solidFill>
                  <a:srgbClr val="E6EDF3"/>
                </a:solidFill>
                <a:latin typeface="Consolas" pitchFamily="34" charset="0"/>
                <a:ea typeface="Consolas" pitchFamily="34" charset="-122"/>
                <a:cs typeface="Consolas" pitchFamily="34" charset="-120"/>
              </a:rPr>
              <a:t>feat/auth-refactor</a:t>
            </a:r>
            <a:endParaRPr lang="en-US" sz="1000" dirty="0"/>
          </a:p>
        </p:txBody>
      </p:sp>
      <p:sp>
        <p:nvSpPr>
          <p:cNvPr id="22" name="Text 20"/>
          <p:cNvSpPr/>
          <p:nvPr/>
        </p:nvSpPr>
        <p:spPr>
          <a:xfrm>
            <a:off x="5029200" y="1874520"/>
            <a:ext cx="2286000" cy="182880"/>
          </a:xfrm>
          <a:prstGeom prst="rect">
            <a:avLst/>
          </a:prstGeom>
          <a:noFill/>
          <a:ln/>
        </p:spPr>
        <p:txBody>
          <a:bodyPr wrap="square" rtlCol="0" anchor="ctr"/>
          <a:lstStyle/>
          <a:p>
            <a:pPr marL="0" indent="0">
              <a:buNone/>
            </a:pPr>
            <a:r>
              <a:rPr lang="en-US" sz="900" dirty="0">
                <a:solidFill>
                  <a:srgbClr val="8B949E"/>
                </a:solidFill>
                <a:latin typeface="Consolas" pitchFamily="34" charset="0"/>
                <a:ea typeface="Consolas" pitchFamily="34" charset="-122"/>
                <a:cs typeface="Consolas" pitchFamily="34" charset="-120"/>
              </a:rPr>
              <a:t>Claude Sonnet</a:t>
            </a:r>
            <a:endParaRPr lang="en-US" sz="900" dirty="0"/>
          </a:p>
        </p:txBody>
      </p:sp>
      <p:sp>
        <p:nvSpPr>
          <p:cNvPr id="23" name="Text 21"/>
          <p:cNvSpPr/>
          <p:nvPr/>
        </p:nvSpPr>
        <p:spPr>
          <a:xfrm>
            <a:off x="7863840" y="1737360"/>
            <a:ext cx="822960" cy="228600"/>
          </a:xfrm>
          <a:prstGeom prst="rect">
            <a:avLst/>
          </a:prstGeom>
          <a:noFill/>
          <a:ln/>
        </p:spPr>
        <p:txBody>
          <a:bodyPr wrap="square" rtlCol="0" anchor="ctr"/>
          <a:lstStyle/>
          <a:p>
            <a:pPr marL="0" indent="0" algn="r">
              <a:buNone/>
            </a:pPr>
            <a:r>
              <a:rPr lang="en-US" sz="900" b="1" dirty="0">
                <a:solidFill>
                  <a:srgbClr val="3FB950"/>
                </a:solidFill>
                <a:latin typeface="Consolas" pitchFamily="34" charset="0"/>
                <a:ea typeface="Consolas" pitchFamily="34" charset="-122"/>
                <a:cs typeface="Consolas" pitchFamily="34" charset="-120"/>
              </a:rPr>
              <a:t>DONE</a:t>
            </a:r>
            <a:endParaRPr lang="en-US" sz="900" dirty="0"/>
          </a:p>
        </p:txBody>
      </p:sp>
      <p:sp>
        <p:nvSpPr>
          <p:cNvPr id="24" name="Shape 22"/>
          <p:cNvSpPr/>
          <p:nvPr/>
        </p:nvSpPr>
        <p:spPr>
          <a:xfrm>
            <a:off x="4892040" y="2167128"/>
            <a:ext cx="3840480" cy="502920"/>
          </a:xfrm>
          <a:prstGeom prst="rect">
            <a:avLst/>
          </a:prstGeom>
          <a:solidFill>
            <a:srgbClr val="1C2333"/>
          </a:solidFill>
          <a:ln w="6350">
            <a:solidFill>
              <a:srgbClr val="30363D"/>
            </a:solidFill>
            <a:prstDash val="solid"/>
          </a:ln>
        </p:spPr>
      </p:sp>
      <p:sp>
        <p:nvSpPr>
          <p:cNvPr id="25" name="Text 23"/>
          <p:cNvSpPr/>
          <p:nvPr/>
        </p:nvSpPr>
        <p:spPr>
          <a:xfrm>
            <a:off x="5029200" y="2212848"/>
            <a:ext cx="2286000" cy="228600"/>
          </a:xfrm>
          <a:prstGeom prst="rect">
            <a:avLst/>
          </a:prstGeom>
          <a:noFill/>
          <a:ln/>
        </p:spPr>
        <p:txBody>
          <a:bodyPr wrap="square" rtlCol="0" anchor="ctr"/>
          <a:lstStyle/>
          <a:p>
            <a:pPr marL="0" indent="0">
              <a:buNone/>
            </a:pPr>
            <a:r>
              <a:rPr lang="en-US" sz="1000" b="1" dirty="0">
                <a:solidFill>
                  <a:srgbClr val="E6EDF3"/>
                </a:solidFill>
                <a:latin typeface="Consolas" pitchFamily="34" charset="0"/>
                <a:ea typeface="Consolas" pitchFamily="34" charset="-122"/>
                <a:cs typeface="Consolas" pitchFamily="34" charset="-120"/>
              </a:rPr>
              <a:t>fix/api-types</a:t>
            </a:r>
            <a:endParaRPr lang="en-US" sz="1000" dirty="0"/>
          </a:p>
        </p:txBody>
      </p:sp>
      <p:sp>
        <p:nvSpPr>
          <p:cNvPr id="26" name="Text 24"/>
          <p:cNvSpPr/>
          <p:nvPr/>
        </p:nvSpPr>
        <p:spPr>
          <a:xfrm>
            <a:off x="5029200" y="2441448"/>
            <a:ext cx="2286000" cy="182880"/>
          </a:xfrm>
          <a:prstGeom prst="rect">
            <a:avLst/>
          </a:prstGeom>
          <a:noFill/>
          <a:ln/>
        </p:spPr>
        <p:txBody>
          <a:bodyPr wrap="square" rtlCol="0" anchor="ctr"/>
          <a:lstStyle/>
          <a:p>
            <a:pPr marL="0" indent="0">
              <a:buNone/>
            </a:pPr>
            <a:r>
              <a:rPr lang="en-US" sz="900" dirty="0">
                <a:solidFill>
                  <a:srgbClr val="8B949E"/>
                </a:solidFill>
                <a:latin typeface="Consolas" pitchFamily="34" charset="0"/>
                <a:ea typeface="Consolas" pitchFamily="34" charset="-122"/>
                <a:cs typeface="Consolas" pitchFamily="34" charset="-120"/>
              </a:rPr>
              <a:t>GPT-4.1</a:t>
            </a:r>
            <a:endParaRPr lang="en-US" sz="900" dirty="0"/>
          </a:p>
        </p:txBody>
      </p:sp>
      <p:sp>
        <p:nvSpPr>
          <p:cNvPr id="27" name="Text 25"/>
          <p:cNvSpPr/>
          <p:nvPr/>
        </p:nvSpPr>
        <p:spPr>
          <a:xfrm>
            <a:off x="7863840" y="2304288"/>
            <a:ext cx="822960" cy="228600"/>
          </a:xfrm>
          <a:prstGeom prst="rect">
            <a:avLst/>
          </a:prstGeom>
          <a:noFill/>
          <a:ln/>
        </p:spPr>
        <p:txBody>
          <a:bodyPr wrap="square" rtlCol="0" anchor="ctr"/>
          <a:lstStyle/>
          <a:p>
            <a:pPr marL="0" indent="0" algn="r">
              <a:buNone/>
            </a:pPr>
            <a:r>
              <a:rPr lang="en-US" sz="900" b="1" dirty="0">
                <a:solidFill>
                  <a:srgbClr val="D29922"/>
                </a:solidFill>
                <a:latin typeface="Consolas" pitchFamily="34" charset="0"/>
                <a:ea typeface="Consolas" pitchFamily="34" charset="-122"/>
                <a:cs typeface="Consolas" pitchFamily="34" charset="-120"/>
              </a:rPr>
              <a:t>RUNNING</a:t>
            </a:r>
            <a:endParaRPr lang="en-US" sz="900" dirty="0"/>
          </a:p>
        </p:txBody>
      </p:sp>
      <p:sp>
        <p:nvSpPr>
          <p:cNvPr id="28" name="Shape 26"/>
          <p:cNvSpPr/>
          <p:nvPr/>
        </p:nvSpPr>
        <p:spPr>
          <a:xfrm>
            <a:off x="4892040" y="2734056"/>
            <a:ext cx="3840480" cy="502920"/>
          </a:xfrm>
          <a:prstGeom prst="rect">
            <a:avLst/>
          </a:prstGeom>
          <a:solidFill>
            <a:srgbClr val="161B22"/>
          </a:solidFill>
          <a:ln w="6350">
            <a:solidFill>
              <a:srgbClr val="30363D"/>
            </a:solidFill>
            <a:prstDash val="solid"/>
          </a:ln>
        </p:spPr>
      </p:sp>
      <p:sp>
        <p:nvSpPr>
          <p:cNvPr id="29" name="Text 27"/>
          <p:cNvSpPr/>
          <p:nvPr/>
        </p:nvSpPr>
        <p:spPr>
          <a:xfrm>
            <a:off x="5029200" y="2779776"/>
            <a:ext cx="2286000" cy="228600"/>
          </a:xfrm>
          <a:prstGeom prst="rect">
            <a:avLst/>
          </a:prstGeom>
          <a:noFill/>
          <a:ln/>
        </p:spPr>
        <p:txBody>
          <a:bodyPr wrap="square" rtlCol="0" anchor="ctr"/>
          <a:lstStyle/>
          <a:p>
            <a:pPr marL="0" indent="0">
              <a:buNone/>
            </a:pPr>
            <a:r>
              <a:rPr lang="en-US" sz="1000" b="1" dirty="0">
                <a:solidFill>
                  <a:srgbClr val="E6EDF3"/>
                </a:solidFill>
                <a:latin typeface="Consolas" pitchFamily="34" charset="0"/>
                <a:ea typeface="Consolas" pitchFamily="34" charset="-122"/>
                <a:cs typeface="Consolas" pitchFamily="34" charset="-120"/>
              </a:rPr>
              <a:t>test/coverage-boost</a:t>
            </a:r>
            <a:endParaRPr lang="en-US" sz="1000" dirty="0"/>
          </a:p>
        </p:txBody>
      </p:sp>
      <p:sp>
        <p:nvSpPr>
          <p:cNvPr id="30" name="Text 28"/>
          <p:cNvSpPr/>
          <p:nvPr/>
        </p:nvSpPr>
        <p:spPr>
          <a:xfrm>
            <a:off x="5029200" y="3008376"/>
            <a:ext cx="2286000" cy="182880"/>
          </a:xfrm>
          <a:prstGeom prst="rect">
            <a:avLst/>
          </a:prstGeom>
          <a:noFill/>
          <a:ln/>
        </p:spPr>
        <p:txBody>
          <a:bodyPr wrap="square" rtlCol="0" anchor="ctr"/>
          <a:lstStyle/>
          <a:p>
            <a:pPr marL="0" indent="0">
              <a:buNone/>
            </a:pPr>
            <a:r>
              <a:rPr lang="en-US" sz="900" dirty="0">
                <a:solidFill>
                  <a:srgbClr val="8B949E"/>
                </a:solidFill>
                <a:latin typeface="Consolas" pitchFamily="34" charset="0"/>
                <a:ea typeface="Consolas" pitchFamily="34" charset="-122"/>
                <a:cs typeface="Consolas" pitchFamily="34" charset="-120"/>
              </a:rPr>
              <a:t>Claude Sonnet</a:t>
            </a:r>
            <a:endParaRPr lang="en-US" sz="900" dirty="0"/>
          </a:p>
        </p:txBody>
      </p:sp>
      <p:sp>
        <p:nvSpPr>
          <p:cNvPr id="31" name="Text 29"/>
          <p:cNvSpPr/>
          <p:nvPr/>
        </p:nvSpPr>
        <p:spPr>
          <a:xfrm>
            <a:off x="7863840" y="2871216"/>
            <a:ext cx="822960" cy="228600"/>
          </a:xfrm>
          <a:prstGeom prst="rect">
            <a:avLst/>
          </a:prstGeom>
          <a:noFill/>
          <a:ln/>
        </p:spPr>
        <p:txBody>
          <a:bodyPr wrap="square" rtlCol="0" anchor="ctr"/>
          <a:lstStyle/>
          <a:p>
            <a:pPr marL="0" indent="0" algn="r">
              <a:buNone/>
            </a:pPr>
            <a:r>
              <a:rPr lang="en-US" sz="900" b="1" dirty="0">
                <a:solidFill>
                  <a:srgbClr val="D29922"/>
                </a:solidFill>
                <a:latin typeface="Consolas" pitchFamily="34" charset="0"/>
                <a:ea typeface="Consolas" pitchFamily="34" charset="-122"/>
                <a:cs typeface="Consolas" pitchFamily="34" charset="-120"/>
              </a:rPr>
              <a:t>RUNNING</a:t>
            </a:r>
            <a:endParaRPr lang="en-US" sz="900" dirty="0"/>
          </a:p>
        </p:txBody>
      </p:sp>
      <p:sp>
        <p:nvSpPr>
          <p:cNvPr id="32" name="Shape 30"/>
          <p:cNvSpPr/>
          <p:nvPr/>
        </p:nvSpPr>
        <p:spPr>
          <a:xfrm>
            <a:off x="4892040" y="3300984"/>
            <a:ext cx="3840480" cy="502920"/>
          </a:xfrm>
          <a:prstGeom prst="rect">
            <a:avLst/>
          </a:prstGeom>
          <a:solidFill>
            <a:srgbClr val="1C2333"/>
          </a:solidFill>
          <a:ln w="6350">
            <a:solidFill>
              <a:srgbClr val="30363D"/>
            </a:solidFill>
            <a:prstDash val="solid"/>
          </a:ln>
        </p:spPr>
      </p:sp>
      <p:sp>
        <p:nvSpPr>
          <p:cNvPr id="33" name="Text 31"/>
          <p:cNvSpPr/>
          <p:nvPr/>
        </p:nvSpPr>
        <p:spPr>
          <a:xfrm>
            <a:off x="5029200" y="3346704"/>
            <a:ext cx="2286000" cy="228600"/>
          </a:xfrm>
          <a:prstGeom prst="rect">
            <a:avLst/>
          </a:prstGeom>
          <a:noFill/>
          <a:ln/>
        </p:spPr>
        <p:txBody>
          <a:bodyPr wrap="square" rtlCol="0" anchor="ctr"/>
          <a:lstStyle/>
          <a:p>
            <a:pPr marL="0" indent="0">
              <a:buNone/>
            </a:pPr>
            <a:r>
              <a:rPr lang="en-US" sz="1000" b="1" dirty="0">
                <a:solidFill>
                  <a:srgbClr val="E6EDF3"/>
                </a:solidFill>
                <a:latin typeface="Consolas" pitchFamily="34" charset="0"/>
                <a:ea typeface="Consolas" pitchFamily="34" charset="-122"/>
                <a:cs typeface="Consolas" pitchFamily="34" charset="-120"/>
              </a:rPr>
              <a:t>chore/dep-update</a:t>
            </a:r>
            <a:endParaRPr lang="en-US" sz="1000" dirty="0"/>
          </a:p>
        </p:txBody>
      </p:sp>
      <p:sp>
        <p:nvSpPr>
          <p:cNvPr id="34" name="Text 32"/>
          <p:cNvSpPr/>
          <p:nvPr/>
        </p:nvSpPr>
        <p:spPr>
          <a:xfrm>
            <a:off x="5029200" y="3575304"/>
            <a:ext cx="2286000" cy="182880"/>
          </a:xfrm>
          <a:prstGeom prst="rect">
            <a:avLst/>
          </a:prstGeom>
          <a:noFill/>
          <a:ln/>
        </p:spPr>
        <p:txBody>
          <a:bodyPr wrap="square" rtlCol="0" anchor="ctr"/>
          <a:lstStyle/>
          <a:p>
            <a:pPr marL="0" indent="0">
              <a:buNone/>
            </a:pPr>
            <a:r>
              <a:rPr lang="en-US" sz="900" dirty="0">
                <a:solidFill>
                  <a:srgbClr val="8B949E"/>
                </a:solidFill>
                <a:latin typeface="Consolas" pitchFamily="34" charset="0"/>
                <a:ea typeface="Consolas" pitchFamily="34" charset="-122"/>
                <a:cs typeface="Consolas" pitchFamily="34" charset="-120"/>
              </a:rPr>
              <a:t>GPT-4.1</a:t>
            </a:r>
            <a:endParaRPr lang="en-US" sz="900" dirty="0"/>
          </a:p>
        </p:txBody>
      </p:sp>
      <p:sp>
        <p:nvSpPr>
          <p:cNvPr id="35" name="Text 33"/>
          <p:cNvSpPr/>
          <p:nvPr/>
        </p:nvSpPr>
        <p:spPr>
          <a:xfrm>
            <a:off x="7863840" y="3438144"/>
            <a:ext cx="822960" cy="228600"/>
          </a:xfrm>
          <a:prstGeom prst="rect">
            <a:avLst/>
          </a:prstGeom>
          <a:noFill/>
          <a:ln/>
        </p:spPr>
        <p:txBody>
          <a:bodyPr wrap="square" rtlCol="0" anchor="ctr"/>
          <a:lstStyle/>
          <a:p>
            <a:pPr marL="0" indent="0" algn="r">
              <a:buNone/>
            </a:pPr>
            <a:r>
              <a:rPr lang="en-US" sz="900" b="1" dirty="0">
                <a:solidFill>
                  <a:srgbClr val="484F58"/>
                </a:solidFill>
                <a:latin typeface="Consolas" pitchFamily="34" charset="0"/>
                <a:ea typeface="Consolas" pitchFamily="34" charset="-122"/>
                <a:cs typeface="Consolas" pitchFamily="34" charset="-120"/>
              </a:rPr>
              <a:t>QUEUED</a:t>
            </a:r>
            <a:endParaRPr lang="en-US" sz="900" dirty="0"/>
          </a:p>
        </p:txBody>
      </p:sp>
      <p:sp>
        <p:nvSpPr>
          <p:cNvPr id="36" name="Shape 34"/>
          <p:cNvSpPr/>
          <p:nvPr/>
        </p:nvSpPr>
        <p:spPr>
          <a:xfrm>
            <a:off x="4892040" y="3867912"/>
            <a:ext cx="3840480" cy="502920"/>
          </a:xfrm>
          <a:prstGeom prst="rect">
            <a:avLst/>
          </a:prstGeom>
          <a:solidFill>
            <a:srgbClr val="161B22"/>
          </a:solidFill>
          <a:ln w="6350">
            <a:solidFill>
              <a:srgbClr val="30363D"/>
            </a:solidFill>
            <a:prstDash val="solid"/>
          </a:ln>
        </p:spPr>
      </p:sp>
      <p:sp>
        <p:nvSpPr>
          <p:cNvPr id="37" name="Text 35"/>
          <p:cNvSpPr/>
          <p:nvPr/>
        </p:nvSpPr>
        <p:spPr>
          <a:xfrm>
            <a:off x="5029200" y="3913632"/>
            <a:ext cx="2286000" cy="228600"/>
          </a:xfrm>
          <a:prstGeom prst="rect">
            <a:avLst/>
          </a:prstGeom>
          <a:noFill/>
          <a:ln/>
        </p:spPr>
        <p:txBody>
          <a:bodyPr wrap="square" rtlCol="0" anchor="ctr"/>
          <a:lstStyle/>
          <a:p>
            <a:pPr marL="0" indent="0">
              <a:buNone/>
            </a:pPr>
            <a:r>
              <a:rPr lang="en-US" sz="1000" b="1" dirty="0">
                <a:solidFill>
                  <a:srgbClr val="E6EDF3"/>
                </a:solidFill>
                <a:latin typeface="Consolas" pitchFamily="34" charset="0"/>
                <a:ea typeface="Consolas" pitchFamily="34" charset="-122"/>
                <a:cs typeface="Consolas" pitchFamily="34" charset="-120"/>
              </a:rPr>
              <a:t>feat/dark-mode</a:t>
            </a:r>
            <a:endParaRPr lang="en-US" sz="1000" dirty="0"/>
          </a:p>
        </p:txBody>
      </p:sp>
      <p:sp>
        <p:nvSpPr>
          <p:cNvPr id="38" name="Text 36"/>
          <p:cNvSpPr/>
          <p:nvPr/>
        </p:nvSpPr>
        <p:spPr>
          <a:xfrm>
            <a:off x="5029200" y="4142232"/>
            <a:ext cx="2286000" cy="182880"/>
          </a:xfrm>
          <a:prstGeom prst="rect">
            <a:avLst/>
          </a:prstGeom>
          <a:noFill/>
          <a:ln/>
        </p:spPr>
        <p:txBody>
          <a:bodyPr wrap="square" rtlCol="0" anchor="ctr"/>
          <a:lstStyle/>
          <a:p>
            <a:pPr marL="0" indent="0">
              <a:buNone/>
            </a:pPr>
            <a:r>
              <a:rPr lang="en-US" sz="900" dirty="0">
                <a:solidFill>
                  <a:srgbClr val="8B949E"/>
                </a:solidFill>
                <a:latin typeface="Consolas" pitchFamily="34" charset="0"/>
                <a:ea typeface="Consolas" pitchFamily="34" charset="-122"/>
                <a:cs typeface="Consolas" pitchFamily="34" charset="-120"/>
              </a:rPr>
              <a:t>Claude Opus</a:t>
            </a:r>
            <a:endParaRPr lang="en-US" sz="900" dirty="0"/>
          </a:p>
        </p:txBody>
      </p:sp>
      <p:sp>
        <p:nvSpPr>
          <p:cNvPr id="39" name="Text 37"/>
          <p:cNvSpPr/>
          <p:nvPr/>
        </p:nvSpPr>
        <p:spPr>
          <a:xfrm>
            <a:off x="7863840" y="4005072"/>
            <a:ext cx="822960" cy="228600"/>
          </a:xfrm>
          <a:prstGeom prst="rect">
            <a:avLst/>
          </a:prstGeom>
          <a:noFill/>
          <a:ln/>
        </p:spPr>
        <p:txBody>
          <a:bodyPr wrap="square" rtlCol="0" anchor="ctr"/>
          <a:lstStyle/>
          <a:p>
            <a:pPr marL="0" indent="0" algn="r">
              <a:buNone/>
            </a:pPr>
            <a:r>
              <a:rPr lang="en-US" sz="900" b="1" dirty="0">
                <a:solidFill>
                  <a:srgbClr val="F78166"/>
                </a:solidFill>
                <a:latin typeface="Consolas" pitchFamily="34" charset="0"/>
                <a:ea typeface="Consolas" pitchFamily="34" charset="-122"/>
                <a:cs typeface="Consolas" pitchFamily="34" charset="-120"/>
              </a:rPr>
              <a:t>REVIEW</a:t>
            </a:r>
            <a:endParaRPr lang="en-US" sz="900" dirty="0"/>
          </a:p>
        </p:txBody>
      </p:sp>
      <p:sp>
        <p:nvSpPr>
          <p:cNvPr id="40" name="Shape 38"/>
          <p:cNvSpPr/>
          <p:nvPr/>
        </p:nvSpPr>
        <p:spPr>
          <a:xfrm>
            <a:off x="0" y="4960620"/>
            <a:ext cx="9144000" cy="182880"/>
          </a:xfrm>
          <a:prstGeom prst="rect">
            <a:avLst/>
          </a:prstGeom>
          <a:solidFill>
            <a:srgbClr val="161B22"/>
          </a:solidFill>
          <a:ln w="12700">
            <a:solidFill>
              <a:srgbClr val="30363D"/>
            </a:solidFill>
            <a:prstDash val="solid"/>
          </a:ln>
        </p:spPr>
      </p:sp>
      <p:sp>
        <p:nvSpPr>
          <p:cNvPr id="41" name="Text 39"/>
          <p:cNvSpPr/>
          <p:nvPr/>
        </p:nvSpPr>
        <p:spPr>
          <a:xfrm>
            <a:off x="274320" y="4965192"/>
            <a:ext cx="8595360" cy="164592"/>
          </a:xfrm>
          <a:prstGeom prst="rect">
            <a:avLst/>
          </a:prstGeom>
          <a:noFill/>
          <a:ln/>
        </p:spPr>
        <p:txBody>
          <a:bodyPr wrap="square" rtlCol="0" anchor="ctr"/>
          <a:lstStyle/>
          <a:p>
            <a:pPr marL="0" indent="0" algn="l">
              <a:buNone/>
            </a:pPr>
            <a:r>
              <a:rPr lang="en-US" sz="800" dirty="0">
                <a:solidFill>
                  <a:srgbClr val="484F58"/>
                </a:solidFill>
                <a:latin typeface="Consolas" pitchFamily="34" charset="0"/>
                <a:ea typeface="Consolas" pitchFamily="34" charset="-122"/>
                <a:cs typeface="Consolas" pitchFamily="34" charset="-120"/>
              </a:rPr>
              <a:t>Multi-Agent in VS Code  •  Developer Community</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007ACC"/>
          </a:solidFill>
          <a:ln w="12700">
            <a:solidFill>
              <a:srgbClr val="007ACC"/>
            </a:solidFill>
            <a:prstDash val="solid"/>
          </a:ln>
        </p:spPr>
      </p:sp>
      <p:sp>
        <p:nvSpPr>
          <p:cNvPr id="3" name="Text 1"/>
          <p:cNvSpPr/>
          <p:nvPr/>
        </p:nvSpPr>
        <p:spPr>
          <a:xfrm>
            <a:off x="457200" y="182880"/>
            <a:ext cx="8229600" cy="502920"/>
          </a:xfrm>
          <a:prstGeom prst="rect">
            <a:avLst/>
          </a:prstGeom>
          <a:noFill/>
          <a:ln/>
        </p:spPr>
        <p:txBody>
          <a:bodyPr wrap="square" lIns="0" tIns="0" rIns="0" bIns="0" rtlCol="0" anchor="ctr"/>
          <a:lstStyle/>
          <a:p>
            <a:pPr marL="0" indent="0">
              <a:buNone/>
            </a:pPr>
            <a:r>
              <a:rPr lang="en-US" sz="2200" b="1" dirty="0">
                <a:solidFill>
                  <a:srgbClr val="E6EDF3"/>
                </a:solidFill>
                <a:latin typeface="Calibri" pitchFamily="34" charset="0"/>
                <a:ea typeface="Calibri" pitchFamily="34" charset="-122"/>
                <a:cs typeface="Calibri" pitchFamily="34" charset="-120"/>
              </a:rPr>
              <a:t>Prerequisite: The AI-Ready Repository</a:t>
            </a:r>
            <a:endParaRPr lang="en-US" sz="2200" dirty="0"/>
          </a:p>
        </p:txBody>
      </p:sp>
      <p:sp>
        <p:nvSpPr>
          <p:cNvPr id="4" name="Text 2"/>
          <p:cNvSpPr/>
          <p:nvPr/>
        </p:nvSpPr>
        <p:spPr>
          <a:xfrm>
            <a:off x="457200" y="685800"/>
            <a:ext cx="8229600" cy="320040"/>
          </a:xfrm>
          <a:prstGeom prst="rect">
            <a:avLst/>
          </a:prstGeom>
          <a:noFill/>
          <a:ln/>
        </p:spPr>
        <p:txBody>
          <a:bodyPr wrap="square" lIns="0" tIns="0" rIns="0" bIns="0" rtlCol="0" anchor="ctr"/>
          <a:lstStyle/>
          <a:p>
            <a:pPr marL="0" indent="0">
              <a:buNone/>
            </a:pPr>
            <a:r>
              <a:rPr lang="en-US" sz="1200" dirty="0">
                <a:solidFill>
                  <a:srgbClr val="8B949E"/>
                </a:solidFill>
                <a:latin typeface="Calibri" pitchFamily="34" charset="0"/>
                <a:ea typeface="Calibri" pitchFamily="34" charset="-122"/>
                <a:cs typeface="Calibri" pitchFamily="34" charset="-120"/>
              </a:rPr>
              <a:t>Agents are only as good as the machine-readable constraints you provide</a:t>
            </a:r>
            <a:endParaRPr lang="en-US" sz="1200" dirty="0"/>
          </a:p>
        </p:txBody>
      </p:sp>
      <p:sp>
        <p:nvSpPr>
          <p:cNvPr id="5" name="Shape 3"/>
          <p:cNvSpPr/>
          <p:nvPr/>
        </p:nvSpPr>
        <p:spPr>
          <a:xfrm>
            <a:off x="457200" y="1005840"/>
            <a:ext cx="8229600" cy="9144"/>
          </a:xfrm>
          <a:prstGeom prst="rect">
            <a:avLst/>
          </a:prstGeom>
          <a:solidFill>
            <a:srgbClr val="30363D"/>
          </a:solidFill>
          <a:ln w="12700">
            <a:solidFill>
              <a:srgbClr val="30363D"/>
            </a:solidFill>
            <a:prstDash val="solid"/>
          </a:ln>
        </p:spPr>
      </p:sp>
      <p:sp>
        <p:nvSpPr>
          <p:cNvPr id="6" name="Shape 4"/>
          <p:cNvSpPr/>
          <p:nvPr/>
        </p:nvSpPr>
        <p:spPr>
          <a:xfrm>
            <a:off x="365760" y="1188720"/>
            <a:ext cx="3931920" cy="3474720"/>
          </a:xfrm>
          <a:prstGeom prst="rect">
            <a:avLst/>
          </a:prstGeom>
          <a:solidFill>
            <a:srgbClr val="1A0D00"/>
          </a:solidFill>
          <a:ln w="12700">
            <a:solidFill>
              <a:srgbClr val="F78166"/>
            </a:solidFill>
            <a:prstDash val="solid"/>
          </a:ln>
        </p:spPr>
      </p:sp>
      <p:sp>
        <p:nvSpPr>
          <p:cNvPr id="7" name="Shape 5"/>
          <p:cNvSpPr/>
          <p:nvPr/>
        </p:nvSpPr>
        <p:spPr>
          <a:xfrm>
            <a:off x="365760" y="1188720"/>
            <a:ext cx="45720" cy="3474720"/>
          </a:xfrm>
          <a:prstGeom prst="rect">
            <a:avLst/>
          </a:prstGeom>
          <a:solidFill>
            <a:srgbClr val="F78166"/>
          </a:solidFill>
          <a:ln w="12700">
            <a:solidFill>
              <a:srgbClr val="F78166"/>
            </a:solidFill>
            <a:prstDash val="solid"/>
          </a:ln>
        </p:spPr>
      </p:sp>
      <p:sp>
        <p:nvSpPr>
          <p:cNvPr id="8" name="Text 6"/>
          <p:cNvSpPr/>
          <p:nvPr/>
        </p:nvSpPr>
        <p:spPr>
          <a:xfrm>
            <a:off x="548640" y="1261872"/>
            <a:ext cx="3657600" cy="320040"/>
          </a:xfrm>
          <a:prstGeom prst="rect">
            <a:avLst/>
          </a:prstGeom>
          <a:noFill/>
          <a:ln/>
        </p:spPr>
        <p:txBody>
          <a:bodyPr wrap="square" rtlCol="0" anchor="ctr"/>
          <a:lstStyle/>
          <a:p>
            <a:pPr marL="0" indent="0">
              <a:buNone/>
            </a:pPr>
            <a:r>
              <a:rPr lang="en-US" sz="1300" b="1" dirty="0">
                <a:solidFill>
                  <a:srgbClr val="F78166"/>
                </a:solidFill>
                <a:latin typeface="Calibri" pitchFamily="34" charset="0"/>
                <a:ea typeface="Calibri" pitchFamily="34" charset="-122"/>
                <a:cs typeface="Calibri" pitchFamily="34" charset="-120"/>
              </a:rPr>
              <a:t>Implicit Tribal Knowledge</a:t>
            </a:r>
            <a:endParaRPr lang="en-US" sz="1300" dirty="0"/>
          </a:p>
        </p:txBody>
      </p:sp>
      <p:sp>
        <p:nvSpPr>
          <p:cNvPr id="9" name="Text 7"/>
          <p:cNvSpPr/>
          <p:nvPr/>
        </p:nvSpPr>
        <p:spPr>
          <a:xfrm>
            <a:off x="548640" y="1600200"/>
            <a:ext cx="3657600" cy="502920"/>
          </a:xfrm>
          <a:prstGeom prst="rect">
            <a:avLst/>
          </a:prstGeom>
          <a:noFill/>
          <a:ln/>
        </p:spPr>
        <p:txBody>
          <a:bodyPr wrap="square" rtlCol="0" anchor="ctr"/>
          <a:lstStyle/>
          <a:p>
            <a:pPr marL="0" indent="0">
              <a:buNone/>
            </a:pPr>
            <a:r>
              <a:rPr lang="en-US" sz="1100" dirty="0">
                <a:solidFill>
                  <a:srgbClr val="8B949E"/>
                </a:solidFill>
                <a:latin typeface="Calibri" pitchFamily="34" charset="0"/>
                <a:ea typeface="Calibri" pitchFamily="34" charset="-122"/>
                <a:cs typeface="Calibri" pitchFamily="34" charset="-120"/>
              </a:rPr>
              <a:t>Background agents fail when project rules exist only in developers' heads.</a:t>
            </a:r>
            <a:endParaRPr lang="en-US" sz="1100" dirty="0"/>
          </a:p>
        </p:txBody>
      </p:sp>
      <p:sp>
        <p:nvSpPr>
          <p:cNvPr id="10" name="Text 8"/>
          <p:cNvSpPr/>
          <p:nvPr/>
        </p:nvSpPr>
        <p:spPr>
          <a:xfrm>
            <a:off x="548640" y="2148840"/>
            <a:ext cx="3657600" cy="429768"/>
          </a:xfrm>
          <a:prstGeom prst="rect">
            <a:avLst/>
          </a:prstGeom>
          <a:noFill/>
          <a:ln/>
        </p:spPr>
        <p:txBody>
          <a:bodyPr wrap="square" rtlCol="0" anchor="ctr"/>
          <a:lstStyle/>
          <a:p>
            <a:pPr marL="0" indent="0">
              <a:buNone/>
            </a:pPr>
            <a:r>
              <a:rPr lang="en-US" sz="1100" b="1" dirty="0">
                <a:solidFill>
                  <a:srgbClr val="F78166"/>
                </a:solidFill>
                <a:latin typeface="Calibri" pitchFamily="34" charset="0"/>
                <a:ea typeface="Calibri" pitchFamily="34" charset="-122"/>
                <a:cs typeface="Calibri" pitchFamily="34" charset="-120"/>
              </a:rPr>
              <a:t>✗ </a:t>
            </a:r>
            <a:r>
              <a:rPr lang="en-US" sz="1100" dirty="0">
                <a:solidFill>
                  <a:srgbClr val="E6EDF3"/>
                </a:solidFill>
                <a:latin typeface="Calibri" pitchFamily="34" charset="0"/>
                <a:ea typeface="Calibri" pitchFamily="34" charset="-122"/>
                <a:cs typeface="Calibri" pitchFamily="34" charset="-120"/>
              </a:rPr>
              <a:t>No linting / formatter config → agent guesses style</a:t>
            </a:r>
            <a:endParaRPr lang="en-US" sz="1100" dirty="0"/>
          </a:p>
        </p:txBody>
      </p:sp>
      <p:sp>
        <p:nvSpPr>
          <p:cNvPr id="11" name="Text 9"/>
          <p:cNvSpPr/>
          <p:nvPr/>
        </p:nvSpPr>
        <p:spPr>
          <a:xfrm>
            <a:off x="548640" y="2615184"/>
            <a:ext cx="3657600" cy="429768"/>
          </a:xfrm>
          <a:prstGeom prst="rect">
            <a:avLst/>
          </a:prstGeom>
          <a:noFill/>
          <a:ln/>
        </p:spPr>
        <p:txBody>
          <a:bodyPr wrap="square" rtlCol="0" anchor="ctr"/>
          <a:lstStyle/>
          <a:p>
            <a:pPr marL="0" indent="0">
              <a:buNone/>
            </a:pPr>
            <a:r>
              <a:rPr lang="en-US" sz="1100" b="1" dirty="0">
                <a:solidFill>
                  <a:srgbClr val="F78166"/>
                </a:solidFill>
                <a:latin typeface="Calibri" pitchFamily="34" charset="0"/>
                <a:ea typeface="Calibri" pitchFamily="34" charset="-122"/>
                <a:cs typeface="Calibri" pitchFamily="34" charset="-120"/>
              </a:rPr>
              <a:t>✗ </a:t>
            </a:r>
            <a:r>
              <a:rPr lang="en-US" sz="1100" dirty="0">
                <a:solidFill>
                  <a:srgbClr val="E6EDF3"/>
                </a:solidFill>
                <a:latin typeface="Calibri" pitchFamily="34" charset="0"/>
                <a:ea typeface="Calibri" pitchFamily="34" charset="-122"/>
                <a:cs typeface="Calibri" pitchFamily="34" charset="-120"/>
              </a:rPr>
              <a:t>Missing test conventions → brittle tests generated</a:t>
            </a:r>
            <a:endParaRPr lang="en-US" sz="1100" dirty="0"/>
          </a:p>
        </p:txBody>
      </p:sp>
      <p:sp>
        <p:nvSpPr>
          <p:cNvPr id="12" name="Text 10"/>
          <p:cNvSpPr/>
          <p:nvPr/>
        </p:nvSpPr>
        <p:spPr>
          <a:xfrm>
            <a:off x="548640" y="3081528"/>
            <a:ext cx="3657600" cy="429768"/>
          </a:xfrm>
          <a:prstGeom prst="rect">
            <a:avLst/>
          </a:prstGeom>
          <a:noFill/>
          <a:ln/>
        </p:spPr>
        <p:txBody>
          <a:bodyPr wrap="square" rtlCol="0" anchor="ctr"/>
          <a:lstStyle/>
          <a:p>
            <a:pPr marL="0" indent="0">
              <a:buNone/>
            </a:pPr>
            <a:r>
              <a:rPr lang="en-US" sz="1100" b="1" dirty="0">
                <a:solidFill>
                  <a:srgbClr val="F78166"/>
                </a:solidFill>
                <a:latin typeface="Calibri" pitchFamily="34" charset="0"/>
                <a:ea typeface="Calibri" pitchFamily="34" charset="-122"/>
                <a:cs typeface="Calibri" pitchFamily="34" charset="-120"/>
              </a:rPr>
              <a:t>✗ </a:t>
            </a:r>
            <a:r>
              <a:rPr lang="en-US" sz="1100" dirty="0">
                <a:solidFill>
                  <a:srgbClr val="E6EDF3"/>
                </a:solidFill>
                <a:latin typeface="Calibri" pitchFamily="34" charset="0"/>
                <a:ea typeface="Calibri" pitchFamily="34" charset="-122"/>
                <a:cs typeface="Calibri" pitchFamily="34" charset="-120"/>
              </a:rPr>
              <a:t>Undocumented architecture → wrong abstractions</a:t>
            </a:r>
            <a:endParaRPr lang="en-US" sz="1100" dirty="0"/>
          </a:p>
        </p:txBody>
      </p:sp>
      <p:sp>
        <p:nvSpPr>
          <p:cNvPr id="13" name="Text 11"/>
          <p:cNvSpPr/>
          <p:nvPr/>
        </p:nvSpPr>
        <p:spPr>
          <a:xfrm>
            <a:off x="548640" y="3547872"/>
            <a:ext cx="3657600" cy="429768"/>
          </a:xfrm>
          <a:prstGeom prst="rect">
            <a:avLst/>
          </a:prstGeom>
          <a:noFill/>
          <a:ln/>
        </p:spPr>
        <p:txBody>
          <a:bodyPr wrap="square" rtlCol="0" anchor="ctr"/>
          <a:lstStyle/>
          <a:p>
            <a:pPr marL="0" indent="0">
              <a:buNone/>
            </a:pPr>
            <a:r>
              <a:rPr lang="en-US" sz="1100" b="1" dirty="0">
                <a:solidFill>
                  <a:srgbClr val="F78166"/>
                </a:solidFill>
                <a:latin typeface="Calibri" pitchFamily="34" charset="0"/>
                <a:ea typeface="Calibri" pitchFamily="34" charset="-122"/>
                <a:cs typeface="Calibri" pitchFamily="34" charset="-120"/>
              </a:rPr>
              <a:t>✗ </a:t>
            </a:r>
            <a:r>
              <a:rPr lang="en-US" sz="1100" dirty="0">
                <a:solidFill>
                  <a:srgbClr val="E6EDF3"/>
                </a:solidFill>
                <a:latin typeface="Calibri" pitchFamily="34" charset="0"/>
                <a:ea typeface="Calibri" pitchFamily="34" charset="-122"/>
                <a:cs typeface="Calibri" pitchFamily="34" charset="-120"/>
              </a:rPr>
              <a:t>No PR template → poor descriptions, fails review</a:t>
            </a:r>
            <a:endParaRPr lang="en-US" sz="1100" dirty="0"/>
          </a:p>
        </p:txBody>
      </p:sp>
      <p:sp>
        <p:nvSpPr>
          <p:cNvPr id="14" name="Text 12"/>
          <p:cNvSpPr/>
          <p:nvPr/>
        </p:nvSpPr>
        <p:spPr>
          <a:xfrm>
            <a:off x="548640" y="4014216"/>
            <a:ext cx="3657600" cy="429768"/>
          </a:xfrm>
          <a:prstGeom prst="rect">
            <a:avLst/>
          </a:prstGeom>
          <a:noFill/>
          <a:ln/>
        </p:spPr>
        <p:txBody>
          <a:bodyPr wrap="square" rtlCol="0" anchor="ctr"/>
          <a:lstStyle/>
          <a:p>
            <a:pPr marL="0" indent="0">
              <a:buNone/>
            </a:pPr>
            <a:r>
              <a:rPr lang="en-US" sz="1100" b="1" dirty="0">
                <a:solidFill>
                  <a:srgbClr val="F78166"/>
                </a:solidFill>
                <a:latin typeface="Calibri" pitchFamily="34" charset="0"/>
                <a:ea typeface="Calibri" pitchFamily="34" charset="-122"/>
                <a:cs typeface="Calibri" pitchFamily="34" charset="-120"/>
              </a:rPr>
              <a:t>✗ </a:t>
            </a:r>
            <a:r>
              <a:rPr lang="en-US" sz="1100" dirty="0">
                <a:solidFill>
                  <a:srgbClr val="E6EDF3"/>
                </a:solidFill>
                <a:latin typeface="Calibri" pitchFamily="34" charset="0"/>
                <a:ea typeface="Calibri" pitchFamily="34" charset="-122"/>
                <a:cs typeface="Calibri" pitchFamily="34" charset="-120"/>
              </a:rPr>
              <a:t>No .github/CODEOWNERS → wrong reviewer assigned</a:t>
            </a:r>
            <a:endParaRPr lang="en-US" sz="1100" dirty="0"/>
          </a:p>
        </p:txBody>
      </p:sp>
      <p:sp>
        <p:nvSpPr>
          <p:cNvPr id="15" name="Shape 13"/>
          <p:cNvSpPr/>
          <p:nvPr/>
        </p:nvSpPr>
        <p:spPr>
          <a:xfrm>
            <a:off x="4572000" y="1188720"/>
            <a:ext cx="4206240" cy="3474720"/>
          </a:xfrm>
          <a:prstGeom prst="rect">
            <a:avLst/>
          </a:prstGeom>
          <a:solidFill>
            <a:srgbClr val="001A0D"/>
          </a:solidFill>
          <a:ln w="12700">
            <a:solidFill>
              <a:srgbClr val="3FB950"/>
            </a:solidFill>
            <a:prstDash val="solid"/>
          </a:ln>
        </p:spPr>
      </p:sp>
      <p:sp>
        <p:nvSpPr>
          <p:cNvPr id="16" name="Shape 14"/>
          <p:cNvSpPr/>
          <p:nvPr/>
        </p:nvSpPr>
        <p:spPr>
          <a:xfrm>
            <a:off x="4572000" y="1188720"/>
            <a:ext cx="45720" cy="3474720"/>
          </a:xfrm>
          <a:prstGeom prst="rect">
            <a:avLst/>
          </a:prstGeom>
          <a:solidFill>
            <a:srgbClr val="3FB950"/>
          </a:solidFill>
          <a:ln w="12700">
            <a:solidFill>
              <a:srgbClr val="3FB950"/>
            </a:solidFill>
            <a:prstDash val="solid"/>
          </a:ln>
        </p:spPr>
      </p:sp>
      <p:sp>
        <p:nvSpPr>
          <p:cNvPr id="17" name="Text 15"/>
          <p:cNvSpPr/>
          <p:nvPr/>
        </p:nvSpPr>
        <p:spPr>
          <a:xfrm>
            <a:off x="4754880" y="1261872"/>
            <a:ext cx="3840480" cy="320040"/>
          </a:xfrm>
          <a:prstGeom prst="rect">
            <a:avLst/>
          </a:prstGeom>
          <a:noFill/>
          <a:ln/>
        </p:spPr>
        <p:txBody>
          <a:bodyPr wrap="square" rtlCol="0" anchor="ctr"/>
          <a:lstStyle/>
          <a:p>
            <a:pPr marL="0" indent="0">
              <a:buNone/>
            </a:pPr>
            <a:r>
              <a:rPr lang="en-US" sz="1300" b="1" dirty="0">
                <a:solidFill>
                  <a:srgbClr val="3FB950"/>
                </a:solidFill>
                <a:latin typeface="Calibri" pitchFamily="34" charset="0"/>
                <a:ea typeface="Calibri" pitchFamily="34" charset="-122"/>
                <a:cs typeface="Calibri" pitchFamily="34" charset="-120"/>
              </a:rPr>
              <a:t>Explicit Machine Constraints</a:t>
            </a:r>
            <a:endParaRPr lang="en-US" sz="1300" dirty="0"/>
          </a:p>
        </p:txBody>
      </p:sp>
      <p:sp>
        <p:nvSpPr>
          <p:cNvPr id="18" name="Text 16"/>
          <p:cNvSpPr/>
          <p:nvPr/>
        </p:nvSpPr>
        <p:spPr>
          <a:xfrm>
            <a:off x="4754880" y="1600200"/>
            <a:ext cx="3840480" cy="502920"/>
          </a:xfrm>
          <a:prstGeom prst="rect">
            <a:avLst/>
          </a:prstGeom>
          <a:noFill/>
          <a:ln/>
        </p:spPr>
        <p:txBody>
          <a:bodyPr wrap="square" rtlCol="0" anchor="ctr"/>
          <a:lstStyle/>
          <a:p>
            <a:pPr marL="0" indent="0">
              <a:buNone/>
            </a:pPr>
            <a:r>
              <a:rPr lang="en-US" sz="1100" dirty="0">
                <a:solidFill>
                  <a:srgbClr val="8B949E"/>
                </a:solidFill>
                <a:latin typeface="Calibri" pitchFamily="34" charset="0"/>
                <a:ea typeface="Calibri" pitchFamily="34" charset="-122"/>
                <a:cs typeface="Calibri" pitchFamily="34" charset="-120"/>
              </a:rPr>
              <a:t>Codify knowledge into strict linting profiles and test frameworks.</a:t>
            </a:r>
            <a:endParaRPr lang="en-US" sz="1100" dirty="0"/>
          </a:p>
        </p:txBody>
      </p:sp>
      <p:sp>
        <p:nvSpPr>
          <p:cNvPr id="19" name="Text 17"/>
          <p:cNvSpPr/>
          <p:nvPr/>
        </p:nvSpPr>
        <p:spPr>
          <a:xfrm>
            <a:off x="4754880" y="2148840"/>
            <a:ext cx="3840480" cy="429768"/>
          </a:xfrm>
          <a:prstGeom prst="rect">
            <a:avLst/>
          </a:prstGeom>
          <a:noFill/>
          <a:ln/>
        </p:spPr>
        <p:txBody>
          <a:bodyPr wrap="square" rtlCol="0" anchor="ctr"/>
          <a:lstStyle/>
          <a:p>
            <a:pPr marL="0" indent="0">
              <a:buNone/>
            </a:pPr>
            <a:r>
              <a:rPr lang="en-US" sz="1100" b="1" dirty="0">
                <a:solidFill>
                  <a:srgbClr val="3FB950"/>
                </a:solidFill>
                <a:latin typeface="Consolas" pitchFamily="34" charset="0"/>
                <a:ea typeface="Consolas" pitchFamily="34" charset="-122"/>
                <a:cs typeface="Consolas" pitchFamily="34" charset="-120"/>
              </a:rPr>
              <a:t>✓ </a:t>
            </a:r>
            <a:r>
              <a:rPr lang="en-US" sz="1100" dirty="0">
                <a:solidFill>
                  <a:srgbClr val="E6EDF3"/>
                </a:solidFill>
                <a:latin typeface="Consolas" pitchFamily="34" charset="0"/>
                <a:ea typeface="Consolas" pitchFamily="34" charset="-122"/>
                <a:cs typeface="Consolas" pitchFamily="34" charset="-120"/>
              </a:rPr>
              <a:t>.eslintrc / .prettierrc / biome.json</a:t>
            </a:r>
            <a:endParaRPr lang="en-US" sz="1100" dirty="0"/>
          </a:p>
        </p:txBody>
      </p:sp>
      <p:sp>
        <p:nvSpPr>
          <p:cNvPr id="20" name="Text 18"/>
          <p:cNvSpPr/>
          <p:nvPr/>
        </p:nvSpPr>
        <p:spPr>
          <a:xfrm>
            <a:off x="4754880" y="2615184"/>
            <a:ext cx="3840480" cy="429768"/>
          </a:xfrm>
          <a:prstGeom prst="rect">
            <a:avLst/>
          </a:prstGeom>
          <a:noFill/>
          <a:ln/>
        </p:spPr>
        <p:txBody>
          <a:bodyPr wrap="square" rtlCol="0" anchor="ctr"/>
          <a:lstStyle/>
          <a:p>
            <a:pPr marL="0" indent="0">
              <a:buNone/>
            </a:pPr>
            <a:r>
              <a:rPr lang="en-US" sz="1100" b="1" dirty="0">
                <a:solidFill>
                  <a:srgbClr val="3FB950"/>
                </a:solidFill>
                <a:latin typeface="Consolas" pitchFamily="34" charset="0"/>
                <a:ea typeface="Consolas" pitchFamily="34" charset="-122"/>
                <a:cs typeface="Consolas" pitchFamily="34" charset="-120"/>
              </a:rPr>
              <a:t>✓ </a:t>
            </a:r>
            <a:r>
              <a:rPr lang="en-US" sz="1100" dirty="0">
                <a:solidFill>
                  <a:srgbClr val="E6EDF3"/>
                </a:solidFill>
                <a:latin typeface="Consolas" pitchFamily="34" charset="0"/>
                <a:ea typeface="Consolas" pitchFamily="34" charset="-122"/>
                <a:cs typeface="Consolas" pitchFamily="34" charset="-120"/>
              </a:rPr>
              <a:t>vitest.config + coverage thresholds</a:t>
            </a:r>
            <a:endParaRPr lang="en-US" sz="1100" dirty="0"/>
          </a:p>
        </p:txBody>
      </p:sp>
      <p:sp>
        <p:nvSpPr>
          <p:cNvPr id="21" name="Text 19"/>
          <p:cNvSpPr/>
          <p:nvPr/>
        </p:nvSpPr>
        <p:spPr>
          <a:xfrm>
            <a:off x="4754880" y="3081528"/>
            <a:ext cx="3840480" cy="429768"/>
          </a:xfrm>
          <a:prstGeom prst="rect">
            <a:avLst/>
          </a:prstGeom>
          <a:noFill/>
          <a:ln/>
        </p:spPr>
        <p:txBody>
          <a:bodyPr wrap="square" rtlCol="0" anchor="ctr"/>
          <a:lstStyle/>
          <a:p>
            <a:pPr marL="0" indent="0">
              <a:buNone/>
            </a:pPr>
            <a:r>
              <a:rPr lang="en-US" sz="1100" b="1" dirty="0">
                <a:solidFill>
                  <a:srgbClr val="3FB950"/>
                </a:solidFill>
                <a:latin typeface="Consolas" pitchFamily="34" charset="0"/>
                <a:ea typeface="Consolas" pitchFamily="34" charset="-122"/>
                <a:cs typeface="Consolas" pitchFamily="34" charset="-120"/>
              </a:rPr>
              <a:t>✓ </a:t>
            </a:r>
            <a:r>
              <a:rPr lang="en-US" sz="1100" dirty="0">
                <a:solidFill>
                  <a:srgbClr val="E6EDF3"/>
                </a:solidFill>
                <a:latin typeface="Consolas" pitchFamily="34" charset="0"/>
                <a:ea typeface="Consolas" pitchFamily="34" charset="-122"/>
                <a:cs typeface="Consolas" pitchFamily="34" charset="-120"/>
              </a:rPr>
              <a:t>ARCHITECTURE.md + ADR folder</a:t>
            </a:r>
            <a:endParaRPr lang="en-US" sz="1100" dirty="0"/>
          </a:p>
        </p:txBody>
      </p:sp>
      <p:sp>
        <p:nvSpPr>
          <p:cNvPr id="22" name="Text 20"/>
          <p:cNvSpPr/>
          <p:nvPr/>
        </p:nvSpPr>
        <p:spPr>
          <a:xfrm>
            <a:off x="4754880" y="3547872"/>
            <a:ext cx="3840480" cy="429768"/>
          </a:xfrm>
          <a:prstGeom prst="rect">
            <a:avLst/>
          </a:prstGeom>
          <a:noFill/>
          <a:ln/>
        </p:spPr>
        <p:txBody>
          <a:bodyPr wrap="square" rtlCol="0" anchor="ctr"/>
          <a:lstStyle/>
          <a:p>
            <a:pPr marL="0" indent="0">
              <a:buNone/>
            </a:pPr>
            <a:r>
              <a:rPr lang="en-US" sz="1100" b="1" dirty="0">
                <a:solidFill>
                  <a:srgbClr val="3FB950"/>
                </a:solidFill>
                <a:latin typeface="Consolas" pitchFamily="34" charset="0"/>
                <a:ea typeface="Consolas" pitchFamily="34" charset="-122"/>
                <a:cs typeface="Consolas" pitchFamily="34" charset="-120"/>
              </a:rPr>
              <a:t>✓ </a:t>
            </a:r>
            <a:r>
              <a:rPr lang="en-US" sz="1100" dirty="0">
                <a:solidFill>
                  <a:srgbClr val="E6EDF3"/>
                </a:solidFill>
                <a:latin typeface="Consolas" pitchFamily="34" charset="0"/>
                <a:ea typeface="Consolas" pitchFamily="34" charset="-122"/>
                <a:cs typeface="Consolas" pitchFamily="34" charset="-120"/>
              </a:rPr>
              <a:t>.github/PULL_REQUEST_TEMPLATE.md</a:t>
            </a:r>
            <a:endParaRPr lang="en-US" sz="1100" dirty="0"/>
          </a:p>
        </p:txBody>
      </p:sp>
      <p:sp>
        <p:nvSpPr>
          <p:cNvPr id="23" name="Text 21"/>
          <p:cNvSpPr/>
          <p:nvPr/>
        </p:nvSpPr>
        <p:spPr>
          <a:xfrm>
            <a:off x="4754880" y="4014216"/>
            <a:ext cx="3840480" cy="429768"/>
          </a:xfrm>
          <a:prstGeom prst="rect">
            <a:avLst/>
          </a:prstGeom>
          <a:noFill/>
          <a:ln/>
        </p:spPr>
        <p:txBody>
          <a:bodyPr wrap="square" rtlCol="0" anchor="ctr"/>
          <a:lstStyle/>
          <a:p>
            <a:pPr marL="0" indent="0">
              <a:buNone/>
            </a:pPr>
            <a:r>
              <a:rPr lang="en-US" sz="1100" b="1" dirty="0">
                <a:solidFill>
                  <a:srgbClr val="3FB950"/>
                </a:solidFill>
                <a:latin typeface="Consolas" pitchFamily="34" charset="0"/>
                <a:ea typeface="Consolas" pitchFamily="34" charset="-122"/>
                <a:cs typeface="Consolas" pitchFamily="34" charset="-120"/>
              </a:rPr>
              <a:t>✓ </a:t>
            </a:r>
            <a:r>
              <a:rPr lang="en-US" sz="1100" dirty="0">
                <a:solidFill>
                  <a:srgbClr val="E6EDF3"/>
                </a:solidFill>
                <a:latin typeface="Consolas" pitchFamily="34" charset="0"/>
                <a:ea typeface="Consolas" pitchFamily="34" charset="-122"/>
                <a:cs typeface="Consolas" pitchFamily="34" charset="-120"/>
              </a:rPr>
              <a:t>CONTRIBUTING.md + .github/copilot-instructions.md</a:t>
            </a:r>
            <a:endParaRPr lang="en-US" sz="1100" dirty="0"/>
          </a:p>
        </p:txBody>
      </p:sp>
      <p:sp>
        <p:nvSpPr>
          <p:cNvPr id="24" name="Shape 22"/>
          <p:cNvSpPr/>
          <p:nvPr/>
        </p:nvSpPr>
        <p:spPr>
          <a:xfrm>
            <a:off x="0" y="4960620"/>
            <a:ext cx="9144000" cy="182880"/>
          </a:xfrm>
          <a:prstGeom prst="rect">
            <a:avLst/>
          </a:prstGeom>
          <a:solidFill>
            <a:srgbClr val="161B22"/>
          </a:solidFill>
          <a:ln w="12700">
            <a:solidFill>
              <a:srgbClr val="30363D"/>
            </a:solidFill>
            <a:prstDash val="solid"/>
          </a:ln>
        </p:spPr>
      </p:sp>
      <p:sp>
        <p:nvSpPr>
          <p:cNvPr id="25" name="Text 23"/>
          <p:cNvSpPr/>
          <p:nvPr/>
        </p:nvSpPr>
        <p:spPr>
          <a:xfrm>
            <a:off x="274320" y="4965192"/>
            <a:ext cx="8595360" cy="164592"/>
          </a:xfrm>
          <a:prstGeom prst="rect">
            <a:avLst/>
          </a:prstGeom>
          <a:noFill/>
          <a:ln/>
        </p:spPr>
        <p:txBody>
          <a:bodyPr wrap="square" rtlCol="0" anchor="ctr"/>
          <a:lstStyle/>
          <a:p>
            <a:pPr marL="0" indent="0" algn="l">
              <a:buNone/>
            </a:pPr>
            <a:r>
              <a:rPr lang="en-US" sz="800" dirty="0">
                <a:solidFill>
                  <a:srgbClr val="484F58"/>
                </a:solidFill>
                <a:latin typeface="Consolas" pitchFamily="34" charset="0"/>
                <a:ea typeface="Consolas" pitchFamily="34" charset="-122"/>
                <a:cs typeface="Consolas" pitchFamily="34" charset="-120"/>
              </a:rPr>
              <a:t>Multi-Agent in VS Code  •  Developer Community</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007ACC"/>
          </a:solidFill>
          <a:ln w="12700">
            <a:solidFill>
              <a:srgbClr val="007ACC"/>
            </a:solidFill>
            <a:prstDash val="solid"/>
          </a:ln>
        </p:spPr>
      </p:sp>
      <p:sp>
        <p:nvSpPr>
          <p:cNvPr id="3" name="Text 1"/>
          <p:cNvSpPr/>
          <p:nvPr/>
        </p:nvSpPr>
        <p:spPr>
          <a:xfrm>
            <a:off x="457200" y="182880"/>
            <a:ext cx="8229600" cy="502920"/>
          </a:xfrm>
          <a:prstGeom prst="rect">
            <a:avLst/>
          </a:prstGeom>
          <a:noFill/>
          <a:ln/>
        </p:spPr>
        <p:txBody>
          <a:bodyPr wrap="square" lIns="0" tIns="0" rIns="0" bIns="0" rtlCol="0" anchor="ctr"/>
          <a:lstStyle/>
          <a:p>
            <a:pPr marL="0" indent="0">
              <a:buNone/>
            </a:pPr>
            <a:r>
              <a:rPr lang="en-US" sz="2200" b="1" dirty="0">
                <a:solidFill>
                  <a:srgbClr val="E6EDF3"/>
                </a:solidFill>
                <a:latin typeface="Calibri" pitchFamily="34" charset="0"/>
                <a:ea typeface="Calibri" pitchFamily="34" charset="-122"/>
                <a:cs typeface="Calibri" pitchFamily="34" charset="-120"/>
              </a:rPr>
              <a:t>What a Good copilot-instructions.md Looks Like</a:t>
            </a:r>
            <a:endParaRPr lang="en-US" sz="2200" dirty="0"/>
          </a:p>
        </p:txBody>
      </p:sp>
      <p:sp>
        <p:nvSpPr>
          <p:cNvPr id="4" name="Text 2"/>
          <p:cNvSpPr/>
          <p:nvPr/>
        </p:nvSpPr>
        <p:spPr>
          <a:xfrm>
            <a:off x="457200" y="685800"/>
            <a:ext cx="8229600" cy="320040"/>
          </a:xfrm>
          <a:prstGeom prst="rect">
            <a:avLst/>
          </a:prstGeom>
          <a:noFill/>
          <a:ln/>
        </p:spPr>
        <p:txBody>
          <a:bodyPr wrap="square" lIns="0" tIns="0" rIns="0" bIns="0" rtlCol="0" anchor="ctr"/>
          <a:lstStyle/>
          <a:p>
            <a:pPr marL="0" indent="0">
              <a:buNone/>
            </a:pPr>
            <a:r>
              <a:rPr lang="en-US" sz="1200" dirty="0">
                <a:solidFill>
                  <a:srgbClr val="8B949E"/>
                </a:solidFill>
                <a:latin typeface="Calibri" pitchFamily="34" charset="0"/>
                <a:ea typeface="Calibri" pitchFamily="34" charset="-122"/>
                <a:cs typeface="Calibri" pitchFamily="34" charset="-120"/>
              </a:rPr>
              <a:t>The single file that makes every agent smarter about your project</a:t>
            </a:r>
            <a:endParaRPr lang="en-US" sz="1200" dirty="0"/>
          </a:p>
        </p:txBody>
      </p:sp>
      <p:sp>
        <p:nvSpPr>
          <p:cNvPr id="5" name="Shape 3"/>
          <p:cNvSpPr/>
          <p:nvPr/>
        </p:nvSpPr>
        <p:spPr>
          <a:xfrm>
            <a:off x="457200" y="1005840"/>
            <a:ext cx="8229600" cy="9144"/>
          </a:xfrm>
          <a:prstGeom prst="rect">
            <a:avLst/>
          </a:prstGeom>
          <a:solidFill>
            <a:srgbClr val="30363D"/>
          </a:solidFill>
          <a:ln w="12700">
            <a:solidFill>
              <a:srgbClr val="30363D"/>
            </a:solidFill>
            <a:prstDash val="solid"/>
          </a:ln>
        </p:spPr>
      </p:sp>
      <p:sp>
        <p:nvSpPr>
          <p:cNvPr id="6" name="Shape 4"/>
          <p:cNvSpPr/>
          <p:nvPr/>
        </p:nvSpPr>
        <p:spPr>
          <a:xfrm>
            <a:off x="365760" y="1188720"/>
            <a:ext cx="3931920" cy="3474720"/>
          </a:xfrm>
          <a:prstGeom prst="rect">
            <a:avLst/>
          </a:prstGeom>
          <a:solidFill>
            <a:srgbClr val="1A0D00"/>
          </a:solidFill>
          <a:ln w="12700">
            <a:solidFill>
              <a:srgbClr val="F78166"/>
            </a:solidFill>
            <a:prstDash val="solid"/>
          </a:ln>
        </p:spPr>
      </p:sp>
      <p:sp>
        <p:nvSpPr>
          <p:cNvPr id="7" name="Shape 5"/>
          <p:cNvSpPr/>
          <p:nvPr/>
        </p:nvSpPr>
        <p:spPr>
          <a:xfrm>
            <a:off x="365760" y="1188720"/>
            <a:ext cx="45720" cy="3474720"/>
          </a:xfrm>
          <a:prstGeom prst="rect">
            <a:avLst/>
          </a:prstGeom>
          <a:solidFill>
            <a:srgbClr val="F78166"/>
          </a:solidFill>
          <a:ln w="12700">
            <a:solidFill>
              <a:srgbClr val="F78166"/>
            </a:solidFill>
            <a:prstDash val="solid"/>
          </a:ln>
        </p:spPr>
      </p:sp>
      <p:sp>
        <p:nvSpPr>
          <p:cNvPr id="8" name="Text 6"/>
          <p:cNvSpPr/>
          <p:nvPr/>
        </p:nvSpPr>
        <p:spPr>
          <a:xfrm>
            <a:off x="548640" y="1261872"/>
            <a:ext cx="3657600" cy="320040"/>
          </a:xfrm>
          <a:prstGeom prst="rect">
            <a:avLst/>
          </a:prstGeom>
          <a:noFill/>
          <a:ln/>
        </p:spPr>
        <p:txBody>
          <a:bodyPr wrap="square" rtlCol="0" anchor="ctr"/>
          <a:lstStyle/>
          <a:p>
            <a:pPr marL="0" indent="0">
              <a:buNone/>
            </a:pPr>
            <a:r>
              <a:rPr lang="en-US" sz="1300" b="1" dirty="0">
                <a:solidFill>
                  <a:srgbClr val="F78166"/>
                </a:solidFill>
                <a:latin typeface="Calibri" pitchFamily="34" charset="0"/>
                <a:ea typeface="Calibri" pitchFamily="34" charset="-122"/>
                <a:cs typeface="Calibri" pitchFamily="34" charset="-120"/>
              </a:rPr>
              <a:t>Without It — Agents Guess</a:t>
            </a:r>
            <a:endParaRPr lang="en-US" sz="1300" dirty="0"/>
          </a:p>
        </p:txBody>
      </p:sp>
      <p:sp>
        <p:nvSpPr>
          <p:cNvPr id="9" name="Text 7"/>
          <p:cNvSpPr/>
          <p:nvPr/>
        </p:nvSpPr>
        <p:spPr>
          <a:xfrm>
            <a:off x="548640" y="1600200"/>
            <a:ext cx="3657600" cy="502920"/>
          </a:xfrm>
          <a:prstGeom prst="rect">
            <a:avLst/>
          </a:prstGeom>
          <a:noFill/>
          <a:ln/>
        </p:spPr>
        <p:txBody>
          <a:bodyPr wrap="square" rtlCol="0" anchor="ctr"/>
          <a:lstStyle/>
          <a:p>
            <a:pPr marL="0" indent="0">
              <a:buNone/>
            </a:pPr>
            <a:r>
              <a:rPr lang="en-US" sz="1100" dirty="0">
                <a:solidFill>
                  <a:srgbClr val="8B949E"/>
                </a:solidFill>
                <a:latin typeface="Calibri" pitchFamily="34" charset="0"/>
                <a:ea typeface="Calibri" pitchFamily="34" charset="-122"/>
                <a:cs typeface="Calibri" pitchFamily="34" charset="-120"/>
              </a:rPr>
              <a:t>Copilot agents make assumptions about your stack, style, and conventions — usually wrong ones.</a:t>
            </a:r>
            <a:endParaRPr lang="en-US" sz="1100" dirty="0"/>
          </a:p>
        </p:txBody>
      </p:sp>
      <p:sp>
        <p:nvSpPr>
          <p:cNvPr id="10" name="Text 8"/>
          <p:cNvSpPr/>
          <p:nvPr/>
        </p:nvSpPr>
        <p:spPr>
          <a:xfrm>
            <a:off x="548640" y="2148840"/>
            <a:ext cx="3657600" cy="429768"/>
          </a:xfrm>
          <a:prstGeom prst="rect">
            <a:avLst/>
          </a:prstGeom>
          <a:noFill/>
          <a:ln/>
        </p:spPr>
        <p:txBody>
          <a:bodyPr wrap="square" rtlCol="0" anchor="ctr"/>
          <a:lstStyle/>
          <a:p>
            <a:pPr marL="0" indent="0">
              <a:buNone/>
            </a:pPr>
            <a:r>
              <a:rPr lang="en-US" sz="1100" b="1" dirty="0">
                <a:solidFill>
                  <a:srgbClr val="F78166"/>
                </a:solidFill>
                <a:latin typeface="Calibri" pitchFamily="34" charset="0"/>
                <a:ea typeface="Calibri" pitchFamily="34" charset="-122"/>
                <a:cs typeface="Calibri" pitchFamily="34" charset="-120"/>
              </a:rPr>
              <a:t>✗ </a:t>
            </a:r>
            <a:r>
              <a:rPr lang="en-US" sz="1100" dirty="0">
                <a:solidFill>
                  <a:srgbClr val="E6EDF3"/>
                </a:solidFill>
                <a:latin typeface="Calibri" pitchFamily="34" charset="0"/>
                <a:ea typeface="Calibri" pitchFamily="34" charset="-122"/>
                <a:cs typeface="Calibri" pitchFamily="34" charset="-120"/>
              </a:rPr>
              <a:t>No project context → agent picks wrong framework</a:t>
            </a:r>
            <a:endParaRPr lang="en-US" sz="1100" dirty="0"/>
          </a:p>
        </p:txBody>
      </p:sp>
      <p:sp>
        <p:nvSpPr>
          <p:cNvPr id="11" name="Text 9"/>
          <p:cNvSpPr/>
          <p:nvPr/>
        </p:nvSpPr>
        <p:spPr>
          <a:xfrm>
            <a:off x="548640" y="2615184"/>
            <a:ext cx="3657600" cy="429768"/>
          </a:xfrm>
          <a:prstGeom prst="rect">
            <a:avLst/>
          </a:prstGeom>
          <a:noFill/>
          <a:ln/>
        </p:spPr>
        <p:txBody>
          <a:bodyPr wrap="square" rtlCol="0" anchor="ctr"/>
          <a:lstStyle/>
          <a:p>
            <a:pPr marL="0" indent="0">
              <a:buNone/>
            </a:pPr>
            <a:r>
              <a:rPr lang="en-US" sz="1100" b="1" dirty="0">
                <a:solidFill>
                  <a:srgbClr val="F78166"/>
                </a:solidFill>
                <a:latin typeface="Calibri" pitchFamily="34" charset="0"/>
                <a:ea typeface="Calibri" pitchFamily="34" charset="-122"/>
                <a:cs typeface="Calibri" pitchFamily="34" charset="-120"/>
              </a:rPr>
              <a:t>✗ </a:t>
            </a:r>
            <a:r>
              <a:rPr lang="en-US" sz="1100" dirty="0">
                <a:solidFill>
                  <a:srgbClr val="E6EDF3"/>
                </a:solidFill>
                <a:latin typeface="Calibri" pitchFamily="34" charset="0"/>
                <a:ea typeface="Calibri" pitchFamily="34" charset="-122"/>
                <a:cs typeface="Calibri" pitchFamily="34" charset="-120"/>
              </a:rPr>
              <a:t>No style rules → inconsistent naming &amp; formatting</a:t>
            </a:r>
            <a:endParaRPr lang="en-US" sz="1100" dirty="0"/>
          </a:p>
        </p:txBody>
      </p:sp>
      <p:sp>
        <p:nvSpPr>
          <p:cNvPr id="12" name="Text 10"/>
          <p:cNvSpPr/>
          <p:nvPr/>
        </p:nvSpPr>
        <p:spPr>
          <a:xfrm>
            <a:off x="548640" y="3081528"/>
            <a:ext cx="3657600" cy="429768"/>
          </a:xfrm>
          <a:prstGeom prst="rect">
            <a:avLst/>
          </a:prstGeom>
          <a:noFill/>
          <a:ln/>
        </p:spPr>
        <p:txBody>
          <a:bodyPr wrap="square" rtlCol="0" anchor="ctr"/>
          <a:lstStyle/>
          <a:p>
            <a:pPr marL="0" indent="0">
              <a:buNone/>
            </a:pPr>
            <a:r>
              <a:rPr lang="en-US" sz="1100" b="1" dirty="0">
                <a:solidFill>
                  <a:srgbClr val="F78166"/>
                </a:solidFill>
                <a:latin typeface="Calibri" pitchFamily="34" charset="0"/>
                <a:ea typeface="Calibri" pitchFamily="34" charset="-122"/>
                <a:cs typeface="Calibri" pitchFamily="34" charset="-120"/>
              </a:rPr>
              <a:t>✗ </a:t>
            </a:r>
            <a:r>
              <a:rPr lang="en-US" sz="1100" dirty="0">
                <a:solidFill>
                  <a:srgbClr val="E6EDF3"/>
                </a:solidFill>
                <a:latin typeface="Calibri" pitchFamily="34" charset="0"/>
                <a:ea typeface="Calibri" pitchFamily="34" charset="-122"/>
                <a:cs typeface="Calibri" pitchFamily="34" charset="-120"/>
              </a:rPr>
              <a:t>No test conventions → brittle or wrong test patterns</a:t>
            </a:r>
            <a:endParaRPr lang="en-US" sz="1100" dirty="0"/>
          </a:p>
        </p:txBody>
      </p:sp>
      <p:sp>
        <p:nvSpPr>
          <p:cNvPr id="13" name="Text 11"/>
          <p:cNvSpPr/>
          <p:nvPr/>
        </p:nvSpPr>
        <p:spPr>
          <a:xfrm>
            <a:off x="548640" y="3547872"/>
            <a:ext cx="3657600" cy="429768"/>
          </a:xfrm>
          <a:prstGeom prst="rect">
            <a:avLst/>
          </a:prstGeom>
          <a:noFill/>
          <a:ln/>
        </p:spPr>
        <p:txBody>
          <a:bodyPr wrap="square" rtlCol="0" anchor="ctr"/>
          <a:lstStyle/>
          <a:p>
            <a:pPr marL="0" indent="0">
              <a:buNone/>
            </a:pPr>
            <a:r>
              <a:rPr lang="en-US" sz="1100" b="1" dirty="0">
                <a:solidFill>
                  <a:srgbClr val="F78166"/>
                </a:solidFill>
                <a:latin typeface="Calibri" pitchFamily="34" charset="0"/>
                <a:ea typeface="Calibri" pitchFamily="34" charset="-122"/>
                <a:cs typeface="Calibri" pitchFamily="34" charset="-120"/>
              </a:rPr>
              <a:t>✗ </a:t>
            </a:r>
            <a:r>
              <a:rPr lang="en-US" sz="1100" dirty="0">
                <a:solidFill>
                  <a:srgbClr val="E6EDF3"/>
                </a:solidFill>
                <a:latin typeface="Calibri" pitchFamily="34" charset="0"/>
                <a:ea typeface="Calibri" pitchFamily="34" charset="-122"/>
                <a:cs typeface="Calibri" pitchFamily="34" charset="-120"/>
              </a:rPr>
              <a:t>No scope limits → agent edits files it shouldn't</a:t>
            </a:r>
            <a:endParaRPr lang="en-US" sz="1100" dirty="0"/>
          </a:p>
        </p:txBody>
      </p:sp>
      <p:sp>
        <p:nvSpPr>
          <p:cNvPr id="14" name="Text 12"/>
          <p:cNvSpPr/>
          <p:nvPr/>
        </p:nvSpPr>
        <p:spPr>
          <a:xfrm>
            <a:off x="548640" y="4014216"/>
            <a:ext cx="3657600" cy="429768"/>
          </a:xfrm>
          <a:prstGeom prst="rect">
            <a:avLst/>
          </a:prstGeom>
          <a:noFill/>
          <a:ln/>
        </p:spPr>
        <p:txBody>
          <a:bodyPr wrap="square" rtlCol="0" anchor="ctr"/>
          <a:lstStyle/>
          <a:p>
            <a:pPr marL="0" indent="0">
              <a:buNone/>
            </a:pPr>
            <a:r>
              <a:rPr lang="en-US" sz="1100" b="1" dirty="0">
                <a:solidFill>
                  <a:srgbClr val="F78166"/>
                </a:solidFill>
                <a:latin typeface="Calibri" pitchFamily="34" charset="0"/>
                <a:ea typeface="Calibri" pitchFamily="34" charset="-122"/>
                <a:cs typeface="Calibri" pitchFamily="34" charset="-120"/>
              </a:rPr>
              <a:t>✗ </a:t>
            </a:r>
            <a:r>
              <a:rPr lang="en-US" sz="1100" dirty="0">
                <a:solidFill>
                  <a:srgbClr val="E6EDF3"/>
                </a:solidFill>
                <a:latin typeface="Calibri" pitchFamily="34" charset="0"/>
                <a:ea typeface="Calibri" pitchFamily="34" charset="-122"/>
                <a:cs typeface="Calibri" pitchFamily="34" charset="-120"/>
              </a:rPr>
              <a:t>No PR conventions → poor commit messages</a:t>
            </a:r>
            <a:endParaRPr lang="en-US" sz="1100" dirty="0"/>
          </a:p>
        </p:txBody>
      </p:sp>
      <p:sp>
        <p:nvSpPr>
          <p:cNvPr id="15" name="Shape 13"/>
          <p:cNvSpPr/>
          <p:nvPr/>
        </p:nvSpPr>
        <p:spPr>
          <a:xfrm>
            <a:off x="4572000" y="1188720"/>
            <a:ext cx="4206240" cy="3474720"/>
          </a:xfrm>
          <a:prstGeom prst="rect">
            <a:avLst/>
          </a:prstGeom>
          <a:solidFill>
            <a:srgbClr val="001A0D"/>
          </a:solidFill>
          <a:ln w="12700">
            <a:solidFill>
              <a:srgbClr val="3FB950"/>
            </a:solidFill>
            <a:prstDash val="solid"/>
          </a:ln>
        </p:spPr>
      </p:sp>
      <p:sp>
        <p:nvSpPr>
          <p:cNvPr id="16" name="Shape 14"/>
          <p:cNvSpPr/>
          <p:nvPr/>
        </p:nvSpPr>
        <p:spPr>
          <a:xfrm>
            <a:off x="4572000" y="1188720"/>
            <a:ext cx="45720" cy="3474720"/>
          </a:xfrm>
          <a:prstGeom prst="rect">
            <a:avLst/>
          </a:prstGeom>
          <a:solidFill>
            <a:srgbClr val="3FB950"/>
          </a:solidFill>
          <a:ln w="12700">
            <a:solidFill>
              <a:srgbClr val="3FB950"/>
            </a:solidFill>
            <a:prstDash val="solid"/>
          </a:ln>
        </p:spPr>
      </p:sp>
      <p:sp>
        <p:nvSpPr>
          <p:cNvPr id="17" name="Text 15"/>
          <p:cNvSpPr/>
          <p:nvPr/>
        </p:nvSpPr>
        <p:spPr>
          <a:xfrm>
            <a:off x="4754880" y="1261872"/>
            <a:ext cx="3840480" cy="320040"/>
          </a:xfrm>
          <a:prstGeom prst="rect">
            <a:avLst/>
          </a:prstGeom>
          <a:noFill/>
          <a:ln/>
        </p:spPr>
        <p:txBody>
          <a:bodyPr wrap="square" rtlCol="0" anchor="ctr"/>
          <a:lstStyle/>
          <a:p>
            <a:pPr marL="0" indent="0">
              <a:buNone/>
            </a:pPr>
            <a:r>
              <a:rPr lang="en-US" sz="1300" b="1" dirty="0">
                <a:solidFill>
                  <a:srgbClr val="3FB950"/>
                </a:solidFill>
                <a:latin typeface="Calibri" pitchFamily="34" charset="0"/>
                <a:ea typeface="Calibri" pitchFamily="34" charset="-122"/>
                <a:cs typeface="Calibri" pitchFamily="34" charset="-120"/>
              </a:rPr>
              <a:t>With It — Agents Know</a:t>
            </a:r>
            <a:endParaRPr lang="en-US" sz="1300" dirty="0"/>
          </a:p>
        </p:txBody>
      </p:sp>
      <p:sp>
        <p:nvSpPr>
          <p:cNvPr id="18" name="Text 16"/>
          <p:cNvSpPr/>
          <p:nvPr/>
        </p:nvSpPr>
        <p:spPr>
          <a:xfrm>
            <a:off x="4754880" y="1600200"/>
            <a:ext cx="3840480" cy="502920"/>
          </a:xfrm>
          <a:prstGeom prst="rect">
            <a:avLst/>
          </a:prstGeom>
          <a:noFill/>
          <a:ln/>
        </p:spPr>
        <p:txBody>
          <a:bodyPr wrap="square" rtlCol="0" anchor="ctr"/>
          <a:lstStyle/>
          <a:p>
            <a:pPr marL="0" indent="0">
              <a:buNone/>
            </a:pPr>
            <a:r>
              <a:rPr lang="en-US" sz="1100" dirty="0">
                <a:solidFill>
                  <a:srgbClr val="8B949E"/>
                </a:solidFill>
                <a:latin typeface="Calibri" pitchFamily="34" charset="0"/>
                <a:ea typeface="Calibri" pitchFamily="34" charset="-122"/>
                <a:cs typeface="Calibri" pitchFamily="34" charset="-120"/>
              </a:rPr>
              <a:t>copilot-instructions.md gives every agent a shared briefing before it touches your code.</a:t>
            </a:r>
            <a:endParaRPr lang="en-US" sz="1100" dirty="0"/>
          </a:p>
        </p:txBody>
      </p:sp>
      <p:sp>
        <p:nvSpPr>
          <p:cNvPr id="19" name="Text 17"/>
          <p:cNvSpPr/>
          <p:nvPr/>
        </p:nvSpPr>
        <p:spPr>
          <a:xfrm>
            <a:off x="4754880" y="2148840"/>
            <a:ext cx="3840480" cy="429768"/>
          </a:xfrm>
          <a:prstGeom prst="rect">
            <a:avLst/>
          </a:prstGeom>
          <a:noFill/>
          <a:ln/>
        </p:spPr>
        <p:txBody>
          <a:bodyPr wrap="square" rtlCol="0" anchor="ctr"/>
          <a:lstStyle/>
          <a:p>
            <a:pPr marL="0" indent="0">
              <a:buNone/>
            </a:pPr>
            <a:r>
              <a:rPr lang="en-US" sz="1100" b="1" dirty="0">
                <a:solidFill>
                  <a:srgbClr val="3FB950"/>
                </a:solidFill>
                <a:latin typeface="Consolas" pitchFamily="34" charset="0"/>
                <a:ea typeface="Consolas" pitchFamily="34" charset="-122"/>
                <a:cs typeface="Consolas" pitchFamily="34" charset="-120"/>
              </a:rPr>
              <a:t>✓ </a:t>
            </a:r>
            <a:r>
              <a:rPr lang="en-US" sz="1100" dirty="0">
                <a:solidFill>
                  <a:srgbClr val="E6EDF3"/>
                </a:solidFill>
                <a:latin typeface="Consolas" pitchFamily="34" charset="0"/>
                <a:ea typeface="Consolas" pitchFamily="34" charset="-122"/>
                <a:cs typeface="Consolas" pitchFamily="34" charset="-120"/>
              </a:rPr>
              <a:t>Project overview: stack, language, key dependencies</a:t>
            </a:r>
            <a:endParaRPr lang="en-US" sz="1100" dirty="0"/>
          </a:p>
        </p:txBody>
      </p:sp>
      <p:sp>
        <p:nvSpPr>
          <p:cNvPr id="20" name="Text 18"/>
          <p:cNvSpPr/>
          <p:nvPr/>
        </p:nvSpPr>
        <p:spPr>
          <a:xfrm>
            <a:off x="4754880" y="2615184"/>
            <a:ext cx="3840480" cy="429768"/>
          </a:xfrm>
          <a:prstGeom prst="rect">
            <a:avLst/>
          </a:prstGeom>
          <a:noFill/>
          <a:ln/>
        </p:spPr>
        <p:txBody>
          <a:bodyPr wrap="square" rtlCol="0" anchor="ctr"/>
          <a:lstStyle/>
          <a:p>
            <a:pPr marL="0" indent="0">
              <a:buNone/>
            </a:pPr>
            <a:r>
              <a:rPr lang="en-US" sz="1100" b="1" dirty="0">
                <a:solidFill>
                  <a:srgbClr val="3FB950"/>
                </a:solidFill>
                <a:latin typeface="Consolas" pitchFamily="34" charset="0"/>
                <a:ea typeface="Consolas" pitchFamily="34" charset="-122"/>
                <a:cs typeface="Consolas" pitchFamily="34" charset="-120"/>
              </a:rPr>
              <a:t>✓ </a:t>
            </a:r>
            <a:r>
              <a:rPr lang="en-US" sz="1100" dirty="0">
                <a:solidFill>
                  <a:srgbClr val="E6EDF3"/>
                </a:solidFill>
                <a:latin typeface="Consolas" pitchFamily="34" charset="0"/>
                <a:ea typeface="Consolas" pitchFamily="34" charset="-122"/>
                <a:cs typeface="Consolas" pitchFamily="34" charset="-120"/>
              </a:rPr>
              <a:t>Style: tabs vs spaces, naming conventions, linting rules</a:t>
            </a:r>
            <a:endParaRPr lang="en-US" sz="1100" dirty="0"/>
          </a:p>
        </p:txBody>
      </p:sp>
      <p:sp>
        <p:nvSpPr>
          <p:cNvPr id="21" name="Text 19"/>
          <p:cNvSpPr/>
          <p:nvPr/>
        </p:nvSpPr>
        <p:spPr>
          <a:xfrm>
            <a:off x="4754880" y="3081528"/>
            <a:ext cx="3840480" cy="429768"/>
          </a:xfrm>
          <a:prstGeom prst="rect">
            <a:avLst/>
          </a:prstGeom>
          <a:noFill/>
          <a:ln/>
        </p:spPr>
        <p:txBody>
          <a:bodyPr wrap="square" rtlCol="0" anchor="ctr"/>
          <a:lstStyle/>
          <a:p>
            <a:pPr marL="0" indent="0">
              <a:buNone/>
            </a:pPr>
            <a:r>
              <a:rPr lang="en-US" sz="1100" b="1" dirty="0">
                <a:solidFill>
                  <a:srgbClr val="3FB950"/>
                </a:solidFill>
                <a:latin typeface="Consolas" pitchFamily="34" charset="0"/>
                <a:ea typeface="Consolas" pitchFamily="34" charset="-122"/>
                <a:cs typeface="Consolas" pitchFamily="34" charset="-120"/>
              </a:rPr>
              <a:t>✓ </a:t>
            </a:r>
            <a:r>
              <a:rPr lang="en-US" sz="1100" dirty="0">
                <a:solidFill>
                  <a:srgbClr val="E6EDF3"/>
                </a:solidFill>
                <a:latin typeface="Consolas" pitchFamily="34" charset="0"/>
                <a:ea typeface="Consolas" pitchFamily="34" charset="-122"/>
                <a:cs typeface="Consolas" pitchFamily="34" charset="-120"/>
              </a:rPr>
              <a:t>Testing: framework, coverage thresholds, test file location</a:t>
            </a:r>
            <a:endParaRPr lang="en-US" sz="1100" dirty="0"/>
          </a:p>
        </p:txBody>
      </p:sp>
      <p:sp>
        <p:nvSpPr>
          <p:cNvPr id="22" name="Text 20"/>
          <p:cNvSpPr/>
          <p:nvPr/>
        </p:nvSpPr>
        <p:spPr>
          <a:xfrm>
            <a:off x="4754880" y="3547872"/>
            <a:ext cx="3840480" cy="429768"/>
          </a:xfrm>
          <a:prstGeom prst="rect">
            <a:avLst/>
          </a:prstGeom>
          <a:noFill/>
          <a:ln/>
        </p:spPr>
        <p:txBody>
          <a:bodyPr wrap="square" rtlCol="0" anchor="ctr"/>
          <a:lstStyle/>
          <a:p>
            <a:pPr marL="0" indent="0">
              <a:buNone/>
            </a:pPr>
            <a:r>
              <a:rPr lang="en-US" sz="1100" b="1" dirty="0">
                <a:solidFill>
                  <a:srgbClr val="3FB950"/>
                </a:solidFill>
                <a:latin typeface="Consolas" pitchFamily="34" charset="0"/>
                <a:ea typeface="Consolas" pitchFamily="34" charset="-122"/>
                <a:cs typeface="Consolas" pitchFamily="34" charset="-120"/>
              </a:rPr>
              <a:t>✓ </a:t>
            </a:r>
            <a:r>
              <a:rPr lang="en-US" sz="1100" dirty="0">
                <a:solidFill>
                  <a:srgbClr val="E6EDF3"/>
                </a:solidFill>
                <a:latin typeface="Consolas" pitchFamily="34" charset="0"/>
                <a:ea typeface="Consolas" pitchFamily="34" charset="-122"/>
                <a:cs typeface="Consolas" pitchFamily="34" charset="-120"/>
              </a:rPr>
              <a:t>Scope: which folders are in/out of bounds</a:t>
            </a:r>
            <a:endParaRPr lang="en-US" sz="1100" dirty="0"/>
          </a:p>
        </p:txBody>
      </p:sp>
      <p:sp>
        <p:nvSpPr>
          <p:cNvPr id="23" name="Text 21"/>
          <p:cNvSpPr/>
          <p:nvPr/>
        </p:nvSpPr>
        <p:spPr>
          <a:xfrm>
            <a:off x="4754880" y="4014216"/>
            <a:ext cx="3840480" cy="429768"/>
          </a:xfrm>
          <a:prstGeom prst="rect">
            <a:avLst/>
          </a:prstGeom>
          <a:noFill/>
          <a:ln/>
        </p:spPr>
        <p:txBody>
          <a:bodyPr wrap="square" rtlCol="0" anchor="ctr"/>
          <a:lstStyle/>
          <a:p>
            <a:pPr marL="0" indent="0">
              <a:buNone/>
            </a:pPr>
            <a:r>
              <a:rPr lang="en-US" sz="1100" b="1" dirty="0">
                <a:solidFill>
                  <a:srgbClr val="3FB950"/>
                </a:solidFill>
                <a:latin typeface="Consolas" pitchFamily="34" charset="0"/>
                <a:ea typeface="Consolas" pitchFamily="34" charset="-122"/>
                <a:cs typeface="Consolas" pitchFamily="34" charset="-120"/>
              </a:rPr>
              <a:t>✓ </a:t>
            </a:r>
            <a:r>
              <a:rPr lang="en-US" sz="1100" dirty="0">
                <a:solidFill>
                  <a:srgbClr val="E6EDF3"/>
                </a:solidFill>
                <a:latin typeface="Consolas" pitchFamily="34" charset="0"/>
                <a:ea typeface="Consolas" pitchFamily="34" charset="-122"/>
                <a:cs typeface="Consolas" pitchFamily="34" charset="-120"/>
              </a:rPr>
              <a:t>PR format: title pattern, description template</a:t>
            </a:r>
            <a:endParaRPr lang="en-US" sz="1100" dirty="0"/>
          </a:p>
        </p:txBody>
      </p:sp>
      <p:sp>
        <p:nvSpPr>
          <p:cNvPr id="24" name="Shape 22"/>
          <p:cNvSpPr/>
          <p:nvPr/>
        </p:nvSpPr>
        <p:spPr>
          <a:xfrm>
            <a:off x="0" y="4960620"/>
            <a:ext cx="9144000" cy="182880"/>
          </a:xfrm>
          <a:prstGeom prst="rect">
            <a:avLst/>
          </a:prstGeom>
          <a:solidFill>
            <a:srgbClr val="161B22"/>
          </a:solidFill>
          <a:ln w="12700">
            <a:solidFill>
              <a:srgbClr val="30363D"/>
            </a:solidFill>
            <a:prstDash val="solid"/>
          </a:ln>
        </p:spPr>
      </p:sp>
      <p:sp>
        <p:nvSpPr>
          <p:cNvPr id="25" name="Text 23"/>
          <p:cNvSpPr/>
          <p:nvPr/>
        </p:nvSpPr>
        <p:spPr>
          <a:xfrm>
            <a:off x="274320" y="4965192"/>
            <a:ext cx="8595360" cy="164592"/>
          </a:xfrm>
          <a:prstGeom prst="rect">
            <a:avLst/>
          </a:prstGeom>
          <a:noFill/>
          <a:ln/>
        </p:spPr>
        <p:txBody>
          <a:bodyPr wrap="square" rtlCol="0" anchor="ctr"/>
          <a:lstStyle/>
          <a:p>
            <a:pPr marL="0" indent="0" algn="l">
              <a:buNone/>
            </a:pPr>
            <a:r>
              <a:rPr lang="en-US" sz="800" dirty="0">
                <a:solidFill>
                  <a:srgbClr val="484F58"/>
                </a:solidFill>
                <a:latin typeface="Consolas" pitchFamily="34" charset="0"/>
                <a:ea typeface="Consolas" pitchFamily="34" charset="-122"/>
                <a:cs typeface="Consolas" pitchFamily="34" charset="-120"/>
              </a:rPr>
              <a:t>Multi-Agent in VS Code  •  Developer Community</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5">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007ACC"/>
          </a:solidFill>
          <a:ln w="12700">
            <a:solidFill>
              <a:srgbClr val="007ACC"/>
            </a:solidFill>
            <a:prstDash val="solid"/>
          </a:ln>
        </p:spPr>
      </p:sp>
      <p:sp>
        <p:nvSpPr>
          <p:cNvPr id="3" name="Text 1"/>
          <p:cNvSpPr/>
          <p:nvPr/>
        </p:nvSpPr>
        <p:spPr>
          <a:xfrm>
            <a:off x="457200" y="182880"/>
            <a:ext cx="8229600" cy="502920"/>
          </a:xfrm>
          <a:prstGeom prst="rect">
            <a:avLst/>
          </a:prstGeom>
          <a:noFill/>
          <a:ln/>
        </p:spPr>
        <p:txBody>
          <a:bodyPr wrap="square" lIns="0" tIns="0" rIns="0" bIns="0" rtlCol="0" anchor="ctr"/>
          <a:lstStyle/>
          <a:p>
            <a:pPr marL="0" indent="0">
              <a:buNone/>
            </a:pPr>
            <a:r>
              <a:rPr lang="en-US" sz="2200" b="1" dirty="0">
                <a:solidFill>
                  <a:srgbClr val="E6EDF3"/>
                </a:solidFill>
                <a:latin typeface="Calibri" pitchFamily="34" charset="0"/>
                <a:ea typeface="Calibri" pitchFamily="34" charset="-122"/>
                <a:cs typeface="Calibri" pitchFamily="34" charset="-120"/>
              </a:rPr>
              <a:t>GitHub Actions as Your Cloud Agent</a:t>
            </a:r>
            <a:endParaRPr lang="en-US" sz="2200" dirty="0"/>
          </a:p>
        </p:txBody>
      </p:sp>
      <p:sp>
        <p:nvSpPr>
          <p:cNvPr id="4" name="Text 2"/>
          <p:cNvSpPr/>
          <p:nvPr/>
        </p:nvSpPr>
        <p:spPr>
          <a:xfrm>
            <a:off x="457200" y="685800"/>
            <a:ext cx="8229600" cy="320040"/>
          </a:xfrm>
          <a:prstGeom prst="rect">
            <a:avLst/>
          </a:prstGeom>
          <a:noFill/>
          <a:ln/>
        </p:spPr>
        <p:txBody>
          <a:bodyPr wrap="square" lIns="0" tIns="0" rIns="0" bIns="0" rtlCol="0" anchor="ctr"/>
          <a:lstStyle/>
          <a:p>
            <a:pPr marL="0" indent="0">
              <a:buNone/>
            </a:pPr>
            <a:r>
              <a:rPr lang="en-US" sz="1200" dirty="0">
                <a:solidFill>
                  <a:srgbClr val="8B949E"/>
                </a:solidFill>
                <a:latin typeface="Calibri" pitchFamily="34" charset="0"/>
                <a:ea typeface="Calibri" pitchFamily="34" charset="-122"/>
                <a:cs typeface="Calibri" pitchFamily="34" charset="-120"/>
              </a:rPr>
              <a:t>Trigger Copilot agents from GitHub events — no human needed in the loop</a:t>
            </a:r>
            <a:endParaRPr lang="en-US" sz="1200" dirty="0"/>
          </a:p>
        </p:txBody>
      </p:sp>
      <p:sp>
        <p:nvSpPr>
          <p:cNvPr id="5" name="Shape 3"/>
          <p:cNvSpPr/>
          <p:nvPr/>
        </p:nvSpPr>
        <p:spPr>
          <a:xfrm>
            <a:off x="457200" y="1005840"/>
            <a:ext cx="8229600" cy="9144"/>
          </a:xfrm>
          <a:prstGeom prst="rect">
            <a:avLst/>
          </a:prstGeom>
          <a:solidFill>
            <a:srgbClr val="30363D"/>
          </a:solidFill>
          <a:ln w="12700">
            <a:solidFill>
              <a:srgbClr val="30363D"/>
            </a:solidFill>
            <a:prstDash val="solid"/>
          </a:ln>
        </p:spPr>
      </p:sp>
      <p:sp>
        <p:nvSpPr>
          <p:cNvPr id="6" name="Shape 4"/>
          <p:cNvSpPr/>
          <p:nvPr/>
        </p:nvSpPr>
        <p:spPr>
          <a:xfrm>
            <a:off x="3383280" y="1188720"/>
            <a:ext cx="2377440" cy="914400"/>
          </a:xfrm>
          <a:prstGeom prst="rect">
            <a:avLst/>
          </a:prstGeom>
          <a:solidFill>
            <a:srgbClr val="1C2333"/>
          </a:solidFill>
          <a:ln w="12700">
            <a:solidFill>
              <a:srgbClr val="007ACC"/>
            </a:solidFill>
            <a:prstDash val="solid"/>
          </a:ln>
        </p:spPr>
      </p:sp>
      <p:sp>
        <p:nvSpPr>
          <p:cNvPr id="7" name="Shape 5"/>
          <p:cNvSpPr/>
          <p:nvPr/>
        </p:nvSpPr>
        <p:spPr>
          <a:xfrm>
            <a:off x="3383280" y="1188720"/>
            <a:ext cx="45720" cy="914400"/>
          </a:xfrm>
          <a:prstGeom prst="rect">
            <a:avLst/>
          </a:prstGeom>
          <a:solidFill>
            <a:srgbClr val="007ACC"/>
          </a:solidFill>
          <a:ln w="12700">
            <a:solidFill>
              <a:srgbClr val="007ACC"/>
            </a:solidFill>
            <a:prstDash val="solid"/>
          </a:ln>
        </p:spPr>
      </p:sp>
      <p:sp>
        <p:nvSpPr>
          <p:cNvPr id="8" name="Text 6"/>
          <p:cNvSpPr/>
          <p:nvPr/>
        </p:nvSpPr>
        <p:spPr>
          <a:xfrm>
            <a:off x="3520440" y="1261872"/>
            <a:ext cx="2103120" cy="274320"/>
          </a:xfrm>
          <a:prstGeom prst="rect">
            <a:avLst/>
          </a:prstGeom>
          <a:noFill/>
          <a:ln/>
        </p:spPr>
        <p:txBody>
          <a:bodyPr wrap="square" rtlCol="0" anchor="ctr"/>
          <a:lstStyle/>
          <a:p>
            <a:pPr marL="0" indent="0">
              <a:buNone/>
            </a:pPr>
            <a:r>
              <a:rPr lang="en-US" sz="1300" b="1" dirty="0">
                <a:solidFill>
                  <a:srgbClr val="007ACC"/>
                </a:solidFill>
                <a:latin typeface="Calibri" pitchFamily="34" charset="0"/>
                <a:ea typeface="Calibri" pitchFamily="34" charset="-122"/>
                <a:cs typeface="Calibri" pitchFamily="34" charset="-120"/>
              </a:rPr>
              <a:t>Trigger Payload</a:t>
            </a:r>
            <a:endParaRPr lang="en-US" sz="1300" dirty="0"/>
          </a:p>
        </p:txBody>
      </p:sp>
      <p:sp>
        <p:nvSpPr>
          <p:cNvPr id="9" name="Text 7"/>
          <p:cNvSpPr/>
          <p:nvPr/>
        </p:nvSpPr>
        <p:spPr>
          <a:xfrm>
            <a:off x="3520440" y="1536192"/>
            <a:ext cx="2103120" cy="228600"/>
          </a:xfrm>
          <a:prstGeom prst="rect">
            <a:avLst/>
          </a:prstGeom>
          <a:noFill/>
          <a:ln/>
        </p:spPr>
        <p:txBody>
          <a:bodyPr wrap="square" rtlCol="0" anchor="ctr"/>
          <a:lstStyle/>
          <a:p>
            <a:pPr marL="0" indent="0">
              <a:buNone/>
            </a:pPr>
            <a:r>
              <a:rPr lang="en-US" sz="1000" dirty="0">
                <a:solidFill>
                  <a:srgbClr val="8B949E"/>
                </a:solidFill>
                <a:latin typeface="Consolas" pitchFamily="34" charset="0"/>
                <a:ea typeface="Consolas" pitchFamily="34" charset="-122"/>
                <a:cs typeface="Consolas" pitchFamily="34" charset="-120"/>
              </a:rPr>
              <a:t>Workflow YAML spec</a:t>
            </a:r>
            <a:endParaRPr lang="en-US" sz="1000" dirty="0"/>
          </a:p>
        </p:txBody>
      </p:sp>
      <p:sp>
        <p:nvSpPr>
          <p:cNvPr id="10" name="Shape 8"/>
          <p:cNvSpPr/>
          <p:nvPr/>
        </p:nvSpPr>
        <p:spPr>
          <a:xfrm>
            <a:off x="274320" y="1188720"/>
            <a:ext cx="2651760" cy="914400"/>
          </a:xfrm>
          <a:prstGeom prst="rect">
            <a:avLst/>
          </a:prstGeom>
          <a:solidFill>
            <a:srgbClr val="161B22"/>
          </a:solidFill>
          <a:ln w="12700">
            <a:solidFill>
              <a:srgbClr val="3FB950"/>
            </a:solidFill>
            <a:prstDash val="solid"/>
          </a:ln>
        </p:spPr>
      </p:sp>
      <p:sp>
        <p:nvSpPr>
          <p:cNvPr id="11" name="Text 9"/>
          <p:cNvSpPr/>
          <p:nvPr/>
        </p:nvSpPr>
        <p:spPr>
          <a:xfrm>
            <a:off x="411480" y="1261872"/>
            <a:ext cx="2377440" cy="274320"/>
          </a:xfrm>
          <a:prstGeom prst="rect">
            <a:avLst/>
          </a:prstGeom>
          <a:noFill/>
          <a:ln/>
        </p:spPr>
        <p:txBody>
          <a:bodyPr wrap="square" rtlCol="0" anchor="ctr"/>
          <a:lstStyle/>
          <a:p>
            <a:pPr marL="0" indent="0">
              <a:buNone/>
            </a:pPr>
            <a:r>
              <a:rPr lang="en-US" sz="1300" b="1" dirty="0">
                <a:solidFill>
                  <a:srgbClr val="3FB950"/>
                </a:solidFill>
                <a:latin typeface="Calibri" pitchFamily="34" charset="0"/>
                <a:ea typeface="Calibri" pitchFamily="34" charset="-122"/>
                <a:cs typeface="Calibri" pitchFamily="34" charset="-120"/>
              </a:rPr>
              <a:t>GitHub Issue / PR Event</a:t>
            </a:r>
            <a:endParaRPr lang="en-US" sz="1300" dirty="0"/>
          </a:p>
        </p:txBody>
      </p:sp>
      <p:sp>
        <p:nvSpPr>
          <p:cNvPr id="12" name="Text 10"/>
          <p:cNvSpPr/>
          <p:nvPr/>
        </p:nvSpPr>
        <p:spPr>
          <a:xfrm>
            <a:off x="411480" y="1536192"/>
            <a:ext cx="2377440" cy="457200"/>
          </a:xfrm>
          <a:prstGeom prst="rect">
            <a:avLst/>
          </a:prstGeom>
          <a:noFill/>
          <a:ln/>
        </p:spPr>
        <p:txBody>
          <a:bodyPr wrap="square" rtlCol="0" anchor="ctr"/>
          <a:lstStyle/>
          <a:p>
            <a:pPr marL="0" indent="0">
              <a:buNone/>
            </a:pPr>
            <a:r>
              <a:rPr lang="en-US" sz="1000" dirty="0">
                <a:solidFill>
                  <a:srgbClr val="8B949E"/>
                </a:solidFill>
                <a:latin typeface="Calibri" pitchFamily="34" charset="0"/>
                <a:ea typeface="Calibri" pitchFamily="34" charset="-122"/>
                <a:cs typeface="Calibri" pitchFamily="34" charset="-120"/>
              </a:rPr>
              <a:t>A new issue is labelled 'agent-task'</a:t>
            </a:r>
            <a:endParaRPr lang="en-US" sz="1000" dirty="0"/>
          </a:p>
          <a:p>
            <a:pPr marL="0" indent="0">
              <a:buNone/>
            </a:pPr>
            <a:r>
              <a:rPr lang="en-US" sz="1000" dirty="0">
                <a:solidFill>
                  <a:srgbClr val="8B949E"/>
                </a:solidFill>
                <a:latin typeface="Calibri" pitchFamily="34" charset="0"/>
                <a:ea typeface="Calibri" pitchFamily="34" charset="-122"/>
                <a:cs typeface="Calibri" pitchFamily="34" charset="-120"/>
              </a:rPr>
              <a:t>Action: GitHub Actions workflow fires</a:t>
            </a:r>
            <a:endParaRPr lang="en-US" sz="1000" dirty="0"/>
          </a:p>
        </p:txBody>
      </p:sp>
      <p:sp>
        <p:nvSpPr>
          <p:cNvPr id="13" name="Shape 11"/>
          <p:cNvSpPr/>
          <p:nvPr/>
        </p:nvSpPr>
        <p:spPr>
          <a:xfrm>
            <a:off x="2926080" y="1645920"/>
            <a:ext cx="457200" cy="0"/>
          </a:xfrm>
          <a:prstGeom prst="line">
            <a:avLst/>
          </a:prstGeom>
          <a:noFill/>
          <a:ln w="25400">
            <a:solidFill>
              <a:srgbClr val="007ACC"/>
            </a:solidFill>
            <a:prstDash val="solid"/>
          </a:ln>
        </p:spPr>
      </p:sp>
      <p:sp>
        <p:nvSpPr>
          <p:cNvPr id="14" name="Shape 12"/>
          <p:cNvSpPr/>
          <p:nvPr/>
        </p:nvSpPr>
        <p:spPr>
          <a:xfrm>
            <a:off x="6126480" y="960120"/>
            <a:ext cx="2651760" cy="1188720"/>
          </a:xfrm>
          <a:prstGeom prst="rect">
            <a:avLst/>
          </a:prstGeom>
          <a:solidFill>
            <a:srgbClr val="161B22"/>
          </a:solidFill>
          <a:ln w="12700">
            <a:solidFill>
              <a:srgbClr val="F78166"/>
            </a:solidFill>
            <a:prstDash val="solid"/>
          </a:ln>
        </p:spPr>
      </p:sp>
      <p:sp>
        <p:nvSpPr>
          <p:cNvPr id="15" name="Text 13"/>
          <p:cNvSpPr/>
          <p:nvPr/>
        </p:nvSpPr>
        <p:spPr>
          <a:xfrm>
            <a:off x="6263640" y="1033272"/>
            <a:ext cx="2377440" cy="274320"/>
          </a:xfrm>
          <a:prstGeom prst="rect">
            <a:avLst/>
          </a:prstGeom>
          <a:noFill/>
          <a:ln/>
        </p:spPr>
        <p:txBody>
          <a:bodyPr wrap="square" rtlCol="0" anchor="ctr"/>
          <a:lstStyle/>
          <a:p>
            <a:pPr marL="0" indent="0">
              <a:buNone/>
            </a:pPr>
            <a:r>
              <a:rPr lang="en-US" sz="1300" b="1" dirty="0">
                <a:solidFill>
                  <a:srgbClr val="F78166"/>
                </a:solidFill>
                <a:latin typeface="Calibri" pitchFamily="34" charset="0"/>
                <a:ea typeface="Calibri" pitchFamily="34" charset="-122"/>
                <a:cs typeface="Calibri" pitchFamily="34" charset="-120"/>
              </a:rPr>
              <a:t>Copilot Agent (VS Code)</a:t>
            </a:r>
            <a:endParaRPr lang="en-US" sz="1300" dirty="0"/>
          </a:p>
        </p:txBody>
      </p:sp>
      <p:sp>
        <p:nvSpPr>
          <p:cNvPr id="16" name="Text 14"/>
          <p:cNvSpPr/>
          <p:nvPr/>
        </p:nvSpPr>
        <p:spPr>
          <a:xfrm>
            <a:off x="6263640" y="1307592"/>
            <a:ext cx="2377440" cy="594360"/>
          </a:xfrm>
          <a:prstGeom prst="rect">
            <a:avLst/>
          </a:prstGeom>
          <a:noFill/>
          <a:ln/>
        </p:spPr>
        <p:txBody>
          <a:bodyPr wrap="square" rtlCol="0" anchor="ctr"/>
          <a:lstStyle/>
          <a:p>
            <a:pPr marL="0" indent="0">
              <a:buNone/>
            </a:pPr>
            <a:r>
              <a:rPr lang="en-US" sz="1000" dirty="0">
                <a:solidFill>
                  <a:srgbClr val="8B949E"/>
                </a:solidFill>
                <a:latin typeface="Calibri" pitchFamily="34" charset="0"/>
                <a:ea typeface="Calibri" pitchFamily="34" charset="-122"/>
                <a:cs typeface="Calibri" pitchFamily="34" charset="-120"/>
              </a:rPr>
              <a:t>Copilot runs in VS Code on your machine</a:t>
            </a:r>
            <a:endParaRPr lang="en-US" sz="1000" dirty="0"/>
          </a:p>
          <a:p>
            <a:pPr marL="0" indent="0">
              <a:buNone/>
            </a:pPr>
            <a:r>
              <a:rPr lang="en-US" sz="1000" dirty="0">
                <a:solidFill>
                  <a:srgbClr val="8B949E"/>
                </a:solidFill>
                <a:latin typeface="Calibri" pitchFamily="34" charset="0"/>
                <a:ea typeface="Calibri" pitchFamily="34" charset="-122"/>
                <a:cs typeface="Calibri" pitchFamily="34" charset="-120"/>
              </a:rPr>
              <a:t>Drafts PR based on issue spec</a:t>
            </a:r>
            <a:endParaRPr lang="en-US" sz="1000" dirty="0"/>
          </a:p>
        </p:txBody>
      </p:sp>
      <p:sp>
        <p:nvSpPr>
          <p:cNvPr id="17" name="Shape 15"/>
          <p:cNvSpPr/>
          <p:nvPr/>
        </p:nvSpPr>
        <p:spPr>
          <a:xfrm>
            <a:off x="6126480" y="2377440"/>
            <a:ext cx="2651760" cy="1188720"/>
          </a:xfrm>
          <a:prstGeom prst="rect">
            <a:avLst/>
          </a:prstGeom>
          <a:solidFill>
            <a:srgbClr val="161B22"/>
          </a:solidFill>
          <a:ln w="12700">
            <a:solidFill>
              <a:srgbClr val="BC8CFF"/>
            </a:solidFill>
            <a:prstDash val="solid"/>
          </a:ln>
        </p:spPr>
      </p:sp>
      <p:sp>
        <p:nvSpPr>
          <p:cNvPr id="18" name="Text 16"/>
          <p:cNvSpPr/>
          <p:nvPr/>
        </p:nvSpPr>
        <p:spPr>
          <a:xfrm>
            <a:off x="6263640" y="2450592"/>
            <a:ext cx="2377440" cy="274320"/>
          </a:xfrm>
          <a:prstGeom prst="rect">
            <a:avLst/>
          </a:prstGeom>
          <a:noFill/>
          <a:ln/>
        </p:spPr>
        <p:txBody>
          <a:bodyPr wrap="square" rtlCol="0" anchor="ctr"/>
          <a:lstStyle/>
          <a:p>
            <a:pPr marL="0" indent="0">
              <a:buNone/>
            </a:pPr>
            <a:r>
              <a:rPr lang="en-US" sz="1300" b="1" dirty="0">
                <a:solidFill>
                  <a:srgbClr val="BC8CFF"/>
                </a:solidFill>
                <a:latin typeface="Calibri" pitchFamily="34" charset="0"/>
                <a:ea typeface="Calibri" pitchFamily="34" charset="-122"/>
                <a:cs typeface="Calibri" pitchFamily="34" charset="-120"/>
              </a:rPr>
              <a:t>GitHub Actions Runner</a:t>
            </a:r>
            <a:endParaRPr lang="en-US" sz="1300" dirty="0"/>
          </a:p>
        </p:txBody>
      </p:sp>
      <p:sp>
        <p:nvSpPr>
          <p:cNvPr id="19" name="Text 17"/>
          <p:cNvSpPr/>
          <p:nvPr/>
        </p:nvSpPr>
        <p:spPr>
          <a:xfrm>
            <a:off x="6263640" y="2724912"/>
            <a:ext cx="2377440" cy="594360"/>
          </a:xfrm>
          <a:prstGeom prst="rect">
            <a:avLst/>
          </a:prstGeom>
          <a:noFill/>
          <a:ln/>
        </p:spPr>
        <p:txBody>
          <a:bodyPr wrap="square" rtlCol="0" anchor="ctr"/>
          <a:lstStyle/>
          <a:p>
            <a:pPr marL="0" indent="0">
              <a:buNone/>
            </a:pPr>
            <a:r>
              <a:rPr lang="en-US" sz="1000" dirty="0">
                <a:solidFill>
                  <a:srgbClr val="8B949E"/>
                </a:solidFill>
                <a:latin typeface="Calibri" pitchFamily="34" charset="0"/>
                <a:ea typeface="Calibri" pitchFamily="34" charset="-122"/>
                <a:cs typeface="Calibri" pitchFamily="34" charset="-120"/>
              </a:rPr>
              <a:t>Copilot raises a</a:t>
            </a:r>
            <a:endParaRPr lang="en-US" sz="1000" dirty="0"/>
          </a:p>
          <a:p>
            <a:pPr marL="0" indent="0">
              <a:buNone/>
            </a:pPr>
            <a:r>
              <a:rPr lang="en-US" sz="1000" dirty="0">
                <a:solidFill>
                  <a:srgbClr val="8B949E"/>
                </a:solidFill>
                <a:latin typeface="Calibri" pitchFamily="34" charset="0"/>
                <a:ea typeface="Calibri" pitchFamily="34" charset="-122"/>
                <a:cs typeface="Calibri" pitchFamily="34" charset="-120"/>
              </a:rPr>
              <a:t>draft PR autonomously</a:t>
            </a:r>
            <a:endParaRPr lang="en-US" sz="1000" dirty="0"/>
          </a:p>
        </p:txBody>
      </p:sp>
      <p:sp>
        <p:nvSpPr>
          <p:cNvPr id="20" name="Shape 18"/>
          <p:cNvSpPr/>
          <p:nvPr/>
        </p:nvSpPr>
        <p:spPr>
          <a:xfrm>
            <a:off x="274320" y="2423160"/>
            <a:ext cx="5577840" cy="1280160"/>
          </a:xfrm>
          <a:prstGeom prst="rect">
            <a:avLst/>
          </a:prstGeom>
          <a:solidFill>
            <a:srgbClr val="1C2333"/>
          </a:solidFill>
          <a:ln w="12700">
            <a:solidFill>
              <a:srgbClr val="30363D"/>
            </a:solidFill>
            <a:prstDash val="solid"/>
          </a:ln>
        </p:spPr>
      </p:sp>
      <p:sp>
        <p:nvSpPr>
          <p:cNvPr id="21" name="Text 19"/>
          <p:cNvSpPr/>
          <p:nvPr/>
        </p:nvSpPr>
        <p:spPr>
          <a:xfrm>
            <a:off x="411480" y="2487168"/>
            <a:ext cx="5303520" cy="274320"/>
          </a:xfrm>
          <a:prstGeom prst="rect">
            <a:avLst/>
          </a:prstGeom>
          <a:noFill/>
          <a:ln/>
        </p:spPr>
        <p:txBody>
          <a:bodyPr wrap="square" rtlCol="0" anchor="ctr"/>
          <a:lstStyle/>
          <a:p>
            <a:pPr marL="0" indent="0">
              <a:buNone/>
            </a:pPr>
            <a:r>
              <a:rPr lang="en-US" sz="1100" b="1" dirty="0">
                <a:solidFill>
                  <a:srgbClr val="8B949E"/>
                </a:solidFill>
                <a:latin typeface="Calibri" pitchFamily="34" charset="0"/>
                <a:ea typeface="Calibri" pitchFamily="34" charset="-122"/>
                <a:cs typeface="Calibri" pitchFamily="34" charset="-120"/>
              </a:rPr>
              <a:t>The Automation Flow</a:t>
            </a:r>
            <a:endParaRPr lang="en-US" sz="1100" dirty="0"/>
          </a:p>
        </p:txBody>
      </p:sp>
      <p:sp>
        <p:nvSpPr>
          <p:cNvPr id="22" name="Text 20"/>
          <p:cNvSpPr/>
          <p:nvPr/>
        </p:nvSpPr>
        <p:spPr>
          <a:xfrm>
            <a:off x="411480" y="2761488"/>
            <a:ext cx="5303520" cy="914400"/>
          </a:xfrm>
          <a:prstGeom prst="rect">
            <a:avLst/>
          </a:prstGeom>
          <a:noFill/>
          <a:ln/>
        </p:spPr>
        <p:txBody>
          <a:bodyPr wrap="square" rtlCol="0" anchor="ctr"/>
          <a:lstStyle/>
          <a:p>
            <a:pPr marL="0" indent="0">
              <a:buNone/>
            </a:pPr>
            <a:r>
              <a:rPr lang="en-US" sz="1100" b="1" dirty="0">
                <a:solidFill>
                  <a:srgbClr val="007ACC"/>
                </a:solidFill>
                <a:latin typeface="Calibri" pitchFamily="34" charset="0"/>
                <a:ea typeface="Calibri" pitchFamily="34" charset="-122"/>
                <a:cs typeface="Calibri" pitchFamily="34" charset="-120"/>
              </a:rPr>
              <a:t>1. </a:t>
            </a:r>
            <a:r>
              <a:rPr lang="en-US" sz="1100" dirty="0">
                <a:solidFill>
                  <a:srgbClr val="E6EDF3"/>
                </a:solidFill>
                <a:latin typeface="Calibri" pitchFamily="34" charset="0"/>
                <a:ea typeface="Calibri" pitchFamily="34" charset="-122"/>
                <a:cs typeface="Calibri" pitchFamily="34" charset="-120"/>
              </a:rPr>
              <a:t>Developer labels an issue ‘agent-task’ in GitHub
</a:t>
            </a:r>
            <a:r>
              <a:rPr lang="en-US" sz="1100" b="1" dirty="0">
                <a:solidFill>
                  <a:srgbClr val="007ACC"/>
                </a:solidFill>
                <a:latin typeface="Calibri" pitchFamily="34" charset="0"/>
                <a:ea typeface="Calibri" pitchFamily="34" charset="-122"/>
                <a:cs typeface="Calibri" pitchFamily="34" charset="-120"/>
              </a:rPr>
              <a:t>2. </a:t>
            </a:r>
            <a:r>
              <a:rPr lang="en-US" sz="1100" dirty="0">
                <a:solidFill>
                  <a:srgbClr val="E6EDF3"/>
                </a:solidFill>
                <a:latin typeface="Calibri" pitchFamily="34" charset="0"/>
                <a:ea typeface="Calibri" pitchFamily="34" charset="-122"/>
                <a:cs typeface="Calibri" pitchFamily="34" charset="-120"/>
              </a:rPr>
              <a:t>GitHub Actions workflow triggers, passes issue body as spec
</a:t>
            </a:r>
            <a:r>
              <a:rPr lang="en-US" sz="1100" b="1" dirty="0">
                <a:solidFill>
                  <a:srgbClr val="007ACC"/>
                </a:solidFill>
                <a:latin typeface="Calibri" pitchFamily="34" charset="0"/>
                <a:ea typeface="Calibri" pitchFamily="34" charset="-122"/>
                <a:cs typeface="Calibri" pitchFamily="34" charset="-120"/>
              </a:rPr>
              <a:t>3. </a:t>
            </a:r>
            <a:r>
              <a:rPr lang="en-US" sz="1100" dirty="0">
                <a:solidFill>
                  <a:srgbClr val="E6EDF3"/>
                </a:solidFill>
                <a:latin typeface="Calibri" pitchFamily="34" charset="0"/>
                <a:ea typeface="Calibri" pitchFamily="34" charset="-122"/>
                <a:cs typeface="Calibri" pitchFamily="34" charset="-120"/>
              </a:rPr>
              <a:t>Copilot agent runs in isolated worktree, implements the fix
</a:t>
            </a:r>
            <a:r>
              <a:rPr lang="en-US" sz="1100" b="1" dirty="0">
                <a:solidFill>
                  <a:srgbClr val="007ACC"/>
                </a:solidFill>
                <a:latin typeface="Calibri" pitchFamily="34" charset="0"/>
                <a:ea typeface="Calibri" pitchFamily="34" charset="-122"/>
                <a:cs typeface="Calibri" pitchFamily="34" charset="-120"/>
              </a:rPr>
              <a:t>4. </a:t>
            </a:r>
            <a:r>
              <a:rPr lang="en-US" sz="1100" dirty="0">
                <a:solidFill>
                  <a:srgbClr val="E6EDF3"/>
                </a:solidFill>
                <a:latin typeface="Calibri" pitchFamily="34" charset="0"/>
                <a:ea typeface="Calibri" pitchFamily="34" charset="-122"/>
                <a:cs typeface="Calibri" pitchFamily="34" charset="-120"/>
              </a:rPr>
              <a:t>Agent raises a draft PR for human review before merge</a:t>
            </a:r>
            <a:endParaRPr lang="en-US" sz="1100" dirty="0"/>
          </a:p>
        </p:txBody>
      </p:sp>
      <p:sp>
        <p:nvSpPr>
          <p:cNvPr id="23" name="Text 21"/>
          <p:cNvSpPr/>
          <p:nvPr/>
        </p:nvSpPr>
        <p:spPr>
          <a:xfrm>
            <a:off x="274320" y="3886200"/>
            <a:ext cx="8595360" cy="502920"/>
          </a:xfrm>
          <a:prstGeom prst="rect">
            <a:avLst/>
          </a:prstGeom>
          <a:noFill/>
          <a:ln/>
        </p:spPr>
        <p:txBody>
          <a:bodyPr wrap="square" rtlCol="0" anchor="ctr"/>
          <a:lstStyle/>
          <a:p>
            <a:pPr marL="0" indent="0">
              <a:buNone/>
            </a:pPr>
            <a:r>
              <a:rPr lang="en-US" sz="1100" i="1" dirty="0">
                <a:solidFill>
                  <a:srgbClr val="8B949E"/>
                </a:solidFill>
                <a:latin typeface="Calibri" pitchFamily="34" charset="0"/>
                <a:ea typeface="Calibri" pitchFamily="34" charset="-122"/>
                <a:cs typeface="Calibri" pitchFamily="34" charset="-120"/>
              </a:rPr>
              <a:t>Tip: Use issue templates to enforce a structured spec format — objective, files in scope, acceptance criteria. The richer the issue, the better the PR.</a:t>
            </a:r>
            <a:endParaRPr lang="en-US" sz="1100" dirty="0"/>
          </a:p>
        </p:txBody>
      </p:sp>
      <p:sp>
        <p:nvSpPr>
          <p:cNvPr id="24" name="Shape 22"/>
          <p:cNvSpPr/>
          <p:nvPr/>
        </p:nvSpPr>
        <p:spPr>
          <a:xfrm>
            <a:off x="0" y="4960620"/>
            <a:ext cx="9144000" cy="182880"/>
          </a:xfrm>
          <a:prstGeom prst="rect">
            <a:avLst/>
          </a:prstGeom>
          <a:solidFill>
            <a:srgbClr val="161B22"/>
          </a:solidFill>
          <a:ln w="12700">
            <a:solidFill>
              <a:srgbClr val="30363D"/>
            </a:solidFill>
            <a:prstDash val="solid"/>
          </a:ln>
        </p:spPr>
      </p:sp>
      <p:sp>
        <p:nvSpPr>
          <p:cNvPr id="25" name="Text 23"/>
          <p:cNvSpPr/>
          <p:nvPr/>
        </p:nvSpPr>
        <p:spPr>
          <a:xfrm>
            <a:off x="274320" y="4965192"/>
            <a:ext cx="8595360" cy="164592"/>
          </a:xfrm>
          <a:prstGeom prst="rect">
            <a:avLst/>
          </a:prstGeom>
          <a:noFill/>
          <a:ln/>
        </p:spPr>
        <p:txBody>
          <a:bodyPr wrap="square" rtlCol="0" anchor="ctr"/>
          <a:lstStyle/>
          <a:p>
            <a:pPr marL="0" indent="0" algn="l">
              <a:buNone/>
            </a:pPr>
            <a:r>
              <a:rPr lang="en-US" sz="800" dirty="0">
                <a:solidFill>
                  <a:srgbClr val="484F58"/>
                </a:solidFill>
                <a:latin typeface="Consolas" pitchFamily="34" charset="0"/>
                <a:ea typeface="Consolas" pitchFamily="34" charset="-122"/>
                <a:cs typeface="Consolas" pitchFamily="34" charset="-120"/>
              </a:rPr>
              <a:t>Multi-Agent in VS Code  •  Developer Community</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6">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007ACC"/>
          </a:solidFill>
          <a:ln w="12700">
            <a:solidFill>
              <a:srgbClr val="007ACC"/>
            </a:solidFill>
            <a:prstDash val="solid"/>
          </a:ln>
        </p:spPr>
      </p:sp>
      <p:sp>
        <p:nvSpPr>
          <p:cNvPr id="3" name="Text 1"/>
          <p:cNvSpPr/>
          <p:nvPr/>
        </p:nvSpPr>
        <p:spPr>
          <a:xfrm>
            <a:off x="457200" y="182880"/>
            <a:ext cx="8229600" cy="502920"/>
          </a:xfrm>
          <a:prstGeom prst="rect">
            <a:avLst/>
          </a:prstGeom>
          <a:noFill/>
          <a:ln/>
        </p:spPr>
        <p:txBody>
          <a:bodyPr wrap="square" lIns="0" tIns="0" rIns="0" bIns="0" rtlCol="0" anchor="ctr"/>
          <a:lstStyle/>
          <a:p>
            <a:pPr marL="0" indent="0">
              <a:buNone/>
            </a:pPr>
            <a:r>
              <a:rPr lang="en-US" sz="2200" b="1" dirty="0">
                <a:solidFill>
                  <a:srgbClr val="E6EDF3"/>
                </a:solidFill>
                <a:latin typeface="Calibri" pitchFamily="34" charset="0"/>
                <a:ea typeface="Calibri" pitchFamily="34" charset="-122"/>
                <a:cs typeface="Calibri" pitchFamily="34" charset="-120"/>
              </a:rPr>
              <a:t>When Agents Fail (And That’s Fine)</a:t>
            </a:r>
            <a:endParaRPr lang="en-US" sz="2200" dirty="0"/>
          </a:p>
        </p:txBody>
      </p:sp>
      <p:sp>
        <p:nvSpPr>
          <p:cNvPr id="4" name="Text 2"/>
          <p:cNvSpPr/>
          <p:nvPr/>
        </p:nvSpPr>
        <p:spPr>
          <a:xfrm>
            <a:off x="457200" y="685800"/>
            <a:ext cx="8229600" cy="320040"/>
          </a:xfrm>
          <a:prstGeom prst="rect">
            <a:avLst/>
          </a:prstGeom>
          <a:noFill/>
          <a:ln/>
        </p:spPr>
        <p:txBody>
          <a:bodyPr wrap="square" lIns="0" tIns="0" rIns="0" bIns="0" rtlCol="0" anchor="ctr"/>
          <a:lstStyle/>
          <a:p>
            <a:pPr marL="0" indent="0">
              <a:buNone/>
            </a:pPr>
            <a:r>
              <a:rPr lang="en-US" sz="1200" dirty="0">
                <a:solidFill>
                  <a:srgbClr val="8B949E"/>
                </a:solidFill>
                <a:latin typeface="Calibri" pitchFamily="34" charset="0"/>
                <a:ea typeface="Calibri" pitchFamily="34" charset="-122"/>
                <a:cs typeface="Calibri" pitchFamily="34" charset="-120"/>
              </a:rPr>
              <a:t>Failure is cheap. That’s the whole point of worktrees.</a:t>
            </a:r>
            <a:endParaRPr lang="en-US" sz="1200" dirty="0"/>
          </a:p>
        </p:txBody>
      </p:sp>
      <p:sp>
        <p:nvSpPr>
          <p:cNvPr id="5" name="Shape 3"/>
          <p:cNvSpPr/>
          <p:nvPr/>
        </p:nvSpPr>
        <p:spPr>
          <a:xfrm>
            <a:off x="457200" y="1005840"/>
            <a:ext cx="8229600" cy="9144"/>
          </a:xfrm>
          <a:prstGeom prst="rect">
            <a:avLst/>
          </a:prstGeom>
          <a:solidFill>
            <a:srgbClr val="30363D"/>
          </a:solidFill>
          <a:ln w="12700">
            <a:solidFill>
              <a:srgbClr val="30363D"/>
            </a:solidFill>
            <a:prstDash val="solid"/>
          </a:ln>
        </p:spPr>
      </p:sp>
      <p:sp>
        <p:nvSpPr>
          <p:cNvPr id="6" name="Shape 4"/>
          <p:cNvSpPr/>
          <p:nvPr/>
        </p:nvSpPr>
        <p:spPr>
          <a:xfrm>
            <a:off x="365760" y="1188720"/>
            <a:ext cx="2560320" cy="914400"/>
          </a:xfrm>
          <a:prstGeom prst="rect">
            <a:avLst/>
          </a:prstGeom>
          <a:solidFill>
            <a:srgbClr val="161B22"/>
          </a:solidFill>
          <a:ln w="12700">
            <a:solidFill>
              <a:srgbClr val="007ACC"/>
            </a:solidFill>
            <a:prstDash val="solid"/>
          </a:ln>
        </p:spPr>
      </p:sp>
      <p:sp>
        <p:nvSpPr>
          <p:cNvPr id="7" name="Text 5"/>
          <p:cNvSpPr/>
          <p:nvPr/>
        </p:nvSpPr>
        <p:spPr>
          <a:xfrm>
            <a:off x="502920" y="1261872"/>
            <a:ext cx="2331720" cy="320040"/>
          </a:xfrm>
          <a:prstGeom prst="rect">
            <a:avLst/>
          </a:prstGeom>
          <a:noFill/>
          <a:ln/>
        </p:spPr>
        <p:txBody>
          <a:bodyPr wrap="square" rtlCol="0" anchor="ctr"/>
          <a:lstStyle/>
          <a:p>
            <a:pPr marL="0" indent="0">
              <a:buNone/>
            </a:pPr>
            <a:r>
              <a:rPr lang="en-US" sz="1100" b="1" dirty="0">
                <a:solidFill>
                  <a:srgbClr val="007ACC"/>
                </a:solidFill>
                <a:latin typeface="Calibri" pitchFamily="34" charset="0"/>
                <a:ea typeface="Calibri" pitchFamily="34" charset="-122"/>
                <a:cs typeface="Calibri" pitchFamily="34" charset="-120"/>
              </a:rPr>
              <a:t>Your Workspace</a:t>
            </a:r>
            <a:endParaRPr lang="en-US" sz="1100" dirty="0"/>
          </a:p>
        </p:txBody>
      </p:sp>
      <p:sp>
        <p:nvSpPr>
          <p:cNvPr id="8" name="Text 6"/>
          <p:cNvSpPr/>
          <p:nvPr/>
        </p:nvSpPr>
        <p:spPr>
          <a:xfrm>
            <a:off x="502920" y="1581912"/>
            <a:ext cx="2331720" cy="228600"/>
          </a:xfrm>
          <a:prstGeom prst="rect">
            <a:avLst/>
          </a:prstGeom>
          <a:noFill/>
          <a:ln/>
        </p:spPr>
        <p:txBody>
          <a:bodyPr wrap="square" rtlCol="0" anchor="ctr"/>
          <a:lstStyle/>
          <a:p>
            <a:pPr marL="0" indent="0">
              <a:buNone/>
            </a:pPr>
            <a:r>
              <a:rPr lang="en-US" sz="900" dirty="0">
                <a:solidFill>
                  <a:srgbClr val="8B949E"/>
                </a:solidFill>
                <a:latin typeface="Consolas" pitchFamily="34" charset="0"/>
                <a:ea typeface="Consolas" pitchFamily="34" charset="-122"/>
                <a:cs typeface="Consolas" pitchFamily="34" charset="-120"/>
              </a:rPr>
              <a:t>Main branch untouched. You keep working.</a:t>
            </a:r>
            <a:endParaRPr lang="en-US" sz="900" dirty="0"/>
          </a:p>
        </p:txBody>
      </p:sp>
      <p:sp>
        <p:nvSpPr>
          <p:cNvPr id="9" name="Shape 7"/>
          <p:cNvSpPr/>
          <p:nvPr/>
        </p:nvSpPr>
        <p:spPr>
          <a:xfrm>
            <a:off x="365760" y="2331720"/>
            <a:ext cx="2560320" cy="502920"/>
          </a:xfrm>
          <a:prstGeom prst="rect">
            <a:avLst/>
          </a:prstGeom>
          <a:solidFill>
            <a:srgbClr val="161B22"/>
          </a:solidFill>
          <a:ln w="12700">
            <a:solidFill>
              <a:srgbClr val="3FB950"/>
            </a:solidFill>
            <a:prstDash val="solid"/>
          </a:ln>
        </p:spPr>
      </p:sp>
      <p:sp>
        <p:nvSpPr>
          <p:cNvPr id="10" name="Shape 8"/>
          <p:cNvSpPr/>
          <p:nvPr/>
        </p:nvSpPr>
        <p:spPr>
          <a:xfrm>
            <a:off x="365760" y="2331720"/>
            <a:ext cx="45720" cy="502920"/>
          </a:xfrm>
          <a:prstGeom prst="rect">
            <a:avLst/>
          </a:prstGeom>
          <a:solidFill>
            <a:srgbClr val="3FB950"/>
          </a:solidFill>
          <a:ln w="12700">
            <a:solidFill>
              <a:srgbClr val="3FB950"/>
            </a:solidFill>
            <a:prstDash val="solid"/>
          </a:ln>
        </p:spPr>
      </p:sp>
      <p:sp>
        <p:nvSpPr>
          <p:cNvPr id="11" name="Text 9"/>
          <p:cNvSpPr/>
          <p:nvPr/>
        </p:nvSpPr>
        <p:spPr>
          <a:xfrm>
            <a:off x="548640" y="2441448"/>
            <a:ext cx="2286000" cy="274320"/>
          </a:xfrm>
          <a:prstGeom prst="rect">
            <a:avLst/>
          </a:prstGeom>
          <a:noFill/>
          <a:ln/>
        </p:spPr>
        <p:txBody>
          <a:bodyPr wrap="square" rtlCol="0" anchor="ctr"/>
          <a:lstStyle/>
          <a:p>
            <a:pPr marL="0" indent="0">
              <a:buNone/>
            </a:pPr>
            <a:r>
              <a:rPr lang="en-US" sz="1100" b="1" dirty="0">
                <a:solidFill>
                  <a:srgbClr val="3FB950"/>
                </a:solidFill>
                <a:latin typeface="Calibri" pitchFamily="34" charset="0"/>
                <a:ea typeface="Calibri" pitchFamily="34" charset="-122"/>
                <a:cs typeface="Calibri" pitchFamily="34" charset="-120"/>
              </a:rPr>
              <a:t>Failed worktree → discard</a:t>
            </a:r>
            <a:endParaRPr lang="en-US" sz="1100" dirty="0"/>
          </a:p>
        </p:txBody>
      </p:sp>
      <p:sp>
        <p:nvSpPr>
          <p:cNvPr id="12" name="Shape 10"/>
          <p:cNvSpPr/>
          <p:nvPr/>
        </p:nvSpPr>
        <p:spPr>
          <a:xfrm>
            <a:off x="365760" y="2971800"/>
            <a:ext cx="2560320" cy="502920"/>
          </a:xfrm>
          <a:prstGeom prst="rect">
            <a:avLst/>
          </a:prstGeom>
          <a:solidFill>
            <a:srgbClr val="161B22"/>
          </a:solidFill>
          <a:ln w="12700">
            <a:solidFill>
              <a:srgbClr val="F78166"/>
            </a:solidFill>
            <a:prstDash val="solid"/>
          </a:ln>
        </p:spPr>
      </p:sp>
      <p:sp>
        <p:nvSpPr>
          <p:cNvPr id="13" name="Shape 11"/>
          <p:cNvSpPr/>
          <p:nvPr/>
        </p:nvSpPr>
        <p:spPr>
          <a:xfrm>
            <a:off x="365760" y="2971800"/>
            <a:ext cx="45720" cy="502920"/>
          </a:xfrm>
          <a:prstGeom prst="rect">
            <a:avLst/>
          </a:prstGeom>
          <a:solidFill>
            <a:srgbClr val="F78166"/>
          </a:solidFill>
          <a:ln w="12700">
            <a:solidFill>
              <a:srgbClr val="F78166"/>
            </a:solidFill>
            <a:prstDash val="solid"/>
          </a:ln>
        </p:spPr>
      </p:sp>
      <p:sp>
        <p:nvSpPr>
          <p:cNvPr id="14" name="Text 12"/>
          <p:cNvSpPr/>
          <p:nvPr/>
        </p:nvSpPr>
        <p:spPr>
          <a:xfrm>
            <a:off x="548640" y="3081528"/>
            <a:ext cx="2286000" cy="274320"/>
          </a:xfrm>
          <a:prstGeom prst="rect">
            <a:avLst/>
          </a:prstGeom>
          <a:noFill/>
          <a:ln/>
        </p:spPr>
        <p:txBody>
          <a:bodyPr wrap="square" rtlCol="0" anchor="ctr"/>
          <a:lstStyle/>
          <a:p>
            <a:pPr marL="0" indent="0">
              <a:buNone/>
            </a:pPr>
            <a:r>
              <a:rPr lang="en-US" sz="1100" b="1" dirty="0">
                <a:solidFill>
                  <a:srgbClr val="F78166"/>
                </a:solidFill>
                <a:latin typeface="Calibri" pitchFamily="34" charset="0"/>
                <a:ea typeface="Calibri" pitchFamily="34" charset="-122"/>
                <a:cs typeface="Calibri" pitchFamily="34" charset="-120"/>
              </a:rPr>
              <a:t>In-progress worktree</a:t>
            </a:r>
            <a:endParaRPr lang="en-US" sz="1100" dirty="0"/>
          </a:p>
        </p:txBody>
      </p:sp>
      <p:sp>
        <p:nvSpPr>
          <p:cNvPr id="15" name="Shape 13"/>
          <p:cNvSpPr/>
          <p:nvPr/>
        </p:nvSpPr>
        <p:spPr>
          <a:xfrm>
            <a:off x="365760" y="3611880"/>
            <a:ext cx="2560320" cy="502920"/>
          </a:xfrm>
          <a:prstGeom prst="rect">
            <a:avLst/>
          </a:prstGeom>
          <a:solidFill>
            <a:srgbClr val="161B22"/>
          </a:solidFill>
          <a:ln w="12700">
            <a:solidFill>
              <a:srgbClr val="BC8CFF"/>
            </a:solidFill>
            <a:prstDash val="solid"/>
          </a:ln>
        </p:spPr>
      </p:sp>
      <p:sp>
        <p:nvSpPr>
          <p:cNvPr id="16" name="Shape 14"/>
          <p:cNvSpPr/>
          <p:nvPr/>
        </p:nvSpPr>
        <p:spPr>
          <a:xfrm>
            <a:off x="365760" y="3611880"/>
            <a:ext cx="45720" cy="502920"/>
          </a:xfrm>
          <a:prstGeom prst="rect">
            <a:avLst/>
          </a:prstGeom>
          <a:solidFill>
            <a:srgbClr val="BC8CFF"/>
          </a:solidFill>
          <a:ln w="12700">
            <a:solidFill>
              <a:srgbClr val="BC8CFF"/>
            </a:solidFill>
            <a:prstDash val="solid"/>
          </a:ln>
        </p:spPr>
      </p:sp>
      <p:sp>
        <p:nvSpPr>
          <p:cNvPr id="17" name="Text 15"/>
          <p:cNvSpPr/>
          <p:nvPr/>
        </p:nvSpPr>
        <p:spPr>
          <a:xfrm>
            <a:off x="548640" y="3721608"/>
            <a:ext cx="2286000" cy="274320"/>
          </a:xfrm>
          <a:prstGeom prst="rect">
            <a:avLst/>
          </a:prstGeom>
          <a:noFill/>
          <a:ln/>
        </p:spPr>
        <p:txBody>
          <a:bodyPr wrap="square" rtlCol="0" anchor="ctr"/>
          <a:lstStyle/>
          <a:p>
            <a:pPr marL="0" indent="0">
              <a:buNone/>
            </a:pPr>
            <a:r>
              <a:rPr lang="en-US" sz="1100" b="1" dirty="0">
                <a:solidFill>
                  <a:srgbClr val="BC8CFF"/>
                </a:solidFill>
                <a:latin typeface="Calibri" pitchFamily="34" charset="0"/>
                <a:ea typeface="Calibri" pitchFamily="34" charset="-122"/>
                <a:cs typeface="Calibri" pitchFamily="34" charset="-120"/>
              </a:rPr>
              <a:t>Completed → review diff</a:t>
            </a:r>
            <a:endParaRPr lang="en-US" sz="1100" dirty="0"/>
          </a:p>
        </p:txBody>
      </p:sp>
      <p:sp>
        <p:nvSpPr>
          <p:cNvPr id="18" name="Shape 16"/>
          <p:cNvSpPr/>
          <p:nvPr/>
        </p:nvSpPr>
        <p:spPr>
          <a:xfrm>
            <a:off x="1645920" y="2103120"/>
            <a:ext cx="0" cy="228600"/>
          </a:xfrm>
          <a:prstGeom prst="line">
            <a:avLst/>
          </a:prstGeom>
          <a:noFill/>
          <a:ln w="12700">
            <a:solidFill>
              <a:srgbClr val="484F58"/>
            </a:solidFill>
            <a:prstDash val="sysDot"/>
          </a:ln>
        </p:spPr>
      </p:sp>
      <p:sp>
        <p:nvSpPr>
          <p:cNvPr id="19" name="Shape 17"/>
          <p:cNvSpPr/>
          <p:nvPr/>
        </p:nvSpPr>
        <p:spPr>
          <a:xfrm>
            <a:off x="1645920" y="2103120"/>
            <a:ext cx="0" cy="868680"/>
          </a:xfrm>
          <a:prstGeom prst="line">
            <a:avLst/>
          </a:prstGeom>
          <a:noFill/>
          <a:ln w="12700">
            <a:solidFill>
              <a:srgbClr val="484F58"/>
            </a:solidFill>
            <a:prstDash val="sysDot"/>
          </a:ln>
        </p:spPr>
      </p:sp>
      <p:sp>
        <p:nvSpPr>
          <p:cNvPr id="20" name="Shape 18"/>
          <p:cNvSpPr/>
          <p:nvPr/>
        </p:nvSpPr>
        <p:spPr>
          <a:xfrm>
            <a:off x="1645920" y="2103120"/>
            <a:ext cx="0" cy="1508760"/>
          </a:xfrm>
          <a:prstGeom prst="line">
            <a:avLst/>
          </a:prstGeom>
          <a:noFill/>
          <a:ln w="12700">
            <a:solidFill>
              <a:srgbClr val="484F58"/>
            </a:solidFill>
            <a:prstDash val="sysDot"/>
          </a:ln>
        </p:spPr>
      </p:sp>
      <p:sp>
        <p:nvSpPr>
          <p:cNvPr id="21" name="Shape 19"/>
          <p:cNvSpPr/>
          <p:nvPr/>
        </p:nvSpPr>
        <p:spPr>
          <a:xfrm>
            <a:off x="3246120" y="1188720"/>
            <a:ext cx="2560320" cy="3108960"/>
          </a:xfrm>
          <a:prstGeom prst="rect">
            <a:avLst/>
          </a:prstGeom>
          <a:solidFill>
            <a:srgbClr val="1C2333"/>
          </a:solidFill>
          <a:ln w="12700">
            <a:solidFill>
              <a:srgbClr val="30363D"/>
            </a:solidFill>
            <a:prstDash val="solid"/>
          </a:ln>
        </p:spPr>
      </p:sp>
      <p:sp>
        <p:nvSpPr>
          <p:cNvPr id="22" name="Text 20"/>
          <p:cNvSpPr/>
          <p:nvPr/>
        </p:nvSpPr>
        <p:spPr>
          <a:xfrm>
            <a:off x="3383280" y="1261872"/>
            <a:ext cx="2331720" cy="320040"/>
          </a:xfrm>
          <a:prstGeom prst="rect">
            <a:avLst/>
          </a:prstGeom>
          <a:noFill/>
          <a:ln/>
        </p:spPr>
        <p:txBody>
          <a:bodyPr wrap="square" rtlCol="0" anchor="ctr"/>
          <a:lstStyle/>
          <a:p>
            <a:pPr marL="0" indent="0">
              <a:buNone/>
            </a:pPr>
            <a:r>
              <a:rPr lang="en-US" sz="1300" b="1" dirty="0">
                <a:solidFill>
                  <a:srgbClr val="E6EDF3"/>
                </a:solidFill>
                <a:latin typeface="Calibri" pitchFamily="34" charset="0"/>
                <a:ea typeface="Calibri" pitchFamily="34" charset="-122"/>
                <a:cs typeface="Calibri" pitchFamily="34" charset="-120"/>
              </a:rPr>
              <a:t>The Recovery Flow</a:t>
            </a:r>
            <a:endParaRPr lang="en-US" sz="1300" dirty="0"/>
          </a:p>
        </p:txBody>
      </p:sp>
      <p:sp>
        <p:nvSpPr>
          <p:cNvPr id="23" name="Text 21"/>
          <p:cNvSpPr/>
          <p:nvPr/>
        </p:nvSpPr>
        <p:spPr>
          <a:xfrm>
            <a:off x="3383280" y="1600200"/>
            <a:ext cx="2331720" cy="1097280"/>
          </a:xfrm>
          <a:prstGeom prst="rect">
            <a:avLst/>
          </a:prstGeom>
          <a:noFill/>
          <a:ln/>
        </p:spPr>
        <p:txBody>
          <a:bodyPr wrap="square" rtlCol="0" anchor="ctr"/>
          <a:lstStyle/>
          <a:p>
            <a:pPr marL="0" indent="0">
              <a:buNone/>
            </a:pPr>
            <a:r>
              <a:rPr lang="en-US" sz="1100" dirty="0">
                <a:solidFill>
                  <a:srgbClr val="8B949E"/>
                </a:solidFill>
                <a:latin typeface="Calibri" pitchFamily="34" charset="0"/>
                <a:ea typeface="Calibri" pitchFamily="34" charset="-122"/>
                <a:cs typeface="Calibri" pitchFamily="34" charset="-120"/>
              </a:rPr>
              <a:t>When an agent produces bad output, you simply discard the worktree — no damage to main, no broken state. Review the diff, tweak your spec, and re-assign.</a:t>
            </a:r>
            <a:endParaRPr lang="en-US" sz="1100" dirty="0"/>
          </a:p>
        </p:txBody>
      </p:sp>
      <p:sp>
        <p:nvSpPr>
          <p:cNvPr id="24" name="Shape 22"/>
          <p:cNvSpPr/>
          <p:nvPr/>
        </p:nvSpPr>
        <p:spPr>
          <a:xfrm>
            <a:off x="3383280" y="2697480"/>
            <a:ext cx="2286000" cy="9144"/>
          </a:xfrm>
          <a:prstGeom prst="rect">
            <a:avLst/>
          </a:prstGeom>
          <a:solidFill>
            <a:srgbClr val="30363D"/>
          </a:solidFill>
          <a:ln w="12700">
            <a:solidFill>
              <a:srgbClr val="30363D"/>
            </a:solidFill>
            <a:prstDash val="solid"/>
          </a:ln>
        </p:spPr>
      </p:sp>
      <p:sp>
        <p:nvSpPr>
          <p:cNvPr id="25" name="Text 23"/>
          <p:cNvSpPr/>
          <p:nvPr/>
        </p:nvSpPr>
        <p:spPr>
          <a:xfrm>
            <a:off x="3383280" y="2788920"/>
            <a:ext cx="2331720" cy="320040"/>
          </a:xfrm>
          <a:prstGeom prst="rect">
            <a:avLst/>
          </a:prstGeom>
          <a:noFill/>
          <a:ln/>
        </p:spPr>
        <p:txBody>
          <a:bodyPr wrap="square" rtlCol="0" anchor="ctr"/>
          <a:lstStyle/>
          <a:p>
            <a:pPr marL="0" indent="0">
              <a:buNone/>
            </a:pPr>
            <a:r>
              <a:rPr lang="en-US" sz="1300" b="1" dirty="0">
                <a:solidFill>
                  <a:srgbClr val="3FB950"/>
                </a:solidFill>
                <a:latin typeface="Calibri" pitchFamily="34" charset="0"/>
                <a:ea typeface="Calibri" pitchFamily="34" charset="-122"/>
                <a:cs typeface="Calibri" pitchFamily="34" charset="-120"/>
              </a:rPr>
              <a:t>What This Means</a:t>
            </a:r>
            <a:endParaRPr lang="en-US" sz="1300" dirty="0"/>
          </a:p>
        </p:txBody>
      </p:sp>
      <p:sp>
        <p:nvSpPr>
          <p:cNvPr id="26" name="Text 24"/>
          <p:cNvSpPr/>
          <p:nvPr/>
        </p:nvSpPr>
        <p:spPr>
          <a:xfrm>
            <a:off x="3383280" y="3127248"/>
            <a:ext cx="2331720" cy="1005840"/>
          </a:xfrm>
          <a:prstGeom prst="rect">
            <a:avLst/>
          </a:prstGeom>
          <a:noFill/>
          <a:ln/>
        </p:spPr>
        <p:txBody>
          <a:bodyPr wrap="square" rtlCol="0" anchor="ctr"/>
          <a:lstStyle/>
          <a:p>
            <a:pPr marL="0" indent="0">
              <a:buNone/>
            </a:pPr>
            <a:r>
              <a:rPr lang="en-US" sz="1100" dirty="0">
                <a:solidFill>
                  <a:srgbClr val="8B949E"/>
                </a:solidFill>
                <a:latin typeface="Calibri" pitchFamily="34" charset="0"/>
                <a:ea typeface="Calibri" pitchFamily="34" charset="-122"/>
                <a:cs typeface="Calibri" pitchFamily="34" charset="-120"/>
              </a:rPr>
              <a:t>Agents are not precious. Treat failed runs like failed unit tests — expected, informative, and cheap to retry.</a:t>
            </a:r>
            <a:endParaRPr lang="en-US" sz="1100" dirty="0"/>
          </a:p>
        </p:txBody>
      </p:sp>
      <p:sp>
        <p:nvSpPr>
          <p:cNvPr id="27" name="Shape 25"/>
          <p:cNvSpPr/>
          <p:nvPr/>
        </p:nvSpPr>
        <p:spPr>
          <a:xfrm>
            <a:off x="6080760" y="1188720"/>
            <a:ext cx="2651760" cy="3108960"/>
          </a:xfrm>
          <a:prstGeom prst="rect">
            <a:avLst/>
          </a:prstGeom>
          <a:solidFill>
            <a:srgbClr val="161B22"/>
          </a:solidFill>
          <a:ln w="12700">
            <a:solidFill>
              <a:srgbClr val="3FB950"/>
            </a:solidFill>
            <a:prstDash val="solid"/>
          </a:ln>
        </p:spPr>
      </p:sp>
      <p:sp>
        <p:nvSpPr>
          <p:cNvPr id="28" name="Text 26"/>
          <p:cNvSpPr/>
          <p:nvPr/>
        </p:nvSpPr>
        <p:spPr>
          <a:xfrm>
            <a:off x="6217920" y="1261872"/>
            <a:ext cx="2377440" cy="320040"/>
          </a:xfrm>
          <a:prstGeom prst="rect">
            <a:avLst/>
          </a:prstGeom>
          <a:noFill/>
          <a:ln/>
        </p:spPr>
        <p:txBody>
          <a:bodyPr wrap="square" rtlCol="0" anchor="ctr"/>
          <a:lstStyle/>
          <a:p>
            <a:pPr marL="0" indent="0">
              <a:buNone/>
            </a:pPr>
            <a:r>
              <a:rPr lang="en-US" sz="1300" b="1" dirty="0">
                <a:solidFill>
                  <a:srgbClr val="3FB950"/>
                </a:solidFill>
                <a:latin typeface="Calibri" pitchFamily="34" charset="0"/>
                <a:ea typeface="Calibri" pitchFamily="34" charset="-122"/>
                <a:cs typeface="Calibri" pitchFamily="34" charset="-120"/>
              </a:rPr>
              <a:t>Benefits</a:t>
            </a:r>
            <a:endParaRPr lang="en-US" sz="1300" dirty="0"/>
          </a:p>
        </p:txBody>
      </p:sp>
      <p:sp>
        <p:nvSpPr>
          <p:cNvPr id="29" name="Text 27"/>
          <p:cNvSpPr/>
          <p:nvPr/>
        </p:nvSpPr>
        <p:spPr>
          <a:xfrm>
            <a:off x="6217920" y="1645920"/>
            <a:ext cx="2377440" cy="384048"/>
          </a:xfrm>
          <a:prstGeom prst="rect">
            <a:avLst/>
          </a:prstGeom>
          <a:noFill/>
          <a:ln/>
        </p:spPr>
        <p:txBody>
          <a:bodyPr wrap="square" rtlCol="0" anchor="ctr"/>
          <a:lstStyle/>
          <a:p>
            <a:pPr marL="0" indent="0">
              <a:buNone/>
            </a:pPr>
            <a:r>
              <a:rPr lang="en-US" sz="1100" b="1" dirty="0">
                <a:solidFill>
                  <a:srgbClr val="3FB950"/>
                </a:solidFill>
                <a:latin typeface="Calibri" pitchFamily="34" charset="0"/>
                <a:ea typeface="Calibri" pitchFamily="34" charset="-122"/>
                <a:cs typeface="Calibri" pitchFamily="34" charset="-120"/>
              </a:rPr>
              <a:t>✓ </a:t>
            </a:r>
            <a:r>
              <a:rPr lang="en-US" sz="1100" dirty="0">
                <a:solidFill>
                  <a:srgbClr val="E6EDF3"/>
                </a:solidFill>
                <a:latin typeface="Calibri" pitchFamily="34" charset="0"/>
                <a:ea typeface="Calibri" pitchFamily="34" charset="-122"/>
                <a:cs typeface="Calibri" pitchFamily="34" charset="-120"/>
              </a:rPr>
              <a:t>Discard the worktree — zero cleanup needed</a:t>
            </a:r>
            <a:endParaRPr lang="en-US" sz="1100" dirty="0"/>
          </a:p>
        </p:txBody>
      </p:sp>
      <p:sp>
        <p:nvSpPr>
          <p:cNvPr id="30" name="Text 28"/>
          <p:cNvSpPr/>
          <p:nvPr/>
        </p:nvSpPr>
        <p:spPr>
          <a:xfrm>
            <a:off x="6217920" y="2075688"/>
            <a:ext cx="2377440" cy="384048"/>
          </a:xfrm>
          <a:prstGeom prst="rect">
            <a:avLst/>
          </a:prstGeom>
          <a:noFill/>
          <a:ln/>
        </p:spPr>
        <p:txBody>
          <a:bodyPr wrap="square" rtlCol="0" anchor="ctr"/>
          <a:lstStyle/>
          <a:p>
            <a:pPr marL="0" indent="0">
              <a:buNone/>
            </a:pPr>
            <a:r>
              <a:rPr lang="en-US" sz="1100" b="1" dirty="0">
                <a:solidFill>
                  <a:srgbClr val="3FB950"/>
                </a:solidFill>
                <a:latin typeface="Calibri" pitchFamily="34" charset="0"/>
                <a:ea typeface="Calibri" pitchFamily="34" charset="-122"/>
                <a:cs typeface="Calibri" pitchFamily="34" charset="-120"/>
              </a:rPr>
              <a:t>✓ </a:t>
            </a:r>
            <a:r>
              <a:rPr lang="en-US" sz="1100" dirty="0">
                <a:solidFill>
                  <a:srgbClr val="E6EDF3"/>
                </a:solidFill>
                <a:latin typeface="Calibri" pitchFamily="34" charset="0"/>
                <a:ea typeface="Calibri" pitchFamily="34" charset="-122"/>
                <a:cs typeface="Calibri" pitchFamily="34" charset="-120"/>
              </a:rPr>
              <a:t>Read the diff to understand where it went wrong</a:t>
            </a:r>
            <a:endParaRPr lang="en-US" sz="1100" dirty="0"/>
          </a:p>
        </p:txBody>
      </p:sp>
      <p:sp>
        <p:nvSpPr>
          <p:cNvPr id="31" name="Text 29"/>
          <p:cNvSpPr/>
          <p:nvPr/>
        </p:nvSpPr>
        <p:spPr>
          <a:xfrm>
            <a:off x="6217920" y="2505456"/>
            <a:ext cx="2377440" cy="384048"/>
          </a:xfrm>
          <a:prstGeom prst="rect">
            <a:avLst/>
          </a:prstGeom>
          <a:noFill/>
          <a:ln/>
        </p:spPr>
        <p:txBody>
          <a:bodyPr wrap="square" rtlCol="0" anchor="ctr"/>
          <a:lstStyle/>
          <a:p>
            <a:pPr marL="0" indent="0">
              <a:buNone/>
            </a:pPr>
            <a:r>
              <a:rPr lang="en-US" sz="1100" b="1" dirty="0">
                <a:solidFill>
                  <a:srgbClr val="3FB950"/>
                </a:solidFill>
                <a:latin typeface="Calibri" pitchFamily="34" charset="0"/>
                <a:ea typeface="Calibri" pitchFamily="34" charset="-122"/>
                <a:cs typeface="Calibri" pitchFamily="34" charset="-120"/>
              </a:rPr>
              <a:t>✓ </a:t>
            </a:r>
            <a:r>
              <a:rPr lang="en-US" sz="1100" dirty="0">
                <a:solidFill>
                  <a:srgbClr val="E6EDF3"/>
                </a:solidFill>
                <a:latin typeface="Calibri" pitchFamily="34" charset="0"/>
                <a:ea typeface="Calibri" pitchFamily="34" charset="-122"/>
                <a:cs typeface="Calibri" pitchFamily="34" charset="-120"/>
              </a:rPr>
              <a:t>Tighten your copilot-instructions.md constraint</a:t>
            </a:r>
            <a:endParaRPr lang="en-US" sz="1100" dirty="0"/>
          </a:p>
        </p:txBody>
      </p:sp>
      <p:sp>
        <p:nvSpPr>
          <p:cNvPr id="32" name="Text 30"/>
          <p:cNvSpPr/>
          <p:nvPr/>
        </p:nvSpPr>
        <p:spPr>
          <a:xfrm>
            <a:off x="6217920" y="2935224"/>
            <a:ext cx="2377440" cy="384048"/>
          </a:xfrm>
          <a:prstGeom prst="rect">
            <a:avLst/>
          </a:prstGeom>
          <a:noFill/>
          <a:ln/>
        </p:spPr>
        <p:txBody>
          <a:bodyPr wrap="square" rtlCol="0" anchor="ctr"/>
          <a:lstStyle/>
          <a:p>
            <a:pPr marL="0" indent="0">
              <a:buNone/>
            </a:pPr>
            <a:r>
              <a:rPr lang="en-US" sz="1100" b="1" dirty="0">
                <a:solidFill>
                  <a:srgbClr val="3FB950"/>
                </a:solidFill>
                <a:latin typeface="Calibri" pitchFamily="34" charset="0"/>
                <a:ea typeface="Calibri" pitchFamily="34" charset="-122"/>
                <a:cs typeface="Calibri" pitchFamily="34" charset="-120"/>
              </a:rPr>
              <a:t>✓ </a:t>
            </a:r>
            <a:r>
              <a:rPr lang="en-US" sz="1100" dirty="0">
                <a:solidFill>
                  <a:srgbClr val="E6EDF3"/>
                </a:solidFill>
                <a:latin typeface="Calibri" pitchFamily="34" charset="0"/>
                <a:ea typeface="Calibri" pitchFamily="34" charset="-122"/>
                <a:cs typeface="Calibri" pitchFamily="34" charset="-120"/>
              </a:rPr>
              <a:t>Re-assign with a clearer, narrower spec</a:t>
            </a:r>
            <a:endParaRPr lang="en-US" sz="1100" dirty="0"/>
          </a:p>
        </p:txBody>
      </p:sp>
      <p:sp>
        <p:nvSpPr>
          <p:cNvPr id="33" name="Text 31"/>
          <p:cNvSpPr/>
          <p:nvPr/>
        </p:nvSpPr>
        <p:spPr>
          <a:xfrm>
            <a:off x="6217920" y="3364992"/>
            <a:ext cx="2377440" cy="384048"/>
          </a:xfrm>
          <a:prstGeom prst="rect">
            <a:avLst/>
          </a:prstGeom>
          <a:noFill/>
          <a:ln/>
        </p:spPr>
        <p:txBody>
          <a:bodyPr wrap="square" rtlCol="0" anchor="ctr"/>
          <a:lstStyle/>
          <a:p>
            <a:pPr marL="0" indent="0">
              <a:buNone/>
            </a:pPr>
            <a:r>
              <a:rPr lang="en-US" sz="1100" b="1" dirty="0">
                <a:solidFill>
                  <a:srgbClr val="3FB950"/>
                </a:solidFill>
                <a:latin typeface="Calibri" pitchFamily="34" charset="0"/>
                <a:ea typeface="Calibri" pitchFamily="34" charset="-122"/>
                <a:cs typeface="Calibri" pitchFamily="34" charset="-120"/>
              </a:rPr>
              <a:t>✓ </a:t>
            </a:r>
            <a:r>
              <a:rPr lang="en-US" sz="1100" dirty="0">
                <a:solidFill>
                  <a:srgbClr val="E6EDF3"/>
                </a:solidFill>
                <a:latin typeface="Calibri" pitchFamily="34" charset="0"/>
                <a:ea typeface="Calibri" pitchFamily="34" charset="-122"/>
                <a:cs typeface="Calibri" pitchFamily="34" charset="-120"/>
              </a:rPr>
              <a:t>Main branch never touched — always stable</a:t>
            </a:r>
            <a:endParaRPr lang="en-US" sz="1100" dirty="0"/>
          </a:p>
        </p:txBody>
      </p:sp>
      <p:sp>
        <p:nvSpPr>
          <p:cNvPr id="34" name="Text 32"/>
          <p:cNvSpPr/>
          <p:nvPr/>
        </p:nvSpPr>
        <p:spPr>
          <a:xfrm>
            <a:off x="6217920" y="3794760"/>
            <a:ext cx="2377440" cy="384048"/>
          </a:xfrm>
          <a:prstGeom prst="rect">
            <a:avLst/>
          </a:prstGeom>
          <a:noFill/>
          <a:ln/>
        </p:spPr>
        <p:txBody>
          <a:bodyPr wrap="square" rtlCol="0" anchor="ctr"/>
          <a:lstStyle/>
          <a:p>
            <a:pPr marL="0" indent="0">
              <a:buNone/>
            </a:pPr>
            <a:r>
              <a:rPr lang="en-US" sz="1100" b="1" dirty="0">
                <a:solidFill>
                  <a:srgbClr val="3FB950"/>
                </a:solidFill>
                <a:latin typeface="Calibri" pitchFamily="34" charset="0"/>
                <a:ea typeface="Calibri" pitchFamily="34" charset="-122"/>
                <a:cs typeface="Calibri" pitchFamily="34" charset="-120"/>
              </a:rPr>
              <a:t>✓ </a:t>
            </a:r>
            <a:r>
              <a:rPr lang="en-US" sz="1100" dirty="0">
                <a:solidFill>
                  <a:srgbClr val="E6EDF3"/>
                </a:solidFill>
                <a:latin typeface="Calibri" pitchFamily="34" charset="0"/>
                <a:ea typeface="Calibri" pitchFamily="34" charset="-122"/>
                <a:cs typeface="Calibri" pitchFamily="34" charset="-120"/>
              </a:rPr>
              <a:t>Each retry is a tighter, better-informed attempt</a:t>
            </a:r>
            <a:endParaRPr lang="en-US" sz="1100" dirty="0"/>
          </a:p>
        </p:txBody>
      </p:sp>
      <p:sp>
        <p:nvSpPr>
          <p:cNvPr id="35" name="Shape 33"/>
          <p:cNvSpPr/>
          <p:nvPr/>
        </p:nvSpPr>
        <p:spPr>
          <a:xfrm>
            <a:off x="0" y="4960620"/>
            <a:ext cx="9144000" cy="182880"/>
          </a:xfrm>
          <a:prstGeom prst="rect">
            <a:avLst/>
          </a:prstGeom>
          <a:solidFill>
            <a:srgbClr val="161B22"/>
          </a:solidFill>
          <a:ln w="12700">
            <a:solidFill>
              <a:srgbClr val="30363D"/>
            </a:solidFill>
            <a:prstDash val="solid"/>
          </a:ln>
        </p:spPr>
      </p:sp>
      <p:sp>
        <p:nvSpPr>
          <p:cNvPr id="36" name="Text 34"/>
          <p:cNvSpPr/>
          <p:nvPr/>
        </p:nvSpPr>
        <p:spPr>
          <a:xfrm>
            <a:off x="274320" y="4965192"/>
            <a:ext cx="8595360" cy="164592"/>
          </a:xfrm>
          <a:prstGeom prst="rect">
            <a:avLst/>
          </a:prstGeom>
          <a:noFill/>
          <a:ln/>
        </p:spPr>
        <p:txBody>
          <a:bodyPr wrap="square" rtlCol="0" anchor="ctr"/>
          <a:lstStyle/>
          <a:p>
            <a:pPr marL="0" indent="0" algn="l">
              <a:buNone/>
            </a:pPr>
            <a:r>
              <a:rPr lang="en-US" sz="800" dirty="0">
                <a:solidFill>
                  <a:srgbClr val="484F58"/>
                </a:solidFill>
                <a:latin typeface="Consolas" pitchFamily="34" charset="0"/>
                <a:ea typeface="Consolas" pitchFamily="34" charset="-122"/>
                <a:cs typeface="Consolas" pitchFamily="34" charset="-120"/>
              </a:rPr>
              <a:t>Multi-Agent in VS Code  •  Developer Community</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007ACC"/>
          </a:solidFill>
          <a:ln w="12700">
            <a:solidFill>
              <a:srgbClr val="007ACC"/>
            </a:solidFill>
            <a:prstDash val="solid"/>
          </a:ln>
        </p:spPr>
      </p:sp>
      <p:sp>
        <p:nvSpPr>
          <p:cNvPr id="3" name="Text 1"/>
          <p:cNvSpPr/>
          <p:nvPr/>
        </p:nvSpPr>
        <p:spPr>
          <a:xfrm>
            <a:off x="457200" y="182880"/>
            <a:ext cx="8229600" cy="502920"/>
          </a:xfrm>
          <a:prstGeom prst="rect">
            <a:avLst/>
          </a:prstGeom>
          <a:noFill/>
          <a:ln/>
        </p:spPr>
        <p:txBody>
          <a:bodyPr wrap="square" lIns="0" tIns="0" rIns="0" bIns="0" rtlCol="0" anchor="ctr"/>
          <a:lstStyle/>
          <a:p>
            <a:pPr marL="0" indent="0">
              <a:buNone/>
            </a:pPr>
            <a:r>
              <a:rPr lang="en-US" sz="2200" b="1" dirty="0">
                <a:solidFill>
                  <a:srgbClr val="E6EDF3"/>
                </a:solidFill>
                <a:latin typeface="Calibri" pitchFamily="34" charset="0"/>
                <a:ea typeface="Calibri" pitchFamily="34" charset="-122"/>
                <a:cs typeface="Calibri" pitchFamily="34" charset="-120"/>
              </a:rPr>
              <a:t>3 Hours of Sequential Work Compressed to 20 Minutes</a:t>
            </a:r>
            <a:endParaRPr lang="en-US" sz="2200" dirty="0"/>
          </a:p>
        </p:txBody>
      </p:sp>
      <p:sp>
        <p:nvSpPr>
          <p:cNvPr id="4" name="Text 2"/>
          <p:cNvSpPr/>
          <p:nvPr/>
        </p:nvSpPr>
        <p:spPr>
          <a:xfrm>
            <a:off x="457200" y="685800"/>
            <a:ext cx="8229600" cy="320040"/>
          </a:xfrm>
          <a:prstGeom prst="rect">
            <a:avLst/>
          </a:prstGeom>
          <a:noFill/>
          <a:ln/>
        </p:spPr>
        <p:txBody>
          <a:bodyPr wrap="square" lIns="0" tIns="0" rIns="0" bIns="0" rtlCol="0" anchor="ctr"/>
          <a:lstStyle/>
          <a:p>
            <a:pPr marL="0" indent="0">
              <a:buNone/>
            </a:pPr>
            <a:r>
              <a:rPr lang="en-US" sz="1200" dirty="0">
                <a:solidFill>
                  <a:srgbClr val="8B949E"/>
                </a:solidFill>
                <a:latin typeface="Calibri" pitchFamily="34" charset="0"/>
                <a:ea typeface="Calibri" pitchFamily="34" charset="-122"/>
                <a:cs typeface="Calibri" pitchFamily="34" charset="-120"/>
              </a:rPr>
              <a:t>Massively parallel workflow timeline</a:t>
            </a:r>
            <a:endParaRPr lang="en-US" sz="1200" dirty="0"/>
          </a:p>
        </p:txBody>
      </p:sp>
      <p:sp>
        <p:nvSpPr>
          <p:cNvPr id="5" name="Shape 3"/>
          <p:cNvSpPr/>
          <p:nvPr/>
        </p:nvSpPr>
        <p:spPr>
          <a:xfrm>
            <a:off x="457200" y="1005840"/>
            <a:ext cx="8229600" cy="9144"/>
          </a:xfrm>
          <a:prstGeom prst="rect">
            <a:avLst/>
          </a:prstGeom>
          <a:solidFill>
            <a:srgbClr val="30363D"/>
          </a:solidFill>
          <a:ln w="12700">
            <a:solidFill>
              <a:srgbClr val="30363D"/>
            </a:solidFill>
            <a:prstDash val="solid"/>
          </a:ln>
        </p:spPr>
      </p:sp>
      <p:sp>
        <p:nvSpPr>
          <p:cNvPr id="6" name="Shape 4"/>
          <p:cNvSpPr/>
          <p:nvPr/>
        </p:nvSpPr>
        <p:spPr>
          <a:xfrm>
            <a:off x="365760" y="1188720"/>
            <a:ext cx="3657600" cy="594360"/>
          </a:xfrm>
          <a:prstGeom prst="rect">
            <a:avLst/>
          </a:prstGeom>
          <a:solidFill>
            <a:srgbClr val="161B22"/>
          </a:solidFill>
          <a:ln w="12700">
            <a:solidFill>
              <a:srgbClr val="007ACC"/>
            </a:solidFill>
            <a:prstDash val="solid"/>
          </a:ln>
        </p:spPr>
      </p:sp>
      <p:sp>
        <p:nvSpPr>
          <p:cNvPr id="7" name="Shape 5"/>
          <p:cNvSpPr/>
          <p:nvPr/>
        </p:nvSpPr>
        <p:spPr>
          <a:xfrm>
            <a:off x="365760" y="1188720"/>
            <a:ext cx="45720" cy="594360"/>
          </a:xfrm>
          <a:prstGeom prst="rect">
            <a:avLst/>
          </a:prstGeom>
          <a:solidFill>
            <a:srgbClr val="007ACC"/>
          </a:solidFill>
          <a:ln w="12700">
            <a:solidFill>
              <a:srgbClr val="007ACC"/>
            </a:solidFill>
            <a:prstDash val="solid"/>
          </a:ln>
        </p:spPr>
      </p:sp>
      <p:sp>
        <p:nvSpPr>
          <p:cNvPr id="8" name="Text 6"/>
          <p:cNvSpPr/>
          <p:nvPr/>
        </p:nvSpPr>
        <p:spPr>
          <a:xfrm>
            <a:off x="502920" y="1261872"/>
            <a:ext cx="3474720" cy="502920"/>
          </a:xfrm>
          <a:prstGeom prst="rect">
            <a:avLst/>
          </a:prstGeom>
          <a:noFill/>
          <a:ln/>
        </p:spPr>
        <p:txBody>
          <a:bodyPr wrap="square" rtlCol="0" anchor="ctr"/>
          <a:lstStyle/>
          <a:p>
            <a:pPr marL="0" indent="0">
              <a:buNone/>
            </a:pPr>
            <a:r>
              <a:rPr lang="en-US" sz="1000" b="1" dirty="0">
                <a:solidFill>
                  <a:srgbClr val="007ACC"/>
                </a:solidFill>
                <a:latin typeface="Calibri" pitchFamily="34" charset="0"/>
                <a:ea typeface="Calibri" pitchFamily="34" charset="-122"/>
                <a:cs typeface="Calibri" pitchFamily="34" charset="-120"/>
              </a:rPr>
              <a:t>Local Agent (You)</a:t>
            </a:r>
            <a:endParaRPr lang="en-US" sz="1000" dirty="0"/>
          </a:p>
          <a:p>
            <a:pPr marL="0" indent="0">
              <a:buNone/>
            </a:pPr>
            <a:r>
              <a:rPr lang="en-US" sz="1000" b="1" dirty="0">
                <a:solidFill>
                  <a:srgbClr val="007ACC"/>
                </a:solidFill>
                <a:latin typeface="Calibri" pitchFamily="34" charset="0"/>
                <a:ea typeface="Calibri" pitchFamily="34" charset="-122"/>
                <a:cs typeface="Calibri" pitchFamily="34" charset="-120"/>
              </a:rPr>
              <a:t>Build Master Plan</a:t>
            </a:r>
            <a:endParaRPr lang="en-US" sz="1000" dirty="0"/>
          </a:p>
        </p:txBody>
      </p:sp>
      <p:sp>
        <p:nvSpPr>
          <p:cNvPr id="9" name="Shape 7"/>
          <p:cNvSpPr/>
          <p:nvPr/>
        </p:nvSpPr>
        <p:spPr>
          <a:xfrm>
            <a:off x="365760" y="1920240"/>
            <a:ext cx="6400800" cy="594360"/>
          </a:xfrm>
          <a:prstGeom prst="rect">
            <a:avLst/>
          </a:prstGeom>
          <a:solidFill>
            <a:srgbClr val="161B22"/>
          </a:solidFill>
          <a:ln w="12700">
            <a:solidFill>
              <a:srgbClr val="3FB950"/>
            </a:solidFill>
            <a:prstDash val="solid"/>
          </a:ln>
        </p:spPr>
      </p:sp>
      <p:sp>
        <p:nvSpPr>
          <p:cNvPr id="10" name="Shape 8"/>
          <p:cNvSpPr/>
          <p:nvPr/>
        </p:nvSpPr>
        <p:spPr>
          <a:xfrm>
            <a:off x="365760" y="1920240"/>
            <a:ext cx="45720" cy="594360"/>
          </a:xfrm>
          <a:prstGeom prst="rect">
            <a:avLst/>
          </a:prstGeom>
          <a:solidFill>
            <a:srgbClr val="3FB950"/>
          </a:solidFill>
          <a:ln w="12700">
            <a:solidFill>
              <a:srgbClr val="3FB950"/>
            </a:solidFill>
            <a:prstDash val="solid"/>
          </a:ln>
        </p:spPr>
      </p:sp>
      <p:sp>
        <p:nvSpPr>
          <p:cNvPr id="11" name="Text 9"/>
          <p:cNvSpPr/>
          <p:nvPr/>
        </p:nvSpPr>
        <p:spPr>
          <a:xfrm>
            <a:off x="502920" y="1993392"/>
            <a:ext cx="6217920" cy="502920"/>
          </a:xfrm>
          <a:prstGeom prst="rect">
            <a:avLst/>
          </a:prstGeom>
          <a:noFill/>
          <a:ln/>
        </p:spPr>
        <p:txBody>
          <a:bodyPr wrap="square" rtlCol="0" anchor="ctr"/>
          <a:lstStyle/>
          <a:p>
            <a:pPr marL="0" indent="0">
              <a:buNone/>
            </a:pPr>
            <a:r>
              <a:rPr lang="en-US" sz="1000" b="1" dirty="0">
                <a:solidFill>
                  <a:srgbClr val="3FB950"/>
                </a:solidFill>
                <a:latin typeface="Calibri" pitchFamily="34" charset="0"/>
                <a:ea typeface="Calibri" pitchFamily="34" charset="-122"/>
                <a:cs typeface="Calibri" pitchFamily="34" charset="-120"/>
              </a:rPr>
              <a:t>Background Agent (Feat)</a:t>
            </a:r>
            <a:endParaRPr lang="en-US" sz="1000" dirty="0"/>
          </a:p>
          <a:p>
            <a:pPr marL="0" indent="0">
              <a:buNone/>
            </a:pPr>
            <a:r>
              <a:rPr lang="en-US" sz="1000" b="1" dirty="0">
                <a:solidFill>
                  <a:srgbClr val="3FB950"/>
                </a:solidFill>
                <a:latin typeface="Calibri" pitchFamily="34" charset="0"/>
                <a:ea typeface="Calibri" pitchFamily="34" charset="-122"/>
                <a:cs typeface="Calibri" pitchFamily="34" charset="-120"/>
              </a:rPr>
              <a:t>Implement feature code in worktree</a:t>
            </a:r>
            <a:endParaRPr lang="en-US" sz="1000" dirty="0"/>
          </a:p>
        </p:txBody>
      </p:sp>
      <p:sp>
        <p:nvSpPr>
          <p:cNvPr id="12" name="Shape 10"/>
          <p:cNvSpPr/>
          <p:nvPr/>
        </p:nvSpPr>
        <p:spPr>
          <a:xfrm>
            <a:off x="365760" y="2651760"/>
            <a:ext cx="6400800" cy="594360"/>
          </a:xfrm>
          <a:prstGeom prst="rect">
            <a:avLst/>
          </a:prstGeom>
          <a:solidFill>
            <a:srgbClr val="161B22"/>
          </a:solidFill>
          <a:ln w="12700">
            <a:solidFill>
              <a:srgbClr val="F78166"/>
            </a:solidFill>
            <a:prstDash val="solid"/>
          </a:ln>
        </p:spPr>
      </p:sp>
      <p:sp>
        <p:nvSpPr>
          <p:cNvPr id="13" name="Shape 11"/>
          <p:cNvSpPr/>
          <p:nvPr/>
        </p:nvSpPr>
        <p:spPr>
          <a:xfrm>
            <a:off x="365760" y="2651760"/>
            <a:ext cx="45720" cy="594360"/>
          </a:xfrm>
          <a:prstGeom prst="rect">
            <a:avLst/>
          </a:prstGeom>
          <a:solidFill>
            <a:srgbClr val="F78166"/>
          </a:solidFill>
          <a:ln w="12700">
            <a:solidFill>
              <a:srgbClr val="F78166"/>
            </a:solidFill>
            <a:prstDash val="solid"/>
          </a:ln>
        </p:spPr>
      </p:sp>
      <p:sp>
        <p:nvSpPr>
          <p:cNvPr id="14" name="Text 12"/>
          <p:cNvSpPr/>
          <p:nvPr/>
        </p:nvSpPr>
        <p:spPr>
          <a:xfrm>
            <a:off x="502920" y="2724912"/>
            <a:ext cx="6217920" cy="502920"/>
          </a:xfrm>
          <a:prstGeom prst="rect">
            <a:avLst/>
          </a:prstGeom>
          <a:noFill/>
          <a:ln/>
        </p:spPr>
        <p:txBody>
          <a:bodyPr wrap="square" rtlCol="0" anchor="ctr"/>
          <a:lstStyle/>
          <a:p>
            <a:pPr marL="0" indent="0">
              <a:buNone/>
            </a:pPr>
            <a:r>
              <a:rPr lang="en-US" sz="1000" b="1" dirty="0">
                <a:solidFill>
                  <a:srgbClr val="F78166"/>
                </a:solidFill>
                <a:latin typeface="Calibri" pitchFamily="34" charset="0"/>
                <a:ea typeface="Calibri" pitchFamily="34" charset="-122"/>
                <a:cs typeface="Calibri" pitchFamily="34" charset="-120"/>
              </a:rPr>
              <a:t>Background Agent (Test)</a:t>
            </a:r>
            <a:endParaRPr lang="en-US" sz="1000" dirty="0"/>
          </a:p>
          <a:p>
            <a:pPr marL="0" indent="0">
              <a:buNone/>
            </a:pPr>
            <a:r>
              <a:rPr lang="en-US" sz="1000" b="1" dirty="0">
                <a:solidFill>
                  <a:srgbClr val="F78166"/>
                </a:solidFill>
                <a:latin typeface="Calibri" pitchFamily="34" charset="0"/>
                <a:ea typeface="Calibri" pitchFamily="34" charset="-122"/>
                <a:cs typeface="Calibri" pitchFamily="34" charset="-120"/>
              </a:rPr>
              <a:t>Generate test suite in parallel</a:t>
            </a:r>
            <a:endParaRPr lang="en-US" sz="1000" dirty="0"/>
          </a:p>
        </p:txBody>
      </p:sp>
      <p:sp>
        <p:nvSpPr>
          <p:cNvPr id="15" name="Shape 13"/>
          <p:cNvSpPr/>
          <p:nvPr/>
        </p:nvSpPr>
        <p:spPr>
          <a:xfrm>
            <a:off x="4206240" y="3383280"/>
            <a:ext cx="4389120" cy="594360"/>
          </a:xfrm>
          <a:prstGeom prst="rect">
            <a:avLst/>
          </a:prstGeom>
          <a:solidFill>
            <a:srgbClr val="161B22"/>
          </a:solidFill>
          <a:ln w="12700">
            <a:solidFill>
              <a:srgbClr val="BC8CFF"/>
            </a:solidFill>
            <a:prstDash val="solid"/>
          </a:ln>
        </p:spPr>
      </p:sp>
      <p:sp>
        <p:nvSpPr>
          <p:cNvPr id="16" name="Shape 14"/>
          <p:cNvSpPr/>
          <p:nvPr/>
        </p:nvSpPr>
        <p:spPr>
          <a:xfrm>
            <a:off x="4206240" y="3383280"/>
            <a:ext cx="45720" cy="594360"/>
          </a:xfrm>
          <a:prstGeom prst="rect">
            <a:avLst/>
          </a:prstGeom>
          <a:solidFill>
            <a:srgbClr val="BC8CFF"/>
          </a:solidFill>
          <a:ln w="12700">
            <a:solidFill>
              <a:srgbClr val="BC8CFF"/>
            </a:solidFill>
            <a:prstDash val="solid"/>
          </a:ln>
        </p:spPr>
      </p:sp>
      <p:sp>
        <p:nvSpPr>
          <p:cNvPr id="17" name="Text 15"/>
          <p:cNvSpPr/>
          <p:nvPr/>
        </p:nvSpPr>
        <p:spPr>
          <a:xfrm>
            <a:off x="4343400" y="3456432"/>
            <a:ext cx="4206240" cy="502920"/>
          </a:xfrm>
          <a:prstGeom prst="rect">
            <a:avLst/>
          </a:prstGeom>
          <a:noFill/>
          <a:ln/>
        </p:spPr>
        <p:txBody>
          <a:bodyPr wrap="square" rtlCol="0" anchor="ctr"/>
          <a:lstStyle/>
          <a:p>
            <a:pPr marL="0" indent="0">
              <a:buNone/>
            </a:pPr>
            <a:r>
              <a:rPr lang="en-US" sz="1000" b="1" dirty="0">
                <a:solidFill>
                  <a:srgbClr val="BC8CFF"/>
                </a:solidFill>
                <a:latin typeface="Calibri" pitchFamily="34" charset="0"/>
                <a:ea typeface="Calibri" pitchFamily="34" charset="-122"/>
                <a:cs typeface="Calibri" pitchFamily="34" charset="-120"/>
              </a:rPr>
              <a:t>Cloud Agent (CLI)</a:t>
            </a:r>
            <a:endParaRPr lang="en-US" sz="1000" dirty="0"/>
          </a:p>
          <a:p>
            <a:pPr marL="0" indent="0">
              <a:buNone/>
            </a:pPr>
            <a:r>
              <a:rPr lang="en-US" sz="1000" b="1" dirty="0">
                <a:solidFill>
                  <a:srgbClr val="BC8CFF"/>
                </a:solidFill>
                <a:latin typeface="Calibri" pitchFamily="34" charset="0"/>
                <a:ea typeface="Calibri" pitchFamily="34" charset="-122"/>
                <a:cs typeface="Calibri" pitchFamily="34" charset="-120"/>
              </a:rPr>
              <a:t>Raise Draft Pull Request</a:t>
            </a:r>
            <a:endParaRPr lang="en-US" sz="1000" dirty="0"/>
          </a:p>
        </p:txBody>
      </p:sp>
      <p:sp>
        <p:nvSpPr>
          <p:cNvPr id="18" name="Shape 16"/>
          <p:cNvSpPr/>
          <p:nvPr/>
        </p:nvSpPr>
        <p:spPr>
          <a:xfrm>
            <a:off x="6949440" y="1188720"/>
            <a:ext cx="1828800" cy="594360"/>
          </a:xfrm>
          <a:prstGeom prst="rect">
            <a:avLst/>
          </a:prstGeom>
          <a:solidFill>
            <a:srgbClr val="161B22"/>
          </a:solidFill>
          <a:ln w="12700">
            <a:solidFill>
              <a:srgbClr val="D29922"/>
            </a:solidFill>
            <a:prstDash val="solid"/>
          </a:ln>
        </p:spPr>
      </p:sp>
      <p:sp>
        <p:nvSpPr>
          <p:cNvPr id="19" name="Shape 17"/>
          <p:cNvSpPr/>
          <p:nvPr/>
        </p:nvSpPr>
        <p:spPr>
          <a:xfrm>
            <a:off x="6949440" y="1188720"/>
            <a:ext cx="45720" cy="594360"/>
          </a:xfrm>
          <a:prstGeom prst="rect">
            <a:avLst/>
          </a:prstGeom>
          <a:solidFill>
            <a:srgbClr val="D29922"/>
          </a:solidFill>
          <a:ln w="12700">
            <a:solidFill>
              <a:srgbClr val="D29922"/>
            </a:solidFill>
            <a:prstDash val="solid"/>
          </a:ln>
        </p:spPr>
      </p:sp>
      <p:sp>
        <p:nvSpPr>
          <p:cNvPr id="20" name="Text 18"/>
          <p:cNvSpPr/>
          <p:nvPr/>
        </p:nvSpPr>
        <p:spPr>
          <a:xfrm>
            <a:off x="7086600" y="1261872"/>
            <a:ext cx="1645920" cy="502920"/>
          </a:xfrm>
          <a:prstGeom prst="rect">
            <a:avLst/>
          </a:prstGeom>
          <a:noFill/>
          <a:ln/>
        </p:spPr>
        <p:txBody>
          <a:bodyPr wrap="square" rtlCol="0" anchor="ctr"/>
          <a:lstStyle/>
          <a:p>
            <a:pPr marL="0" indent="0">
              <a:buNone/>
            </a:pPr>
            <a:r>
              <a:rPr lang="en-US" sz="1000" b="1" dirty="0">
                <a:solidFill>
                  <a:srgbClr val="D29922"/>
                </a:solidFill>
                <a:latin typeface="Calibri" pitchFamily="34" charset="0"/>
                <a:ea typeface="Calibri" pitchFamily="34" charset="-122"/>
                <a:cs typeface="Calibri" pitchFamily="34" charset="-120"/>
              </a:rPr>
              <a:t>Agent Reviews (MCP)</a:t>
            </a:r>
            <a:endParaRPr lang="en-US" sz="1000" dirty="0"/>
          </a:p>
          <a:p>
            <a:pPr marL="0" indent="0">
              <a:buNone/>
            </a:pPr>
            <a:r>
              <a:rPr lang="en-US" sz="1000" b="1" dirty="0">
                <a:solidFill>
                  <a:srgbClr val="D29922"/>
                </a:solidFill>
                <a:latin typeface="Calibri" pitchFamily="34" charset="0"/>
                <a:ea typeface="Calibri" pitchFamily="34" charset="-122"/>
                <a:cs typeface="Calibri" pitchFamily="34" charset="-120"/>
              </a:rPr>
              <a:t>Self-correct via visual + test loop</a:t>
            </a:r>
            <a:endParaRPr lang="en-US" sz="1000" dirty="0"/>
          </a:p>
        </p:txBody>
      </p:sp>
      <p:sp>
        <p:nvSpPr>
          <p:cNvPr id="21" name="Shape 19"/>
          <p:cNvSpPr/>
          <p:nvPr/>
        </p:nvSpPr>
        <p:spPr>
          <a:xfrm>
            <a:off x="365760" y="4160520"/>
            <a:ext cx="8412480" cy="0"/>
          </a:xfrm>
          <a:prstGeom prst="line">
            <a:avLst/>
          </a:prstGeom>
          <a:noFill/>
          <a:ln w="12700">
            <a:solidFill>
              <a:srgbClr val="484F58"/>
            </a:solidFill>
            <a:prstDash val="solid"/>
          </a:ln>
        </p:spPr>
      </p:sp>
      <p:sp>
        <p:nvSpPr>
          <p:cNvPr id="22" name="Text 20"/>
          <p:cNvSpPr/>
          <p:nvPr/>
        </p:nvSpPr>
        <p:spPr>
          <a:xfrm>
            <a:off x="274320" y="4187952"/>
            <a:ext cx="1097280" cy="228600"/>
          </a:xfrm>
          <a:prstGeom prst="rect">
            <a:avLst/>
          </a:prstGeom>
          <a:noFill/>
          <a:ln/>
        </p:spPr>
        <p:txBody>
          <a:bodyPr wrap="square" rtlCol="0" anchor="ctr"/>
          <a:lstStyle/>
          <a:p>
            <a:pPr marL="0" indent="0">
              <a:buNone/>
            </a:pPr>
            <a:r>
              <a:rPr lang="en-US" sz="900" dirty="0">
                <a:solidFill>
                  <a:srgbClr val="8B949E"/>
                </a:solidFill>
                <a:latin typeface="Consolas" pitchFamily="34" charset="0"/>
                <a:ea typeface="Consolas" pitchFamily="34" charset="-122"/>
                <a:cs typeface="Consolas" pitchFamily="34" charset="-120"/>
              </a:rPr>
              <a:t>0 min</a:t>
            </a:r>
            <a:endParaRPr lang="en-US" sz="900" dirty="0"/>
          </a:p>
        </p:txBody>
      </p:sp>
      <p:sp>
        <p:nvSpPr>
          <p:cNvPr id="23" name="Shape 21"/>
          <p:cNvSpPr/>
          <p:nvPr/>
        </p:nvSpPr>
        <p:spPr>
          <a:xfrm>
            <a:off x="365760" y="4114800"/>
            <a:ext cx="0" cy="109728"/>
          </a:xfrm>
          <a:prstGeom prst="line">
            <a:avLst/>
          </a:prstGeom>
          <a:noFill/>
          <a:ln w="12700">
            <a:solidFill>
              <a:srgbClr val="484F58"/>
            </a:solidFill>
            <a:prstDash val="solid"/>
          </a:ln>
        </p:spPr>
      </p:sp>
      <p:sp>
        <p:nvSpPr>
          <p:cNvPr id="24" name="Text 22"/>
          <p:cNvSpPr/>
          <p:nvPr/>
        </p:nvSpPr>
        <p:spPr>
          <a:xfrm>
            <a:off x="2377440" y="4187952"/>
            <a:ext cx="1097280" cy="228600"/>
          </a:xfrm>
          <a:prstGeom prst="rect">
            <a:avLst/>
          </a:prstGeom>
          <a:noFill/>
          <a:ln/>
        </p:spPr>
        <p:txBody>
          <a:bodyPr wrap="square" rtlCol="0" anchor="ctr"/>
          <a:lstStyle/>
          <a:p>
            <a:pPr marL="0" indent="0">
              <a:buNone/>
            </a:pPr>
            <a:r>
              <a:rPr lang="en-US" sz="900" dirty="0">
                <a:solidFill>
                  <a:srgbClr val="8B949E"/>
                </a:solidFill>
                <a:latin typeface="Consolas" pitchFamily="34" charset="0"/>
                <a:ea typeface="Consolas" pitchFamily="34" charset="-122"/>
                <a:cs typeface="Consolas" pitchFamily="34" charset="-120"/>
              </a:rPr>
              <a:t>5 min</a:t>
            </a:r>
            <a:endParaRPr lang="en-US" sz="900" dirty="0"/>
          </a:p>
        </p:txBody>
      </p:sp>
      <p:sp>
        <p:nvSpPr>
          <p:cNvPr id="25" name="Shape 23"/>
          <p:cNvSpPr/>
          <p:nvPr/>
        </p:nvSpPr>
        <p:spPr>
          <a:xfrm>
            <a:off x="2468880" y="4114800"/>
            <a:ext cx="0" cy="109728"/>
          </a:xfrm>
          <a:prstGeom prst="line">
            <a:avLst/>
          </a:prstGeom>
          <a:noFill/>
          <a:ln w="12700">
            <a:solidFill>
              <a:srgbClr val="484F58"/>
            </a:solidFill>
            <a:prstDash val="solid"/>
          </a:ln>
        </p:spPr>
      </p:sp>
      <p:sp>
        <p:nvSpPr>
          <p:cNvPr id="26" name="Text 24"/>
          <p:cNvSpPr/>
          <p:nvPr/>
        </p:nvSpPr>
        <p:spPr>
          <a:xfrm>
            <a:off x="4480560" y="4187952"/>
            <a:ext cx="1097280" cy="228600"/>
          </a:xfrm>
          <a:prstGeom prst="rect">
            <a:avLst/>
          </a:prstGeom>
          <a:noFill/>
          <a:ln/>
        </p:spPr>
        <p:txBody>
          <a:bodyPr wrap="square" rtlCol="0" anchor="ctr"/>
          <a:lstStyle/>
          <a:p>
            <a:pPr marL="0" indent="0">
              <a:buNone/>
            </a:pPr>
            <a:r>
              <a:rPr lang="en-US" sz="900" dirty="0">
                <a:solidFill>
                  <a:srgbClr val="8B949E"/>
                </a:solidFill>
                <a:latin typeface="Consolas" pitchFamily="34" charset="0"/>
                <a:ea typeface="Consolas" pitchFamily="34" charset="-122"/>
                <a:cs typeface="Consolas" pitchFamily="34" charset="-120"/>
              </a:rPr>
              <a:t>10 min</a:t>
            </a:r>
            <a:endParaRPr lang="en-US" sz="900" dirty="0"/>
          </a:p>
        </p:txBody>
      </p:sp>
      <p:sp>
        <p:nvSpPr>
          <p:cNvPr id="27" name="Shape 25"/>
          <p:cNvSpPr/>
          <p:nvPr/>
        </p:nvSpPr>
        <p:spPr>
          <a:xfrm>
            <a:off x="4572000" y="4114800"/>
            <a:ext cx="0" cy="109728"/>
          </a:xfrm>
          <a:prstGeom prst="line">
            <a:avLst/>
          </a:prstGeom>
          <a:noFill/>
          <a:ln w="12700">
            <a:solidFill>
              <a:srgbClr val="484F58"/>
            </a:solidFill>
            <a:prstDash val="solid"/>
          </a:ln>
        </p:spPr>
      </p:sp>
      <p:sp>
        <p:nvSpPr>
          <p:cNvPr id="28" name="Text 26"/>
          <p:cNvSpPr/>
          <p:nvPr/>
        </p:nvSpPr>
        <p:spPr>
          <a:xfrm>
            <a:off x="6583680" y="4187952"/>
            <a:ext cx="1097280" cy="228600"/>
          </a:xfrm>
          <a:prstGeom prst="rect">
            <a:avLst/>
          </a:prstGeom>
          <a:noFill/>
          <a:ln/>
        </p:spPr>
        <p:txBody>
          <a:bodyPr wrap="square" rtlCol="0" anchor="ctr"/>
          <a:lstStyle/>
          <a:p>
            <a:pPr marL="0" indent="0">
              <a:buNone/>
            </a:pPr>
            <a:r>
              <a:rPr lang="en-US" sz="900" dirty="0">
                <a:solidFill>
                  <a:srgbClr val="8B949E"/>
                </a:solidFill>
                <a:latin typeface="Consolas" pitchFamily="34" charset="0"/>
                <a:ea typeface="Consolas" pitchFamily="34" charset="-122"/>
                <a:cs typeface="Consolas" pitchFamily="34" charset="-120"/>
              </a:rPr>
              <a:t>15 min</a:t>
            </a:r>
            <a:endParaRPr lang="en-US" sz="900" dirty="0"/>
          </a:p>
        </p:txBody>
      </p:sp>
      <p:sp>
        <p:nvSpPr>
          <p:cNvPr id="29" name="Shape 27"/>
          <p:cNvSpPr/>
          <p:nvPr/>
        </p:nvSpPr>
        <p:spPr>
          <a:xfrm>
            <a:off x="6675120" y="4114800"/>
            <a:ext cx="0" cy="109728"/>
          </a:xfrm>
          <a:prstGeom prst="line">
            <a:avLst/>
          </a:prstGeom>
          <a:noFill/>
          <a:ln w="12700">
            <a:solidFill>
              <a:srgbClr val="484F58"/>
            </a:solidFill>
            <a:prstDash val="solid"/>
          </a:ln>
        </p:spPr>
      </p:sp>
      <p:sp>
        <p:nvSpPr>
          <p:cNvPr id="30" name="Text 28"/>
          <p:cNvSpPr/>
          <p:nvPr/>
        </p:nvSpPr>
        <p:spPr>
          <a:xfrm>
            <a:off x="8686800" y="4187952"/>
            <a:ext cx="1097280" cy="228600"/>
          </a:xfrm>
          <a:prstGeom prst="rect">
            <a:avLst/>
          </a:prstGeom>
          <a:noFill/>
          <a:ln/>
        </p:spPr>
        <p:txBody>
          <a:bodyPr wrap="square" rtlCol="0" anchor="ctr"/>
          <a:lstStyle/>
          <a:p>
            <a:pPr marL="0" indent="0">
              <a:buNone/>
            </a:pPr>
            <a:r>
              <a:rPr lang="en-US" sz="900" dirty="0">
                <a:solidFill>
                  <a:srgbClr val="8B949E"/>
                </a:solidFill>
                <a:latin typeface="Consolas" pitchFamily="34" charset="0"/>
                <a:ea typeface="Consolas" pitchFamily="34" charset="-122"/>
                <a:cs typeface="Consolas" pitchFamily="34" charset="-120"/>
              </a:rPr>
              <a:t>20 min</a:t>
            </a:r>
            <a:endParaRPr lang="en-US" sz="900" dirty="0"/>
          </a:p>
        </p:txBody>
      </p:sp>
      <p:sp>
        <p:nvSpPr>
          <p:cNvPr id="31" name="Shape 29"/>
          <p:cNvSpPr/>
          <p:nvPr/>
        </p:nvSpPr>
        <p:spPr>
          <a:xfrm>
            <a:off x="8778240" y="4114800"/>
            <a:ext cx="0" cy="109728"/>
          </a:xfrm>
          <a:prstGeom prst="line">
            <a:avLst/>
          </a:prstGeom>
          <a:noFill/>
          <a:ln w="12700">
            <a:solidFill>
              <a:srgbClr val="484F58"/>
            </a:solidFill>
            <a:prstDash val="solid"/>
          </a:ln>
        </p:spPr>
      </p:sp>
      <p:sp>
        <p:nvSpPr>
          <p:cNvPr id="32" name="Shape 30"/>
          <p:cNvSpPr/>
          <p:nvPr/>
        </p:nvSpPr>
        <p:spPr>
          <a:xfrm>
            <a:off x="365760" y="4453128"/>
            <a:ext cx="8412480" cy="384048"/>
          </a:xfrm>
          <a:prstGeom prst="rect">
            <a:avLst/>
          </a:prstGeom>
          <a:solidFill>
            <a:srgbClr val="0A0A1F"/>
          </a:solidFill>
          <a:ln w="12700">
            <a:solidFill>
              <a:srgbClr val="BC8CFF"/>
            </a:solidFill>
            <a:prstDash val="solid"/>
          </a:ln>
        </p:spPr>
      </p:sp>
      <p:sp>
        <p:nvSpPr>
          <p:cNvPr id="33" name="Text 31"/>
          <p:cNvSpPr/>
          <p:nvPr/>
        </p:nvSpPr>
        <p:spPr>
          <a:xfrm>
            <a:off x="548640" y="4498848"/>
            <a:ext cx="8046720" cy="320040"/>
          </a:xfrm>
          <a:prstGeom prst="rect">
            <a:avLst/>
          </a:prstGeom>
          <a:noFill/>
          <a:ln/>
        </p:spPr>
        <p:txBody>
          <a:bodyPr wrap="square" rtlCol="0" anchor="ctr"/>
          <a:lstStyle/>
          <a:p>
            <a:pPr marL="0" indent="0">
              <a:buNone/>
            </a:pPr>
            <a:r>
              <a:rPr lang="en-US" sz="1100" i="1" dirty="0">
                <a:solidFill>
                  <a:srgbClr val="BC8CFF"/>
                </a:solidFill>
                <a:latin typeface="Calibri" pitchFamily="34" charset="0"/>
                <a:ea typeface="Calibri" pitchFamily="34" charset="-122"/>
                <a:cs typeface="Calibri" pitchFamily="34" charset="-120"/>
              </a:rPr>
              <a:t>Autopilot Mode: For highly trusted, heavily linted workflows, manual approval gates can be bypassed, allowing agents to execute the entire timeline autonomously.</a:t>
            </a:r>
            <a:endParaRPr lang="en-US" sz="1100" dirty="0"/>
          </a:p>
        </p:txBody>
      </p:sp>
      <p:sp>
        <p:nvSpPr>
          <p:cNvPr id="34" name="Shape 32"/>
          <p:cNvSpPr/>
          <p:nvPr/>
        </p:nvSpPr>
        <p:spPr>
          <a:xfrm>
            <a:off x="0" y="4960620"/>
            <a:ext cx="9144000" cy="182880"/>
          </a:xfrm>
          <a:prstGeom prst="rect">
            <a:avLst/>
          </a:prstGeom>
          <a:solidFill>
            <a:srgbClr val="161B22"/>
          </a:solidFill>
          <a:ln w="12700">
            <a:solidFill>
              <a:srgbClr val="30363D"/>
            </a:solidFill>
            <a:prstDash val="solid"/>
          </a:ln>
        </p:spPr>
      </p:sp>
      <p:sp>
        <p:nvSpPr>
          <p:cNvPr id="35" name="Text 33"/>
          <p:cNvSpPr/>
          <p:nvPr/>
        </p:nvSpPr>
        <p:spPr>
          <a:xfrm>
            <a:off x="274320" y="4965192"/>
            <a:ext cx="8595360" cy="164592"/>
          </a:xfrm>
          <a:prstGeom prst="rect">
            <a:avLst/>
          </a:prstGeom>
          <a:noFill/>
          <a:ln/>
        </p:spPr>
        <p:txBody>
          <a:bodyPr wrap="square" rtlCol="0" anchor="ctr"/>
          <a:lstStyle/>
          <a:p>
            <a:pPr marL="0" indent="0" algn="l">
              <a:buNone/>
            </a:pPr>
            <a:r>
              <a:rPr lang="en-US" sz="800" dirty="0">
                <a:solidFill>
                  <a:srgbClr val="484F58"/>
                </a:solidFill>
                <a:latin typeface="Consolas" pitchFamily="34" charset="0"/>
                <a:ea typeface="Consolas" pitchFamily="34" charset="-122"/>
                <a:cs typeface="Consolas" pitchFamily="34" charset="-120"/>
              </a:rPr>
              <a:t>Multi-Agent in VS Code  •  Developer Community</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007ACC"/>
          </a:solidFill>
          <a:ln w="12700">
            <a:solidFill>
              <a:srgbClr val="007ACC"/>
            </a:solidFill>
            <a:prstDash val="solid"/>
          </a:ln>
        </p:spPr>
      </p:sp>
      <p:sp>
        <p:nvSpPr>
          <p:cNvPr id="3" name="Text 1"/>
          <p:cNvSpPr/>
          <p:nvPr/>
        </p:nvSpPr>
        <p:spPr>
          <a:xfrm>
            <a:off x="457200" y="182880"/>
            <a:ext cx="8229600" cy="502920"/>
          </a:xfrm>
          <a:prstGeom prst="rect">
            <a:avLst/>
          </a:prstGeom>
          <a:noFill/>
          <a:ln/>
        </p:spPr>
        <p:txBody>
          <a:bodyPr wrap="square" lIns="0" tIns="0" rIns="0" bIns="0" rtlCol="0" anchor="ctr"/>
          <a:lstStyle/>
          <a:p>
            <a:pPr marL="0" indent="0">
              <a:buNone/>
            </a:pPr>
            <a:r>
              <a:rPr lang="en-US" sz="2200" b="1" dirty="0">
                <a:solidFill>
                  <a:srgbClr val="E6EDF3"/>
                </a:solidFill>
                <a:latin typeface="Calibri" pitchFamily="34" charset="0"/>
                <a:ea typeface="Calibri" pitchFamily="34" charset="-122"/>
                <a:cs typeface="Calibri" pitchFamily="34" charset="-120"/>
              </a:rPr>
              <a:t>Scaling to a Team</a:t>
            </a:r>
            <a:endParaRPr lang="en-US" sz="2200" dirty="0"/>
          </a:p>
        </p:txBody>
      </p:sp>
      <p:sp>
        <p:nvSpPr>
          <p:cNvPr id="4" name="Text 2"/>
          <p:cNvSpPr/>
          <p:nvPr/>
        </p:nvSpPr>
        <p:spPr>
          <a:xfrm>
            <a:off x="457200" y="685800"/>
            <a:ext cx="8229600" cy="320040"/>
          </a:xfrm>
          <a:prstGeom prst="rect">
            <a:avLst/>
          </a:prstGeom>
          <a:noFill/>
          <a:ln/>
        </p:spPr>
        <p:txBody>
          <a:bodyPr wrap="square" lIns="0" tIns="0" rIns="0" bIns="0" rtlCol="0" anchor="ctr"/>
          <a:lstStyle/>
          <a:p>
            <a:pPr marL="0" indent="0">
              <a:buNone/>
            </a:pPr>
            <a:r>
              <a:rPr lang="en-US" sz="1200" dirty="0">
                <a:solidFill>
                  <a:srgbClr val="8B949E"/>
                </a:solidFill>
                <a:latin typeface="Calibri" pitchFamily="34" charset="0"/>
                <a:ea typeface="Calibri" pitchFamily="34" charset="-122"/>
                <a:cs typeface="Calibri" pitchFamily="34" charset="-120"/>
              </a:rPr>
              <a:t>5 developers + 15 agents — without collisions or chaos</a:t>
            </a:r>
            <a:endParaRPr lang="en-US" sz="1200" dirty="0"/>
          </a:p>
        </p:txBody>
      </p:sp>
      <p:sp>
        <p:nvSpPr>
          <p:cNvPr id="5" name="Shape 3"/>
          <p:cNvSpPr/>
          <p:nvPr/>
        </p:nvSpPr>
        <p:spPr>
          <a:xfrm>
            <a:off x="457200" y="1005840"/>
            <a:ext cx="8229600" cy="9144"/>
          </a:xfrm>
          <a:prstGeom prst="rect">
            <a:avLst/>
          </a:prstGeom>
          <a:solidFill>
            <a:srgbClr val="30363D"/>
          </a:solidFill>
          <a:ln w="12700">
            <a:solidFill>
              <a:srgbClr val="30363D"/>
            </a:solidFill>
            <a:prstDash val="solid"/>
          </a:ln>
        </p:spPr>
      </p:sp>
      <p:sp>
        <p:nvSpPr>
          <p:cNvPr id="6" name="Text 4"/>
          <p:cNvSpPr/>
          <p:nvPr/>
        </p:nvSpPr>
        <p:spPr>
          <a:xfrm>
            <a:off x="457200" y="1143000"/>
            <a:ext cx="3657600" cy="274320"/>
          </a:xfrm>
          <a:prstGeom prst="rect">
            <a:avLst/>
          </a:prstGeom>
          <a:noFill/>
          <a:ln/>
        </p:spPr>
        <p:txBody>
          <a:bodyPr wrap="square" rtlCol="0" anchor="ctr"/>
          <a:lstStyle/>
          <a:p>
            <a:pPr marL="0" indent="0">
              <a:buNone/>
            </a:pPr>
            <a:r>
              <a:rPr lang="en-US" sz="1000" dirty="0">
                <a:solidFill>
                  <a:srgbClr val="8B949E"/>
                </a:solidFill>
                <a:latin typeface="Consolas" pitchFamily="34" charset="0"/>
                <a:ea typeface="Consolas" pitchFamily="34" charset="-122"/>
                <a:cs typeface="Consolas" pitchFamily="34" charset="-120"/>
              </a:rPr>
              <a:t>Without a Shared Standard</a:t>
            </a:r>
            <a:endParaRPr lang="en-US" sz="1000" dirty="0"/>
          </a:p>
        </p:txBody>
      </p:sp>
      <p:sp>
        <p:nvSpPr>
          <p:cNvPr id="7" name="Shape 5"/>
          <p:cNvSpPr/>
          <p:nvPr/>
        </p:nvSpPr>
        <p:spPr>
          <a:xfrm>
            <a:off x="457200" y="1417320"/>
            <a:ext cx="1188720" cy="411480"/>
          </a:xfrm>
          <a:prstGeom prst="rect">
            <a:avLst/>
          </a:prstGeom>
          <a:solidFill>
            <a:srgbClr val="161B22"/>
          </a:solidFill>
          <a:ln w="12700">
            <a:solidFill>
              <a:srgbClr val="007ACC"/>
            </a:solidFill>
            <a:prstDash val="solid"/>
          </a:ln>
        </p:spPr>
      </p:sp>
      <p:sp>
        <p:nvSpPr>
          <p:cNvPr id="8" name="Text 6"/>
          <p:cNvSpPr/>
          <p:nvPr/>
        </p:nvSpPr>
        <p:spPr>
          <a:xfrm>
            <a:off x="457200" y="1417320"/>
            <a:ext cx="1188720" cy="411480"/>
          </a:xfrm>
          <a:prstGeom prst="rect">
            <a:avLst/>
          </a:prstGeom>
          <a:noFill/>
          <a:ln/>
        </p:spPr>
        <p:txBody>
          <a:bodyPr wrap="square" rtlCol="0" anchor="ctr"/>
          <a:lstStyle/>
          <a:p>
            <a:pPr marL="0" indent="0" algn="ctr">
              <a:buNone/>
            </a:pPr>
            <a:r>
              <a:rPr lang="en-US" sz="1100" b="1" dirty="0">
                <a:solidFill>
                  <a:srgbClr val="007ACC"/>
                </a:solidFill>
                <a:latin typeface="Calibri" pitchFamily="34" charset="0"/>
                <a:ea typeface="Calibri" pitchFamily="34" charset="-122"/>
                <a:cs typeface="Calibri" pitchFamily="34" charset="-120"/>
              </a:rPr>
              <a:t>Dev A</a:t>
            </a:r>
            <a:endParaRPr lang="en-US" sz="1100" dirty="0"/>
          </a:p>
        </p:txBody>
      </p:sp>
      <p:sp>
        <p:nvSpPr>
          <p:cNvPr id="9" name="Shape 7"/>
          <p:cNvSpPr/>
          <p:nvPr/>
        </p:nvSpPr>
        <p:spPr>
          <a:xfrm>
            <a:off x="1828800" y="1417320"/>
            <a:ext cx="1188720" cy="411480"/>
          </a:xfrm>
          <a:prstGeom prst="rect">
            <a:avLst/>
          </a:prstGeom>
          <a:solidFill>
            <a:srgbClr val="1F1F2E"/>
          </a:solidFill>
          <a:ln w="12700">
            <a:solidFill>
              <a:srgbClr val="484F58"/>
            </a:solidFill>
            <a:prstDash val="solid"/>
          </a:ln>
        </p:spPr>
      </p:sp>
      <p:sp>
        <p:nvSpPr>
          <p:cNvPr id="10" name="Text 8"/>
          <p:cNvSpPr/>
          <p:nvPr/>
        </p:nvSpPr>
        <p:spPr>
          <a:xfrm>
            <a:off x="1828800" y="1417320"/>
            <a:ext cx="1188720" cy="411480"/>
          </a:xfrm>
          <a:prstGeom prst="rect">
            <a:avLst/>
          </a:prstGeom>
          <a:noFill/>
          <a:ln/>
        </p:spPr>
        <p:txBody>
          <a:bodyPr wrap="square" rtlCol="0" anchor="ctr"/>
          <a:lstStyle/>
          <a:p>
            <a:pPr marL="0" indent="0" algn="ctr">
              <a:buNone/>
            </a:pPr>
            <a:r>
              <a:rPr lang="en-US" sz="1100" dirty="0">
                <a:solidFill>
                  <a:srgbClr val="484F58"/>
                </a:solidFill>
                <a:latin typeface="Calibri" pitchFamily="34" charset="0"/>
                <a:ea typeface="Calibri" pitchFamily="34" charset="-122"/>
                <a:cs typeface="Calibri" pitchFamily="34" charset="-120"/>
              </a:rPr>
              <a:t>Dev B</a:t>
            </a:r>
            <a:endParaRPr lang="en-US" sz="1100" dirty="0"/>
          </a:p>
        </p:txBody>
      </p:sp>
      <p:sp>
        <p:nvSpPr>
          <p:cNvPr id="11" name="Shape 9"/>
          <p:cNvSpPr/>
          <p:nvPr/>
        </p:nvSpPr>
        <p:spPr>
          <a:xfrm>
            <a:off x="3200400" y="1417320"/>
            <a:ext cx="1188720" cy="411480"/>
          </a:xfrm>
          <a:prstGeom prst="rect">
            <a:avLst/>
          </a:prstGeom>
          <a:solidFill>
            <a:srgbClr val="161B22"/>
          </a:solidFill>
          <a:ln w="12700">
            <a:solidFill>
              <a:srgbClr val="3FB950"/>
            </a:solidFill>
            <a:prstDash val="solid"/>
          </a:ln>
        </p:spPr>
      </p:sp>
      <p:sp>
        <p:nvSpPr>
          <p:cNvPr id="12" name="Text 10"/>
          <p:cNvSpPr/>
          <p:nvPr/>
        </p:nvSpPr>
        <p:spPr>
          <a:xfrm>
            <a:off x="3200400" y="1417320"/>
            <a:ext cx="1188720" cy="411480"/>
          </a:xfrm>
          <a:prstGeom prst="rect">
            <a:avLst/>
          </a:prstGeom>
          <a:noFill/>
          <a:ln/>
        </p:spPr>
        <p:txBody>
          <a:bodyPr wrap="square" rtlCol="0" anchor="ctr"/>
          <a:lstStyle/>
          <a:p>
            <a:pPr marL="0" indent="0" algn="ctr">
              <a:buNone/>
            </a:pPr>
            <a:r>
              <a:rPr lang="en-US" sz="1100" b="1" dirty="0">
                <a:solidFill>
                  <a:srgbClr val="3FB950"/>
                </a:solidFill>
                <a:latin typeface="Calibri" pitchFamily="34" charset="0"/>
                <a:ea typeface="Calibri" pitchFamily="34" charset="-122"/>
                <a:cs typeface="Calibri" pitchFamily="34" charset="-120"/>
              </a:rPr>
              <a:t>Dev C</a:t>
            </a:r>
            <a:endParaRPr lang="en-US" sz="1100" dirty="0"/>
          </a:p>
        </p:txBody>
      </p:sp>
      <p:sp>
        <p:nvSpPr>
          <p:cNvPr id="13" name="Shape 11"/>
          <p:cNvSpPr/>
          <p:nvPr/>
        </p:nvSpPr>
        <p:spPr>
          <a:xfrm>
            <a:off x="4572000" y="1417320"/>
            <a:ext cx="1188720" cy="411480"/>
          </a:xfrm>
          <a:prstGeom prst="rect">
            <a:avLst/>
          </a:prstGeom>
          <a:solidFill>
            <a:srgbClr val="161B22"/>
          </a:solidFill>
          <a:ln w="12700">
            <a:solidFill>
              <a:srgbClr val="007ACC"/>
            </a:solidFill>
            <a:prstDash val="solid"/>
          </a:ln>
        </p:spPr>
      </p:sp>
      <p:sp>
        <p:nvSpPr>
          <p:cNvPr id="14" name="Text 12"/>
          <p:cNvSpPr/>
          <p:nvPr/>
        </p:nvSpPr>
        <p:spPr>
          <a:xfrm>
            <a:off x="4572000" y="1417320"/>
            <a:ext cx="1188720" cy="411480"/>
          </a:xfrm>
          <a:prstGeom prst="rect">
            <a:avLst/>
          </a:prstGeom>
          <a:noFill/>
          <a:ln/>
        </p:spPr>
        <p:txBody>
          <a:bodyPr wrap="square" rtlCol="0" anchor="ctr"/>
          <a:lstStyle/>
          <a:p>
            <a:pPr marL="0" indent="0" algn="ctr">
              <a:buNone/>
            </a:pPr>
            <a:r>
              <a:rPr lang="en-US" sz="1100" b="1" dirty="0">
                <a:solidFill>
                  <a:srgbClr val="007ACC"/>
                </a:solidFill>
                <a:latin typeface="Calibri" pitchFamily="34" charset="0"/>
                <a:ea typeface="Calibri" pitchFamily="34" charset="-122"/>
                <a:cs typeface="Calibri" pitchFamily="34" charset="-120"/>
              </a:rPr>
              <a:t>Agents conflict on same files</a:t>
            </a:r>
            <a:endParaRPr lang="en-US" sz="1100" dirty="0"/>
          </a:p>
        </p:txBody>
      </p:sp>
      <p:sp>
        <p:nvSpPr>
          <p:cNvPr id="15" name="Shape 13"/>
          <p:cNvSpPr/>
          <p:nvPr/>
        </p:nvSpPr>
        <p:spPr>
          <a:xfrm>
            <a:off x="5943600" y="1417320"/>
            <a:ext cx="1188720" cy="411480"/>
          </a:xfrm>
          <a:prstGeom prst="rect">
            <a:avLst/>
          </a:prstGeom>
          <a:solidFill>
            <a:srgbClr val="1F1F2E"/>
          </a:solidFill>
          <a:ln w="12700">
            <a:solidFill>
              <a:srgbClr val="484F58"/>
            </a:solidFill>
            <a:prstDash val="solid"/>
          </a:ln>
        </p:spPr>
      </p:sp>
      <p:sp>
        <p:nvSpPr>
          <p:cNvPr id="16" name="Text 14"/>
          <p:cNvSpPr/>
          <p:nvPr/>
        </p:nvSpPr>
        <p:spPr>
          <a:xfrm>
            <a:off x="5943600" y="1417320"/>
            <a:ext cx="1188720" cy="411480"/>
          </a:xfrm>
          <a:prstGeom prst="rect">
            <a:avLst/>
          </a:prstGeom>
          <a:noFill/>
          <a:ln/>
        </p:spPr>
        <p:txBody>
          <a:bodyPr wrap="square" rtlCol="0" anchor="ctr"/>
          <a:lstStyle/>
          <a:p>
            <a:pPr marL="0" indent="0" algn="ctr">
              <a:buNone/>
            </a:pPr>
            <a:r>
              <a:rPr lang="en-US" sz="1100" dirty="0">
                <a:solidFill>
                  <a:srgbClr val="484F58"/>
                </a:solidFill>
                <a:latin typeface="Calibri" pitchFamily="34" charset="0"/>
                <a:ea typeface="Calibri" pitchFamily="34" charset="-122"/>
                <a:cs typeface="Calibri" pitchFamily="34" charset="-120"/>
              </a:rPr>
              <a:t>No shared style rules</a:t>
            </a:r>
            <a:endParaRPr lang="en-US" sz="1100" dirty="0"/>
          </a:p>
        </p:txBody>
      </p:sp>
      <p:sp>
        <p:nvSpPr>
          <p:cNvPr id="17" name="Shape 15"/>
          <p:cNvSpPr/>
          <p:nvPr/>
        </p:nvSpPr>
        <p:spPr>
          <a:xfrm>
            <a:off x="7315200" y="1417320"/>
            <a:ext cx="1188720" cy="411480"/>
          </a:xfrm>
          <a:prstGeom prst="rect">
            <a:avLst/>
          </a:prstGeom>
          <a:solidFill>
            <a:srgbClr val="161B22"/>
          </a:solidFill>
          <a:ln w="12700">
            <a:solidFill>
              <a:srgbClr val="3FB950"/>
            </a:solidFill>
            <a:prstDash val="solid"/>
          </a:ln>
        </p:spPr>
      </p:sp>
      <p:sp>
        <p:nvSpPr>
          <p:cNvPr id="18" name="Text 16"/>
          <p:cNvSpPr/>
          <p:nvPr/>
        </p:nvSpPr>
        <p:spPr>
          <a:xfrm>
            <a:off x="7315200" y="1417320"/>
            <a:ext cx="1188720" cy="411480"/>
          </a:xfrm>
          <a:prstGeom prst="rect">
            <a:avLst/>
          </a:prstGeom>
          <a:noFill/>
          <a:ln/>
        </p:spPr>
        <p:txBody>
          <a:bodyPr wrap="square" rtlCol="0" anchor="ctr"/>
          <a:lstStyle/>
          <a:p>
            <a:pPr marL="0" indent="0" algn="ctr">
              <a:buNone/>
            </a:pPr>
            <a:r>
              <a:rPr lang="en-US" sz="1100" b="1" dirty="0">
                <a:solidFill>
                  <a:srgbClr val="3FB950"/>
                </a:solidFill>
                <a:latin typeface="Calibri" pitchFamily="34" charset="0"/>
                <a:ea typeface="Calibri" pitchFamily="34" charset="-122"/>
                <a:cs typeface="Calibri" pitchFamily="34" charset="-120"/>
              </a:rPr>
              <a:t>PRs fail review constantly</a:t>
            </a:r>
            <a:endParaRPr lang="en-US" sz="1100" dirty="0"/>
          </a:p>
        </p:txBody>
      </p:sp>
      <p:sp>
        <p:nvSpPr>
          <p:cNvPr id="19" name="Shape 17"/>
          <p:cNvSpPr/>
          <p:nvPr/>
        </p:nvSpPr>
        <p:spPr>
          <a:xfrm>
            <a:off x="457200" y="1627632"/>
            <a:ext cx="8229600" cy="0"/>
          </a:xfrm>
          <a:prstGeom prst="line">
            <a:avLst/>
          </a:prstGeom>
          <a:noFill/>
          <a:ln w="12700">
            <a:solidFill>
              <a:srgbClr val="484F58"/>
            </a:solidFill>
            <a:prstDash val="sysDot"/>
          </a:ln>
        </p:spPr>
      </p:sp>
      <p:sp>
        <p:nvSpPr>
          <p:cNvPr id="20" name="Text 18"/>
          <p:cNvSpPr/>
          <p:nvPr/>
        </p:nvSpPr>
        <p:spPr>
          <a:xfrm>
            <a:off x="457200" y="2057400"/>
            <a:ext cx="4572000" cy="274320"/>
          </a:xfrm>
          <a:prstGeom prst="rect">
            <a:avLst/>
          </a:prstGeom>
          <a:noFill/>
          <a:ln/>
        </p:spPr>
        <p:txBody>
          <a:bodyPr wrap="square" rtlCol="0" anchor="ctr"/>
          <a:lstStyle/>
          <a:p>
            <a:pPr marL="0" indent="0">
              <a:buNone/>
            </a:pPr>
            <a:r>
              <a:rPr lang="en-US" sz="1000" dirty="0">
                <a:solidFill>
                  <a:srgbClr val="3FB950"/>
                </a:solidFill>
                <a:latin typeface="Consolas" pitchFamily="34" charset="0"/>
                <a:ea typeface="Consolas" pitchFamily="34" charset="-122"/>
                <a:cs typeface="Consolas" pitchFamily="34" charset="-120"/>
              </a:rPr>
              <a:t>With a Shared Standard</a:t>
            </a:r>
            <a:endParaRPr lang="en-US" sz="1000" dirty="0"/>
          </a:p>
        </p:txBody>
      </p:sp>
      <p:sp>
        <p:nvSpPr>
          <p:cNvPr id="21" name="Shape 19"/>
          <p:cNvSpPr/>
          <p:nvPr/>
        </p:nvSpPr>
        <p:spPr>
          <a:xfrm>
            <a:off x="457200" y="2377440"/>
            <a:ext cx="2286000" cy="502920"/>
          </a:xfrm>
          <a:prstGeom prst="rect">
            <a:avLst/>
          </a:prstGeom>
          <a:solidFill>
            <a:srgbClr val="161B22"/>
          </a:solidFill>
          <a:ln w="12700">
            <a:solidFill>
              <a:srgbClr val="3FB950"/>
            </a:solidFill>
            <a:prstDash val="solid"/>
          </a:ln>
        </p:spPr>
      </p:sp>
      <p:sp>
        <p:nvSpPr>
          <p:cNvPr id="22" name="Text 20"/>
          <p:cNvSpPr/>
          <p:nvPr/>
        </p:nvSpPr>
        <p:spPr>
          <a:xfrm>
            <a:off x="548640" y="2487168"/>
            <a:ext cx="2103120" cy="274320"/>
          </a:xfrm>
          <a:prstGeom prst="rect">
            <a:avLst/>
          </a:prstGeom>
          <a:noFill/>
          <a:ln/>
        </p:spPr>
        <p:txBody>
          <a:bodyPr wrap="square" rtlCol="0" anchor="ctr"/>
          <a:lstStyle/>
          <a:p>
            <a:pPr marL="0" indent="0">
              <a:buNone/>
            </a:pPr>
            <a:r>
              <a:rPr lang="en-US" sz="1100" b="1" dirty="0">
                <a:solidFill>
                  <a:srgbClr val="3FB950"/>
                </a:solidFill>
                <a:latin typeface="Calibri" pitchFamily="34" charset="0"/>
                <a:ea typeface="Calibri" pitchFamily="34" charset="-122"/>
                <a:cs typeface="Calibri" pitchFamily="34" charset="-120"/>
              </a:rPr>
              <a:t>Shared .github/copilot-instructions.md</a:t>
            </a:r>
            <a:endParaRPr lang="en-US" sz="1100" dirty="0"/>
          </a:p>
        </p:txBody>
      </p:sp>
      <p:sp>
        <p:nvSpPr>
          <p:cNvPr id="23" name="Text 21"/>
          <p:cNvSpPr/>
          <p:nvPr/>
        </p:nvSpPr>
        <p:spPr>
          <a:xfrm>
            <a:off x="548640" y="2679192"/>
            <a:ext cx="2103120" cy="182880"/>
          </a:xfrm>
          <a:prstGeom prst="rect">
            <a:avLst/>
          </a:prstGeom>
          <a:noFill/>
          <a:ln/>
        </p:spPr>
        <p:txBody>
          <a:bodyPr wrap="square" rtlCol="0" anchor="ctr"/>
          <a:lstStyle/>
          <a:p>
            <a:pPr marL="0" indent="0">
              <a:buNone/>
            </a:pPr>
            <a:r>
              <a:rPr lang="en-US" sz="900" dirty="0">
                <a:solidFill>
                  <a:srgbClr val="8B949E"/>
                </a:solidFill>
                <a:latin typeface="Consolas" pitchFamily="34" charset="0"/>
                <a:ea typeface="Consolas" pitchFamily="34" charset="-122"/>
                <a:cs typeface="Consolas" pitchFamily="34" charset="-120"/>
              </a:rPr>
              <a:t>Shared .eslintrc + vitest config</a:t>
            </a:r>
            <a:endParaRPr lang="en-US" sz="900" dirty="0"/>
          </a:p>
        </p:txBody>
      </p:sp>
      <p:sp>
        <p:nvSpPr>
          <p:cNvPr id="24" name="Shape 22"/>
          <p:cNvSpPr/>
          <p:nvPr/>
        </p:nvSpPr>
        <p:spPr>
          <a:xfrm>
            <a:off x="2926080" y="2377440"/>
            <a:ext cx="2286000" cy="502920"/>
          </a:xfrm>
          <a:prstGeom prst="rect">
            <a:avLst/>
          </a:prstGeom>
          <a:solidFill>
            <a:srgbClr val="161B22"/>
          </a:solidFill>
          <a:ln w="12700">
            <a:solidFill>
              <a:srgbClr val="BC8CFF"/>
            </a:solidFill>
            <a:prstDash val="solid"/>
          </a:ln>
        </p:spPr>
      </p:sp>
      <p:sp>
        <p:nvSpPr>
          <p:cNvPr id="25" name="Text 23"/>
          <p:cNvSpPr/>
          <p:nvPr/>
        </p:nvSpPr>
        <p:spPr>
          <a:xfrm>
            <a:off x="3017520" y="2487168"/>
            <a:ext cx="2103120" cy="274320"/>
          </a:xfrm>
          <a:prstGeom prst="rect">
            <a:avLst/>
          </a:prstGeom>
          <a:noFill/>
          <a:ln/>
        </p:spPr>
        <p:txBody>
          <a:bodyPr wrap="square" rtlCol="0" anchor="ctr"/>
          <a:lstStyle/>
          <a:p>
            <a:pPr marL="0" indent="0">
              <a:buNone/>
            </a:pPr>
            <a:r>
              <a:rPr lang="en-US" sz="1100" b="1" dirty="0">
                <a:solidFill>
                  <a:srgbClr val="BC8CFF"/>
                </a:solidFill>
                <a:latin typeface="Calibri" pitchFamily="34" charset="0"/>
                <a:ea typeface="Calibri" pitchFamily="34" charset="-122"/>
                <a:cs typeface="Calibri" pitchFamily="34" charset="-120"/>
              </a:rPr>
              <a:t>Shared PR template + CODEOWNERS</a:t>
            </a:r>
            <a:endParaRPr lang="en-US" sz="1100" dirty="0"/>
          </a:p>
        </p:txBody>
      </p:sp>
      <p:sp>
        <p:nvSpPr>
          <p:cNvPr id="26" name="Text 24"/>
          <p:cNvSpPr/>
          <p:nvPr/>
        </p:nvSpPr>
        <p:spPr>
          <a:xfrm>
            <a:off x="3017520" y="2679192"/>
            <a:ext cx="2103120" cy="182880"/>
          </a:xfrm>
          <a:prstGeom prst="rect">
            <a:avLst/>
          </a:prstGeom>
          <a:noFill/>
          <a:ln/>
        </p:spPr>
        <p:txBody>
          <a:bodyPr wrap="square" rtlCol="0" anchor="ctr"/>
          <a:lstStyle/>
          <a:p>
            <a:pPr marL="0" indent="0">
              <a:buNone/>
            </a:pPr>
            <a:endParaRPr lang="en-US" sz="900" dirty="0"/>
          </a:p>
        </p:txBody>
      </p:sp>
      <p:sp>
        <p:nvSpPr>
          <p:cNvPr id="27" name="Shape 25"/>
          <p:cNvSpPr/>
          <p:nvPr/>
        </p:nvSpPr>
        <p:spPr>
          <a:xfrm>
            <a:off x="5394960" y="2377440"/>
            <a:ext cx="2286000" cy="502920"/>
          </a:xfrm>
          <a:prstGeom prst="rect">
            <a:avLst/>
          </a:prstGeom>
          <a:solidFill>
            <a:srgbClr val="161B22"/>
          </a:solidFill>
          <a:ln w="12700">
            <a:solidFill>
              <a:srgbClr val="F78166"/>
            </a:solidFill>
            <a:prstDash val="solid"/>
          </a:ln>
        </p:spPr>
      </p:sp>
      <p:sp>
        <p:nvSpPr>
          <p:cNvPr id="28" name="Text 26"/>
          <p:cNvSpPr/>
          <p:nvPr/>
        </p:nvSpPr>
        <p:spPr>
          <a:xfrm>
            <a:off x="5486400" y="2487168"/>
            <a:ext cx="2103120" cy="274320"/>
          </a:xfrm>
          <a:prstGeom prst="rect">
            <a:avLst/>
          </a:prstGeom>
          <a:noFill/>
          <a:ln/>
        </p:spPr>
        <p:txBody>
          <a:bodyPr wrap="square" rtlCol="0" anchor="ctr"/>
          <a:lstStyle/>
          <a:p>
            <a:pPr marL="0" indent="0">
              <a:buNone/>
            </a:pPr>
            <a:r>
              <a:rPr lang="en-US" sz="1100" b="1" dirty="0">
                <a:solidFill>
                  <a:srgbClr val="F78166"/>
                </a:solidFill>
                <a:latin typeface="Calibri" pitchFamily="34" charset="0"/>
                <a:ea typeface="Calibri" pitchFamily="34" charset="-122"/>
                <a:cs typeface="Calibri" pitchFamily="34" charset="-120"/>
              </a:rPr>
              <a:t>Shared PR template + CODEOWNERS</a:t>
            </a:r>
            <a:endParaRPr lang="en-US" sz="1100" dirty="0"/>
          </a:p>
        </p:txBody>
      </p:sp>
      <p:sp>
        <p:nvSpPr>
          <p:cNvPr id="29" name="Text 27"/>
          <p:cNvSpPr/>
          <p:nvPr/>
        </p:nvSpPr>
        <p:spPr>
          <a:xfrm>
            <a:off x="5486400" y="2679192"/>
            <a:ext cx="2103120" cy="182880"/>
          </a:xfrm>
          <a:prstGeom prst="rect">
            <a:avLst/>
          </a:prstGeom>
          <a:noFill/>
          <a:ln/>
        </p:spPr>
        <p:txBody>
          <a:bodyPr wrap="square" rtlCol="0" anchor="ctr"/>
          <a:lstStyle/>
          <a:p>
            <a:pPr marL="0" indent="0">
              <a:buNone/>
            </a:pPr>
            <a:endParaRPr lang="en-US" sz="900" dirty="0"/>
          </a:p>
        </p:txBody>
      </p:sp>
      <p:sp>
        <p:nvSpPr>
          <p:cNvPr id="30" name="Shape 28"/>
          <p:cNvSpPr/>
          <p:nvPr/>
        </p:nvSpPr>
        <p:spPr>
          <a:xfrm>
            <a:off x="457200" y="3017520"/>
            <a:ext cx="7223760" cy="502920"/>
          </a:xfrm>
          <a:prstGeom prst="rect">
            <a:avLst/>
          </a:prstGeom>
          <a:solidFill>
            <a:srgbClr val="1C2333"/>
          </a:solidFill>
          <a:ln w="12700">
            <a:solidFill>
              <a:srgbClr val="007ACC"/>
            </a:solidFill>
            <a:prstDash val="solid"/>
          </a:ln>
        </p:spPr>
      </p:sp>
      <p:sp>
        <p:nvSpPr>
          <p:cNvPr id="31" name="Shape 29"/>
          <p:cNvSpPr/>
          <p:nvPr/>
        </p:nvSpPr>
        <p:spPr>
          <a:xfrm>
            <a:off x="457200" y="3017520"/>
            <a:ext cx="45720" cy="502920"/>
          </a:xfrm>
          <a:prstGeom prst="rect">
            <a:avLst/>
          </a:prstGeom>
          <a:solidFill>
            <a:srgbClr val="007ACC"/>
          </a:solidFill>
          <a:ln w="12700">
            <a:solidFill>
              <a:srgbClr val="007ACC"/>
            </a:solidFill>
            <a:prstDash val="solid"/>
          </a:ln>
        </p:spPr>
      </p:sp>
      <p:sp>
        <p:nvSpPr>
          <p:cNvPr id="32" name="Text 30"/>
          <p:cNvSpPr/>
          <p:nvPr/>
        </p:nvSpPr>
        <p:spPr>
          <a:xfrm>
            <a:off x="594360" y="3127248"/>
            <a:ext cx="6949440" cy="274320"/>
          </a:xfrm>
          <a:prstGeom prst="rect">
            <a:avLst/>
          </a:prstGeom>
          <a:noFill/>
          <a:ln/>
        </p:spPr>
        <p:txBody>
          <a:bodyPr wrap="square" rtlCol="0" anchor="ctr"/>
          <a:lstStyle/>
          <a:p>
            <a:pPr marL="0" indent="0">
              <a:buNone/>
            </a:pPr>
            <a:r>
              <a:rPr lang="en-US" sz="1200" b="1" dirty="0">
                <a:solidFill>
                  <a:srgbClr val="E6EDF3"/>
                </a:solidFill>
                <a:latin typeface="Calibri" pitchFamily="34" charset="0"/>
                <a:ea typeface="Calibri" pitchFamily="34" charset="-122"/>
                <a:cs typeface="Calibri" pitchFamily="34" charset="-120"/>
              </a:rPr>
              <a:t>Every developer's agents follow the same rules → consistent PRs, no style conflicts, predictable review</a:t>
            </a:r>
            <a:endParaRPr lang="en-US" sz="1200" dirty="0"/>
          </a:p>
        </p:txBody>
      </p:sp>
      <p:sp>
        <p:nvSpPr>
          <p:cNvPr id="33" name="Text 31"/>
          <p:cNvSpPr/>
          <p:nvPr/>
        </p:nvSpPr>
        <p:spPr>
          <a:xfrm>
            <a:off x="457200" y="3657600"/>
            <a:ext cx="8229600" cy="502920"/>
          </a:xfrm>
          <a:prstGeom prst="rect">
            <a:avLst/>
          </a:prstGeom>
          <a:noFill/>
          <a:ln/>
        </p:spPr>
        <p:txBody>
          <a:bodyPr wrap="square" rtlCol="0" anchor="ctr"/>
          <a:lstStyle/>
          <a:p>
            <a:pPr marL="0" indent="0">
              <a:buNone/>
            </a:pPr>
            <a:r>
              <a:rPr lang="en-US" sz="1200" i="1" dirty="0">
                <a:solidFill>
                  <a:srgbClr val="8B949E"/>
                </a:solidFill>
                <a:latin typeface="Calibri" pitchFamily="34" charset="0"/>
                <a:ea typeface="Calibri" pitchFamily="34" charset="-122"/>
                <a:cs typeface="Calibri" pitchFamily="34" charset="-120"/>
              </a:rPr>
              <a:t>💡  The copilot-instructions.md file is your team's shared briefing document. One file, every agent, every developer — enforced automatically.</a:t>
            </a:r>
            <a:endParaRPr lang="en-US" sz="1200" dirty="0"/>
          </a:p>
        </p:txBody>
      </p:sp>
      <p:sp>
        <p:nvSpPr>
          <p:cNvPr id="34" name="Shape 32"/>
          <p:cNvSpPr/>
          <p:nvPr/>
        </p:nvSpPr>
        <p:spPr>
          <a:xfrm>
            <a:off x="0" y="4960620"/>
            <a:ext cx="9144000" cy="182880"/>
          </a:xfrm>
          <a:prstGeom prst="rect">
            <a:avLst/>
          </a:prstGeom>
          <a:solidFill>
            <a:srgbClr val="161B22"/>
          </a:solidFill>
          <a:ln w="12700">
            <a:solidFill>
              <a:srgbClr val="30363D"/>
            </a:solidFill>
            <a:prstDash val="solid"/>
          </a:ln>
        </p:spPr>
      </p:sp>
      <p:sp>
        <p:nvSpPr>
          <p:cNvPr id="35" name="Text 33"/>
          <p:cNvSpPr/>
          <p:nvPr/>
        </p:nvSpPr>
        <p:spPr>
          <a:xfrm>
            <a:off x="274320" y="4965192"/>
            <a:ext cx="8595360" cy="164592"/>
          </a:xfrm>
          <a:prstGeom prst="rect">
            <a:avLst/>
          </a:prstGeom>
          <a:noFill/>
          <a:ln/>
        </p:spPr>
        <p:txBody>
          <a:bodyPr wrap="square" rtlCol="0" anchor="ctr"/>
          <a:lstStyle/>
          <a:p>
            <a:pPr marL="0" indent="0" algn="l">
              <a:buNone/>
            </a:pPr>
            <a:r>
              <a:rPr lang="en-US" sz="800" dirty="0">
                <a:solidFill>
                  <a:srgbClr val="484F58"/>
                </a:solidFill>
                <a:latin typeface="Consolas" pitchFamily="34" charset="0"/>
                <a:ea typeface="Consolas" pitchFamily="34" charset="-122"/>
                <a:cs typeface="Consolas" pitchFamily="34" charset="-120"/>
              </a:rPr>
              <a:t>Multi-Agent in VS Code  •  Developer Community</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2">
    <p:bg>
      <p:bgPr>
        <a:solidFill>
          <a:srgbClr val="0A0E1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ACC"/>
          </a:solidFill>
          <a:ln w="12700">
            <a:solidFill>
              <a:srgbClr val="007ACC"/>
            </a:solidFill>
            <a:prstDash val="solid"/>
          </a:ln>
        </p:spPr>
      </p:sp>
      <p:sp>
        <p:nvSpPr>
          <p:cNvPr id="3" name="Text 1"/>
          <p:cNvSpPr/>
          <p:nvPr/>
        </p:nvSpPr>
        <p:spPr>
          <a:xfrm>
            <a:off x="914400" y="1280160"/>
            <a:ext cx="7315200" cy="731520"/>
          </a:xfrm>
          <a:prstGeom prst="rect">
            <a:avLst/>
          </a:prstGeom>
          <a:noFill/>
          <a:ln/>
        </p:spPr>
        <p:txBody>
          <a:bodyPr wrap="square" rtlCol="0" anchor="ctr"/>
          <a:lstStyle/>
          <a:p>
            <a:pPr marL="0" indent="0" algn="ctr">
              <a:buNone/>
            </a:pPr>
            <a:r>
              <a:rPr lang="en-US" sz="3200" b="1" dirty="0">
                <a:solidFill>
                  <a:srgbClr val="E6EDF3"/>
                </a:solidFill>
                <a:latin typeface="Calibri" pitchFamily="34" charset="0"/>
                <a:ea typeface="Calibri" pitchFamily="34" charset="-122"/>
                <a:cs typeface="Calibri" pitchFamily="34" charset="-120"/>
              </a:rPr>
              <a:t>The Developer as Orchestrator</a:t>
            </a:r>
            <a:endParaRPr lang="en-US" sz="3200" dirty="0"/>
          </a:p>
        </p:txBody>
      </p:sp>
      <p:sp>
        <p:nvSpPr>
          <p:cNvPr id="4" name="Text 2"/>
          <p:cNvSpPr/>
          <p:nvPr/>
        </p:nvSpPr>
        <p:spPr>
          <a:xfrm>
            <a:off x="1371600" y="2148840"/>
            <a:ext cx="6400800" cy="411480"/>
          </a:xfrm>
          <a:prstGeom prst="rect">
            <a:avLst/>
          </a:prstGeom>
          <a:noFill/>
          <a:ln/>
        </p:spPr>
        <p:txBody>
          <a:bodyPr wrap="square" rtlCol="0" anchor="ctr"/>
          <a:lstStyle/>
          <a:p>
            <a:pPr marL="0" indent="0" algn="ctr">
              <a:buNone/>
            </a:pPr>
            <a:r>
              <a:rPr lang="en-US" sz="1600" dirty="0">
                <a:solidFill>
                  <a:srgbClr val="8B949E"/>
                </a:solidFill>
                <a:latin typeface="Calibri" pitchFamily="34" charset="0"/>
                <a:ea typeface="Calibri" pitchFamily="34" charset="-122"/>
                <a:cs typeface="Calibri" pitchFamily="34" charset="-120"/>
              </a:rPr>
              <a:t>The limiting factor is no longer the speed of writing code.</a:t>
            </a:r>
            <a:endParaRPr lang="en-US" sz="1600" dirty="0"/>
          </a:p>
        </p:txBody>
      </p:sp>
      <p:sp>
        <p:nvSpPr>
          <p:cNvPr id="5" name="Text 3"/>
          <p:cNvSpPr/>
          <p:nvPr/>
        </p:nvSpPr>
        <p:spPr>
          <a:xfrm>
            <a:off x="914400" y="2560320"/>
            <a:ext cx="7315200" cy="411480"/>
          </a:xfrm>
          <a:prstGeom prst="rect">
            <a:avLst/>
          </a:prstGeom>
          <a:noFill/>
          <a:ln/>
        </p:spPr>
        <p:txBody>
          <a:bodyPr wrap="square" rtlCol="0" anchor="ctr"/>
          <a:lstStyle/>
          <a:p>
            <a:pPr marL="0" indent="0" algn="ctr">
              <a:buNone/>
            </a:pPr>
            <a:r>
              <a:rPr lang="en-US" sz="1600" dirty="0">
                <a:solidFill>
                  <a:srgbClr val="8B949E"/>
                </a:solidFill>
                <a:latin typeface="Calibri" pitchFamily="34" charset="0"/>
                <a:ea typeface="Calibri" pitchFamily="34" charset="-122"/>
                <a:cs typeface="Calibri" pitchFamily="34" charset="-120"/>
              </a:rPr>
              <a:t>The new bottleneck is the human capacity to reason about massively parallel changes.</a:t>
            </a:r>
            <a:endParaRPr lang="en-US" sz="1600" dirty="0"/>
          </a:p>
        </p:txBody>
      </p:sp>
      <p:sp>
        <p:nvSpPr>
          <p:cNvPr id="6" name="Shape 4"/>
          <p:cNvSpPr/>
          <p:nvPr/>
        </p:nvSpPr>
        <p:spPr>
          <a:xfrm>
            <a:off x="1371600" y="3108960"/>
            <a:ext cx="6400800" cy="640080"/>
          </a:xfrm>
          <a:prstGeom prst="rect">
            <a:avLst/>
          </a:prstGeom>
          <a:solidFill>
            <a:srgbClr val="1C2333"/>
          </a:solidFill>
          <a:ln w="12700">
            <a:solidFill>
              <a:srgbClr val="007ACC"/>
            </a:solidFill>
            <a:prstDash val="solid"/>
          </a:ln>
        </p:spPr>
      </p:sp>
      <p:sp>
        <p:nvSpPr>
          <p:cNvPr id="7" name="Text 5"/>
          <p:cNvSpPr/>
          <p:nvPr/>
        </p:nvSpPr>
        <p:spPr>
          <a:xfrm>
            <a:off x="1554480" y="3200400"/>
            <a:ext cx="6035040" cy="457200"/>
          </a:xfrm>
          <a:prstGeom prst="rect">
            <a:avLst/>
          </a:prstGeom>
          <a:noFill/>
          <a:ln/>
        </p:spPr>
        <p:txBody>
          <a:bodyPr wrap="square" rtlCol="0" anchor="ctr"/>
          <a:lstStyle/>
          <a:p>
            <a:pPr marL="0" indent="0" algn="ctr">
              <a:buNone/>
            </a:pPr>
            <a:r>
              <a:rPr lang="en-US" sz="1500" b="1" i="1" dirty="0">
                <a:solidFill>
                  <a:srgbClr val="007ACC"/>
                </a:solidFill>
                <a:latin typeface="Calibri" pitchFamily="34" charset="0"/>
                <a:ea typeface="Calibri" pitchFamily="34" charset="-122"/>
                <a:cs typeface="Calibri" pitchFamily="34" charset="-120"/>
              </a:rPr>
              <a:t>VS Code is your management console for a scalable team of AI specialists.</a:t>
            </a:r>
            <a:endParaRPr lang="en-US" sz="1500" dirty="0"/>
          </a:p>
        </p:txBody>
      </p:sp>
      <p:sp>
        <p:nvSpPr>
          <p:cNvPr id="8" name="Text 6"/>
          <p:cNvSpPr/>
          <p:nvPr/>
        </p:nvSpPr>
        <p:spPr>
          <a:xfrm>
            <a:off x="1371600" y="3931920"/>
            <a:ext cx="6400800" cy="320040"/>
          </a:xfrm>
          <a:prstGeom prst="rect">
            <a:avLst/>
          </a:prstGeom>
          <a:noFill/>
          <a:ln/>
        </p:spPr>
        <p:txBody>
          <a:bodyPr wrap="square" rtlCol="0" anchor="ctr"/>
          <a:lstStyle/>
          <a:p>
            <a:pPr marL="0" indent="0" algn="ctr">
              <a:buNone/>
            </a:pPr>
            <a:r>
              <a:rPr lang="en-US" sz="1200" dirty="0">
                <a:solidFill>
                  <a:srgbClr val="3FB950"/>
                </a:solidFill>
                <a:latin typeface="Consolas" pitchFamily="34" charset="0"/>
                <a:ea typeface="Consolas" pitchFamily="34" charset="-122"/>
                <a:cs typeface="Consolas" pitchFamily="34" charset="-120"/>
              </a:rPr>
              <a:t>→  Command Center  →  Agent Sessions  →  Start Orchestrating_</a:t>
            </a:r>
            <a:endParaRPr lang="en-US" sz="1200" dirty="0"/>
          </a:p>
        </p:txBody>
      </p:sp>
      <p:sp>
        <p:nvSpPr>
          <p:cNvPr id="9" name="Shape 7"/>
          <p:cNvSpPr/>
          <p:nvPr/>
        </p:nvSpPr>
        <p:spPr>
          <a:xfrm>
            <a:off x="0" y="4960620"/>
            <a:ext cx="9144000" cy="182880"/>
          </a:xfrm>
          <a:prstGeom prst="rect">
            <a:avLst/>
          </a:prstGeom>
          <a:solidFill>
            <a:srgbClr val="161B22"/>
          </a:solidFill>
          <a:ln w="12700">
            <a:solidFill>
              <a:srgbClr val="30363D"/>
            </a:solidFill>
            <a:prstDash val="solid"/>
          </a:ln>
        </p:spPr>
      </p:sp>
      <p:sp>
        <p:nvSpPr>
          <p:cNvPr id="10" name="Text 8"/>
          <p:cNvSpPr/>
          <p:nvPr/>
        </p:nvSpPr>
        <p:spPr>
          <a:xfrm>
            <a:off x="274320" y="4965192"/>
            <a:ext cx="8595360" cy="164592"/>
          </a:xfrm>
          <a:prstGeom prst="rect">
            <a:avLst/>
          </a:prstGeom>
          <a:noFill/>
          <a:ln/>
        </p:spPr>
        <p:txBody>
          <a:bodyPr wrap="square" rtlCol="0" anchor="ctr"/>
          <a:lstStyle/>
          <a:p>
            <a:pPr marL="0" indent="0" algn="ctr">
              <a:buNone/>
            </a:pPr>
            <a:r>
              <a:rPr lang="en-US" sz="800" dirty="0">
                <a:solidFill>
                  <a:srgbClr val="484F58"/>
                </a:solidFill>
                <a:latin typeface="Consolas" pitchFamily="34" charset="0"/>
                <a:ea typeface="Consolas" pitchFamily="34" charset="-122"/>
                <a:cs typeface="Consolas" pitchFamily="34" charset="-120"/>
              </a:rPr>
              <a:t>Multi-Agent in VS Code  •  Developer Community</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2196</Words>
  <Application>Microsoft Macintosh PowerPoint</Application>
  <PresentationFormat>On-screen Show (16:9)</PresentationFormat>
  <Paragraphs>332</Paragraphs>
  <Slides>18</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Multi-Agent in VS Code</dc:title>
  <dc:subject>PptxGenJS Presentation</dc:subject>
  <dc:creator>Developer Community</dc:creator>
  <cp:lastModifiedBy>SYED RAZA</cp:lastModifiedBy>
  <cp:revision>1</cp:revision>
  <dcterms:created xsi:type="dcterms:W3CDTF">2026-03-29T13:05:52Z</dcterms:created>
  <dcterms:modified xsi:type="dcterms:W3CDTF">2026-03-29T15:55:19Z</dcterms:modified>
</cp:coreProperties>
</file>